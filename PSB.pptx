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grandir Narrow Bold" charset="1" panose="00000806000000000000"/>
      <p:regular r:id="rId18"/>
    </p:embeddedFont>
    <p:embeddedFont>
      <p:font typeface="Agrandir Narrow" charset="1" panose="00000506000000000000"/>
      <p:regular r:id="rId19"/>
    </p:embeddedFont>
    <p:embeddedFont>
      <p:font typeface="Agrandir Narrow Bold Italics" charset="1" panose="00000806000000000000"/>
      <p:regular r:id="rId20"/>
    </p:embeddedFont>
    <p:embeddedFont>
      <p:font typeface="Trebuchet MS Bold" charset="1" panose="020B0703020202020204"/>
      <p:regular r:id="rId21"/>
    </p:embeddedFont>
    <p:embeddedFont>
      <p:font typeface="Trebuchet MS Italics" charset="1" panose="020B060302020209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43000"/>
            </a:blip>
            <a:stretch>
              <a:fillRect l="0" t="0" r="0" b="0"/>
            </a:stretch>
          </a:blipFill>
        </p:spPr>
      </p:sp>
      <p:sp>
        <p:nvSpPr>
          <p:cNvPr name="Freeform 3" id="3"/>
          <p:cNvSpPr/>
          <p:nvPr/>
        </p:nvSpPr>
        <p:spPr>
          <a:xfrm flipH="false" flipV="false" rot="0">
            <a:off x="451778" y="251903"/>
            <a:ext cx="4949141" cy="1051692"/>
          </a:xfrm>
          <a:custGeom>
            <a:avLst/>
            <a:gdLst/>
            <a:ahLst/>
            <a:cxnLst/>
            <a:rect r="r" b="b" t="t" l="l"/>
            <a:pathLst>
              <a:path h="1051692" w="4949141">
                <a:moveTo>
                  <a:pt x="0" y="0"/>
                </a:moveTo>
                <a:lnTo>
                  <a:pt x="4949141" y="0"/>
                </a:lnTo>
                <a:lnTo>
                  <a:pt x="4949141" y="1051693"/>
                </a:lnTo>
                <a:lnTo>
                  <a:pt x="0" y="1051693"/>
                </a:lnTo>
                <a:lnTo>
                  <a:pt x="0" y="0"/>
                </a:lnTo>
                <a:close/>
              </a:path>
            </a:pathLst>
          </a:custGeom>
          <a:blipFill>
            <a:blip r:embed="rId3"/>
            <a:stretch>
              <a:fillRect l="0" t="0" r="0" b="0"/>
            </a:stretch>
          </a:blipFill>
        </p:spPr>
      </p:sp>
      <p:sp>
        <p:nvSpPr>
          <p:cNvPr name="TextBox 4" id="4"/>
          <p:cNvSpPr txBox="true"/>
          <p:nvPr/>
        </p:nvSpPr>
        <p:spPr>
          <a:xfrm rot="0">
            <a:off x="1285877" y="3382051"/>
            <a:ext cx="15716247" cy="1721723"/>
          </a:xfrm>
          <a:prstGeom prst="rect">
            <a:avLst/>
          </a:prstGeom>
        </p:spPr>
        <p:txBody>
          <a:bodyPr anchor="t" rtlCol="false" tIns="0" lIns="0" bIns="0" rIns="0">
            <a:spAutoFit/>
          </a:bodyPr>
          <a:lstStyle/>
          <a:p>
            <a:pPr algn="ctr">
              <a:lnSpc>
                <a:spcPts val="6426"/>
              </a:lnSpc>
              <a:spcBef>
                <a:spcPct val="0"/>
              </a:spcBef>
            </a:pPr>
            <a:r>
              <a:rPr lang="en-US" b="true" sz="4590" spc="8">
                <a:solidFill>
                  <a:srgbClr val="000000"/>
                </a:solidFill>
                <a:latin typeface="Agrandir Narrow Bold"/>
                <a:ea typeface="Agrandir Narrow Bold"/>
                <a:cs typeface="Agrandir Narrow Bold"/>
                <a:sym typeface="Agrandir Narrow Bold"/>
              </a:rPr>
              <a:t>IntelliCredit Subtitle: </a:t>
            </a:r>
            <a:r>
              <a:rPr lang="en-US" b="true" sz="4590" spc="8">
                <a:solidFill>
                  <a:srgbClr val="000000"/>
                </a:solidFill>
                <a:latin typeface="Agrandir Narrow Bold"/>
                <a:ea typeface="Agrandir Narrow Bold"/>
                <a:cs typeface="Agrandir Narrow Bold"/>
                <a:sym typeface="Agrandir Narrow Bold"/>
              </a:rPr>
              <a:t>AI-Powered Alternate Credit Scoring for the Unbanked</a:t>
            </a:r>
          </a:p>
        </p:txBody>
      </p:sp>
      <p:sp>
        <p:nvSpPr>
          <p:cNvPr name="TextBox 5" id="5"/>
          <p:cNvSpPr txBox="true"/>
          <p:nvPr/>
        </p:nvSpPr>
        <p:spPr>
          <a:xfrm rot="0">
            <a:off x="4271808" y="5617410"/>
            <a:ext cx="9744383" cy="571425"/>
          </a:xfrm>
          <a:prstGeom prst="rect">
            <a:avLst/>
          </a:prstGeom>
        </p:spPr>
        <p:txBody>
          <a:bodyPr anchor="t" rtlCol="false" tIns="0" lIns="0" bIns="0" rIns="0">
            <a:spAutoFit/>
          </a:bodyPr>
          <a:lstStyle/>
          <a:p>
            <a:pPr algn="ctr">
              <a:lnSpc>
                <a:spcPts val="4095"/>
              </a:lnSpc>
              <a:spcBef>
                <a:spcPct val="0"/>
              </a:spcBef>
            </a:pPr>
            <a:r>
              <a:rPr lang="en-US" sz="2925">
                <a:solidFill>
                  <a:srgbClr val="000000"/>
                </a:solidFill>
                <a:latin typeface="Agrandir Narrow"/>
                <a:ea typeface="Agrandir Narrow"/>
                <a:cs typeface="Agrandir Narrow"/>
                <a:sym typeface="Agrandir Narrow"/>
              </a:rPr>
              <a:t>Problem 1: AI driven Credit for borrower with no credit history</a:t>
            </a:r>
          </a:p>
        </p:txBody>
      </p:sp>
      <p:sp>
        <p:nvSpPr>
          <p:cNvPr name="TextBox 6" id="6"/>
          <p:cNvSpPr txBox="true"/>
          <p:nvPr/>
        </p:nvSpPr>
        <p:spPr>
          <a:xfrm rot="0">
            <a:off x="426330" y="7264862"/>
            <a:ext cx="6898779" cy="1680580"/>
          </a:xfrm>
          <a:prstGeom prst="rect">
            <a:avLst/>
          </a:prstGeom>
        </p:spPr>
        <p:txBody>
          <a:bodyPr anchor="t" rtlCol="false" tIns="0" lIns="0" bIns="0" rIns="0">
            <a:spAutoFit/>
          </a:bodyPr>
          <a:lstStyle/>
          <a:p>
            <a:pPr algn="l">
              <a:lnSpc>
                <a:spcPts val="7258"/>
              </a:lnSpc>
              <a:spcBef>
                <a:spcPct val="0"/>
              </a:spcBef>
            </a:pPr>
            <a:r>
              <a:rPr lang="en-US" b="true" sz="5184">
                <a:solidFill>
                  <a:srgbClr val="000000"/>
                </a:solidFill>
                <a:latin typeface="Agrandir Narrow Bold"/>
                <a:ea typeface="Agrandir Narrow Bold"/>
                <a:cs typeface="Agrandir Narrow Bold"/>
                <a:sym typeface="Agrandir Narrow Bold"/>
              </a:rPr>
              <a:t>Team Name : </a:t>
            </a:r>
            <a:r>
              <a:rPr lang="en-US" b="true" sz="5184">
                <a:solidFill>
                  <a:srgbClr val="004AAD"/>
                </a:solidFill>
                <a:latin typeface="Agrandir Narrow Bold"/>
                <a:ea typeface="Agrandir Narrow Bold"/>
                <a:cs typeface="Agrandir Narrow Bold"/>
                <a:sym typeface="Agrandir Narrow Bold"/>
              </a:rPr>
              <a:t>Diet Code</a:t>
            </a:r>
          </a:p>
          <a:p>
            <a:pPr algn="l">
              <a:lnSpc>
                <a:spcPts val="4880"/>
              </a:lnSpc>
              <a:spcBef>
                <a:spcPct val="0"/>
              </a:spcBef>
            </a:pPr>
            <a:r>
              <a:rPr lang="en-US" b="true" sz="3486">
                <a:solidFill>
                  <a:srgbClr val="000000"/>
                </a:solidFill>
                <a:latin typeface="Agrandir Narrow Bold"/>
                <a:ea typeface="Agrandir Narrow Bold"/>
                <a:cs typeface="Agrandir Narrow Bold"/>
                <a:sym typeface="Agrandir Narrow Bold"/>
              </a:rPr>
              <a:t>Registration ID: </a:t>
            </a:r>
            <a:r>
              <a:rPr lang="en-US" b="true" sz="3486">
                <a:solidFill>
                  <a:srgbClr val="004AAD"/>
                </a:solidFill>
                <a:latin typeface="Agrandir Narrow Bold"/>
                <a:ea typeface="Agrandir Narrow Bold"/>
                <a:cs typeface="Agrandir Narrow Bold"/>
                <a:sym typeface="Agrandir Narrow Bold"/>
              </a:rPr>
              <a:t>HACK-1D598347</a:t>
            </a:r>
          </a:p>
        </p:txBody>
      </p:sp>
      <p:sp>
        <p:nvSpPr>
          <p:cNvPr name="TextBox 7" id="7"/>
          <p:cNvSpPr txBox="true"/>
          <p:nvPr/>
        </p:nvSpPr>
        <p:spPr>
          <a:xfrm rot="0">
            <a:off x="12093517" y="7569870"/>
            <a:ext cx="3845349" cy="1169980"/>
          </a:xfrm>
          <a:prstGeom prst="rect">
            <a:avLst/>
          </a:prstGeom>
        </p:spPr>
        <p:txBody>
          <a:bodyPr anchor="t" rtlCol="false" tIns="0" lIns="0" bIns="0" rIns="0">
            <a:spAutoFit/>
          </a:bodyPr>
          <a:lstStyle/>
          <a:p>
            <a:pPr algn="l" marL="672391" indent="-336195" lvl="1">
              <a:lnSpc>
                <a:spcPts val="4360"/>
              </a:lnSpc>
              <a:buFont typeface="Arial"/>
              <a:buChar char="•"/>
            </a:pPr>
            <a:r>
              <a:rPr lang="en-US" sz="3114">
                <a:solidFill>
                  <a:srgbClr val="000000"/>
                </a:solidFill>
                <a:latin typeface="Agrandir Narrow"/>
                <a:ea typeface="Agrandir Narrow"/>
                <a:cs typeface="Agrandir Narrow"/>
                <a:sym typeface="Agrandir Narrow"/>
              </a:rPr>
              <a:t>Nikhil</a:t>
            </a:r>
          </a:p>
          <a:p>
            <a:pPr algn="l" marL="672391" indent="-336195" lvl="1">
              <a:lnSpc>
                <a:spcPts val="4360"/>
              </a:lnSpc>
              <a:buFont typeface="Arial"/>
              <a:buChar char="•"/>
            </a:pPr>
            <a:r>
              <a:rPr lang="en-US" sz="3114">
                <a:solidFill>
                  <a:srgbClr val="000000"/>
                </a:solidFill>
                <a:latin typeface="Agrandir Narrow"/>
                <a:ea typeface="Agrandir Narrow"/>
                <a:cs typeface="Agrandir Narrow"/>
                <a:sym typeface="Agrandir Narrow"/>
              </a:rPr>
              <a:t>K Harinadha Reddy</a:t>
            </a:r>
          </a:p>
        </p:txBody>
      </p:sp>
      <p:sp>
        <p:nvSpPr>
          <p:cNvPr name="TextBox 8" id="8"/>
          <p:cNvSpPr txBox="true"/>
          <p:nvPr/>
        </p:nvSpPr>
        <p:spPr>
          <a:xfrm rot="0">
            <a:off x="11825349" y="6915709"/>
            <a:ext cx="3616756" cy="806561"/>
          </a:xfrm>
          <a:prstGeom prst="rect">
            <a:avLst/>
          </a:prstGeom>
        </p:spPr>
        <p:txBody>
          <a:bodyPr anchor="t" rtlCol="false" tIns="0" lIns="0" bIns="0" rIns="0">
            <a:spAutoFit/>
          </a:bodyPr>
          <a:lstStyle/>
          <a:p>
            <a:pPr algn="ctr">
              <a:lnSpc>
                <a:spcPts val="5681"/>
              </a:lnSpc>
              <a:spcBef>
                <a:spcPct val="0"/>
              </a:spcBef>
            </a:pPr>
            <a:r>
              <a:rPr lang="en-US" b="true" sz="4058">
                <a:solidFill>
                  <a:srgbClr val="000000"/>
                </a:solidFill>
                <a:latin typeface="Agrandir Narrow Bold"/>
                <a:ea typeface="Agrandir Narrow Bold"/>
                <a:cs typeface="Agrandir Narrow Bold"/>
                <a:sym typeface="Agrandir Narrow Bold"/>
              </a:rPr>
              <a:t>Team Members</a:t>
            </a:r>
          </a:p>
        </p:txBody>
      </p:sp>
      <p:sp>
        <p:nvSpPr>
          <p:cNvPr name="TextBox 9" id="9"/>
          <p:cNvSpPr txBox="true"/>
          <p:nvPr/>
        </p:nvSpPr>
        <p:spPr>
          <a:xfrm rot="0">
            <a:off x="3477481" y="1426676"/>
            <a:ext cx="11333038" cy="1384301"/>
          </a:xfrm>
          <a:prstGeom prst="rect">
            <a:avLst/>
          </a:prstGeom>
        </p:spPr>
        <p:txBody>
          <a:bodyPr anchor="t" rtlCol="false" tIns="0" lIns="0" bIns="0" rIns="0">
            <a:spAutoFit/>
          </a:bodyPr>
          <a:lstStyle/>
          <a:p>
            <a:pPr algn="ctr">
              <a:lnSpc>
                <a:spcPts val="9799"/>
              </a:lnSpc>
              <a:spcBef>
                <a:spcPct val="0"/>
              </a:spcBef>
            </a:pPr>
            <a:r>
              <a:rPr lang="en-US" b="true" sz="6999" spc="13">
                <a:solidFill>
                  <a:srgbClr val="004AAD"/>
                </a:solidFill>
                <a:latin typeface="Agrandir Narrow Bold"/>
                <a:ea typeface="Agrandir Narrow Bold"/>
                <a:cs typeface="Agrandir Narrow Bold"/>
                <a:sym typeface="Agrandir Narrow Bold"/>
              </a:rPr>
              <a:t>PSB</a:t>
            </a:r>
            <a:r>
              <a:rPr lang="en-US" b="true" sz="6999" spc="13">
                <a:solidFill>
                  <a:srgbClr val="004AAD"/>
                </a:solidFill>
                <a:latin typeface="Agrandir Narrow Bold"/>
                <a:ea typeface="Agrandir Narrow Bold"/>
                <a:cs typeface="Agrandir Narrow Bold"/>
                <a:sym typeface="Agrandir Narrow Bold"/>
              </a:rPr>
              <a:t> Hackathon Series 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409487" y="372210"/>
            <a:ext cx="11469026" cy="1008915"/>
            <a:chOff x="0" y="0"/>
            <a:chExt cx="3020649" cy="265722"/>
          </a:xfrm>
        </p:grpSpPr>
        <p:sp>
          <p:nvSpPr>
            <p:cNvPr name="Freeform 3" id="3"/>
            <p:cNvSpPr/>
            <p:nvPr/>
          </p:nvSpPr>
          <p:spPr>
            <a:xfrm flipH="false" flipV="false" rot="0">
              <a:off x="0" y="0"/>
              <a:ext cx="3020649" cy="265722"/>
            </a:xfrm>
            <a:custGeom>
              <a:avLst/>
              <a:gdLst/>
              <a:ahLst/>
              <a:cxnLst/>
              <a:rect r="r" b="b" t="t" l="l"/>
              <a:pathLst>
                <a:path h="265722" w="3020649">
                  <a:moveTo>
                    <a:pt x="34426" y="0"/>
                  </a:moveTo>
                  <a:lnTo>
                    <a:pt x="2986222" y="0"/>
                  </a:lnTo>
                  <a:cubicBezTo>
                    <a:pt x="2995353" y="0"/>
                    <a:pt x="3004109" y="3627"/>
                    <a:pt x="3010565" y="10083"/>
                  </a:cubicBezTo>
                  <a:cubicBezTo>
                    <a:pt x="3017022" y="16539"/>
                    <a:pt x="3020649" y="25296"/>
                    <a:pt x="3020649" y="34426"/>
                  </a:cubicBezTo>
                  <a:lnTo>
                    <a:pt x="3020649" y="231296"/>
                  </a:lnTo>
                  <a:cubicBezTo>
                    <a:pt x="3020649" y="240426"/>
                    <a:pt x="3017022" y="249183"/>
                    <a:pt x="3010565" y="255639"/>
                  </a:cubicBezTo>
                  <a:cubicBezTo>
                    <a:pt x="3004109" y="262095"/>
                    <a:pt x="2995353" y="265722"/>
                    <a:pt x="2986222" y="265722"/>
                  </a:cubicBezTo>
                  <a:lnTo>
                    <a:pt x="34426" y="265722"/>
                  </a:lnTo>
                  <a:cubicBezTo>
                    <a:pt x="25296" y="265722"/>
                    <a:pt x="16539" y="262095"/>
                    <a:pt x="10083" y="255639"/>
                  </a:cubicBezTo>
                  <a:cubicBezTo>
                    <a:pt x="3627" y="249183"/>
                    <a:pt x="0" y="240426"/>
                    <a:pt x="0" y="231296"/>
                  </a:cubicBezTo>
                  <a:lnTo>
                    <a:pt x="0" y="34426"/>
                  </a:lnTo>
                  <a:cubicBezTo>
                    <a:pt x="0" y="25296"/>
                    <a:pt x="3627" y="16539"/>
                    <a:pt x="10083" y="10083"/>
                  </a:cubicBezTo>
                  <a:cubicBezTo>
                    <a:pt x="16539" y="3627"/>
                    <a:pt x="25296" y="0"/>
                    <a:pt x="34426" y="0"/>
                  </a:cubicBezTo>
                  <a:close/>
                </a:path>
              </a:pathLst>
            </a:custGeom>
            <a:solidFill>
              <a:srgbClr val="225061"/>
            </a:solidFill>
          </p:spPr>
        </p:sp>
        <p:sp>
          <p:nvSpPr>
            <p:cNvPr name="TextBox 4" id="4"/>
            <p:cNvSpPr txBox="true"/>
            <p:nvPr/>
          </p:nvSpPr>
          <p:spPr>
            <a:xfrm>
              <a:off x="0" y="-123825"/>
              <a:ext cx="3020649" cy="389547"/>
            </a:xfrm>
            <a:prstGeom prst="rect">
              <a:avLst/>
            </a:prstGeom>
          </p:spPr>
          <p:txBody>
            <a:bodyPr anchor="ctr" rtlCol="false" tIns="50800" lIns="50800" bIns="50800" rIns="50800"/>
            <a:lstStyle/>
            <a:p>
              <a:pPr algn="ctr">
                <a:lnSpc>
                  <a:spcPts val="3640"/>
                </a:lnSpc>
              </a:pPr>
            </a:p>
          </p:txBody>
        </p:sp>
      </p:grpSp>
      <p:grpSp>
        <p:nvGrpSpPr>
          <p:cNvPr name="Group 5" id="5"/>
          <p:cNvGrpSpPr/>
          <p:nvPr/>
        </p:nvGrpSpPr>
        <p:grpSpPr>
          <a:xfrm rot="0">
            <a:off x="914400" y="19418"/>
            <a:ext cx="16459200" cy="1714500"/>
            <a:chOff x="0" y="0"/>
            <a:chExt cx="21945600" cy="2286000"/>
          </a:xfrm>
        </p:grpSpPr>
        <p:sp>
          <p:nvSpPr>
            <p:cNvPr name="Freeform 6" id="6"/>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solidFill>
              <a:srgbClr val="225061">
                <a:alpha val="0"/>
              </a:srgbClr>
            </a:solidFill>
          </p:spPr>
        </p:sp>
        <p:sp>
          <p:nvSpPr>
            <p:cNvPr name="TextBox 7" id="7"/>
            <p:cNvSpPr txBox="true"/>
            <p:nvPr/>
          </p:nvSpPr>
          <p:spPr>
            <a:xfrm>
              <a:off x="0" y="-133350"/>
              <a:ext cx="21945600" cy="2419350"/>
            </a:xfrm>
            <a:prstGeom prst="rect">
              <a:avLst/>
            </a:prstGeom>
          </p:spPr>
          <p:txBody>
            <a:bodyPr anchor="ctr" rtlCol="false" tIns="0" lIns="0" bIns="0" rIns="0"/>
            <a:lstStyle/>
            <a:p>
              <a:pPr algn="ctr">
                <a:lnSpc>
                  <a:spcPts val="5400"/>
                </a:lnSpc>
              </a:pPr>
              <a:r>
                <a:rPr lang="en-US" sz="4500" b="true">
                  <a:solidFill>
                    <a:srgbClr val="FFFFFF"/>
                  </a:solidFill>
                  <a:latin typeface="Agrandir Narrow Bold"/>
                  <a:ea typeface="Agrandir Narrow Bold"/>
                  <a:cs typeface="Agrandir Narrow Bold"/>
                  <a:sym typeface="Agrandir Narrow Bold"/>
                </a:rPr>
                <a:t>PROBLEM STATEMENT</a:t>
              </a:r>
            </a:p>
          </p:txBody>
        </p:sp>
      </p:grpSp>
      <p:sp>
        <p:nvSpPr>
          <p:cNvPr name="TextBox 8" id="8"/>
          <p:cNvSpPr txBox="true"/>
          <p:nvPr/>
        </p:nvSpPr>
        <p:spPr>
          <a:xfrm rot="0">
            <a:off x="845939" y="2356574"/>
            <a:ext cx="16596686" cy="1483995"/>
          </a:xfrm>
          <a:prstGeom prst="rect">
            <a:avLst/>
          </a:prstGeom>
        </p:spPr>
        <p:txBody>
          <a:bodyPr anchor="t" rtlCol="false" tIns="0" lIns="0" bIns="0" rIns="0">
            <a:spAutoFit/>
          </a:bodyPr>
          <a:lstStyle/>
          <a:p>
            <a:pPr algn="just">
              <a:lnSpc>
                <a:spcPts val="3779"/>
              </a:lnSpc>
            </a:pPr>
            <a:r>
              <a:rPr lang="en-US" b="true" sz="2700">
                <a:solidFill>
                  <a:srgbClr val="000000"/>
                </a:solidFill>
                <a:latin typeface="Agrandir Narrow Bold"/>
                <a:ea typeface="Agrandir Narrow Bold"/>
                <a:cs typeface="Agrandir Narrow Bold"/>
                <a:sym typeface="Agrandir Narrow Bold"/>
              </a:rPr>
              <a:t>190</a:t>
            </a:r>
            <a:r>
              <a:rPr lang="en-US" b="true" sz="2700">
                <a:solidFill>
                  <a:srgbClr val="000000"/>
                </a:solidFill>
                <a:latin typeface="Agrandir Narrow Bold"/>
                <a:ea typeface="Agrandir Narrow Bold"/>
                <a:cs typeface="Agrandir Narrow Bold"/>
                <a:sym typeface="Agrandir Narrow Bold"/>
              </a:rPr>
              <a:t> million Indians are "credit invisible" -  </a:t>
            </a:r>
            <a:r>
              <a:rPr lang="en-US" sz="2700">
                <a:solidFill>
                  <a:srgbClr val="000000"/>
                </a:solidFill>
                <a:latin typeface="Agrandir Narrow"/>
                <a:ea typeface="Agrandir Narrow"/>
                <a:cs typeface="Agrandir Narrow"/>
                <a:sym typeface="Agrandir Narrow"/>
              </a:rPr>
              <a:t>they have no credit history. Banks reject them not because they are financially irresponsible, but because the system has no way to see them. Traditional credit scores only work for people who already have loans. Everyone else is locked out permanently.</a:t>
            </a:r>
          </a:p>
        </p:txBody>
      </p:sp>
      <p:sp>
        <p:nvSpPr>
          <p:cNvPr name="TextBox 9" id="9"/>
          <p:cNvSpPr txBox="true"/>
          <p:nvPr/>
        </p:nvSpPr>
        <p:spPr>
          <a:xfrm rot="0">
            <a:off x="845939" y="3973919"/>
            <a:ext cx="5976528" cy="616636"/>
          </a:xfrm>
          <a:prstGeom prst="rect">
            <a:avLst/>
          </a:prstGeom>
        </p:spPr>
        <p:txBody>
          <a:bodyPr anchor="t" rtlCol="false" tIns="0" lIns="0" bIns="0" rIns="0">
            <a:spAutoFit/>
          </a:bodyPr>
          <a:lstStyle/>
          <a:p>
            <a:pPr algn="l">
              <a:lnSpc>
                <a:spcPts val="4337"/>
              </a:lnSpc>
            </a:pPr>
            <a:r>
              <a:rPr lang="en-US" sz="3098" b="true">
                <a:solidFill>
                  <a:srgbClr val="035C7C"/>
                </a:solidFill>
                <a:latin typeface="Agrandir Narrow Bold"/>
                <a:ea typeface="Agrandir Narrow Bold"/>
                <a:cs typeface="Agrandir Narrow Bold"/>
                <a:sym typeface="Agrandir Narrow Bold"/>
              </a:rPr>
              <a:t>The Cascading</a:t>
            </a:r>
            <a:r>
              <a:rPr lang="en-US" sz="3098" b="true">
                <a:solidFill>
                  <a:srgbClr val="035C7C"/>
                </a:solidFill>
                <a:latin typeface="Agrandir Narrow Bold"/>
                <a:ea typeface="Agrandir Narrow Bold"/>
                <a:cs typeface="Agrandir Narrow Bold"/>
                <a:sym typeface="Agrandir Narrow Bold"/>
              </a:rPr>
              <a:t> Failure</a:t>
            </a:r>
          </a:p>
        </p:txBody>
      </p:sp>
      <p:sp>
        <p:nvSpPr>
          <p:cNvPr name="TextBox 10" id="10"/>
          <p:cNvSpPr txBox="true"/>
          <p:nvPr/>
        </p:nvSpPr>
        <p:spPr>
          <a:xfrm rot="0">
            <a:off x="845939" y="4657230"/>
            <a:ext cx="16383670" cy="1812925"/>
          </a:xfrm>
          <a:prstGeom prst="rect">
            <a:avLst/>
          </a:prstGeom>
        </p:spPr>
        <p:txBody>
          <a:bodyPr anchor="t" rtlCol="false" tIns="0" lIns="0" bIns="0" rIns="0">
            <a:spAutoFit/>
          </a:bodyPr>
          <a:lstStyle/>
          <a:p>
            <a:pPr algn="l" marL="539751" indent="-269876" lvl="1">
              <a:lnSpc>
                <a:spcPts val="3500"/>
              </a:lnSpc>
              <a:buFont typeface="Arial"/>
              <a:buChar char="•"/>
            </a:pPr>
            <a:r>
              <a:rPr lang="en-US" b="true" sz="2500">
                <a:solidFill>
                  <a:srgbClr val="000000"/>
                </a:solidFill>
                <a:latin typeface="Agrandir Narrow Bold"/>
                <a:ea typeface="Agrandir Narrow Bold"/>
                <a:cs typeface="Agrandir Narrow Bold"/>
                <a:sym typeface="Agrandir Narrow Bold"/>
              </a:rPr>
              <a:t>The Gap</a:t>
            </a:r>
            <a:r>
              <a:rPr lang="en-US" sz="2500">
                <a:solidFill>
                  <a:srgbClr val="000000"/>
                </a:solidFill>
                <a:latin typeface="Agrandir Narrow"/>
                <a:ea typeface="Agrandir Narrow"/>
                <a:cs typeface="Agrandir Narrow"/>
                <a:sym typeface="Agrandir Narrow"/>
              </a:rPr>
              <a:t> - 190 million adults have no formal credit score and cannot access any institutional loan</a:t>
            </a:r>
          </a:p>
          <a:p>
            <a:pPr algn="l" marL="539751" indent="-269876" lvl="1">
              <a:lnSpc>
                <a:spcPts val="3500"/>
              </a:lnSpc>
              <a:buFont typeface="Arial"/>
              <a:buChar char="•"/>
            </a:pPr>
            <a:r>
              <a:rPr lang="en-US" b="true" sz="2500">
                <a:solidFill>
                  <a:srgbClr val="000000"/>
                </a:solidFill>
                <a:latin typeface="Agrandir Narrow Bold"/>
                <a:ea typeface="Agrandir Narrow Bold"/>
                <a:cs typeface="Agrandir Narrow Bold"/>
                <a:sym typeface="Agrandir Narrow Bold"/>
              </a:rPr>
              <a:t>The Bias</a:t>
            </a:r>
            <a:r>
              <a:rPr lang="en-US" sz="2500">
                <a:solidFill>
                  <a:srgbClr val="000000"/>
                </a:solidFill>
                <a:latin typeface="Agrandir Narrow"/>
                <a:ea typeface="Agrandir Narrow"/>
                <a:cs typeface="Agrandir Narrow"/>
                <a:sym typeface="Agrandir Narrow"/>
              </a:rPr>
              <a:t> - Existing models </a:t>
            </a:r>
            <a:r>
              <a:rPr lang="en-US" b="true" sz="2500">
                <a:solidFill>
                  <a:srgbClr val="000000"/>
                </a:solidFill>
                <a:latin typeface="Agrandir Narrow Bold"/>
                <a:ea typeface="Agrandir Narrow Bold"/>
                <a:cs typeface="Agrandir Narrow Bold"/>
                <a:sym typeface="Agrandir Narrow Bold"/>
              </a:rPr>
              <a:t>reject first-time borrowers</a:t>
            </a:r>
            <a:r>
              <a:rPr lang="en-US" sz="2500">
                <a:solidFill>
                  <a:srgbClr val="000000"/>
                </a:solidFill>
                <a:latin typeface="Agrandir Narrow"/>
                <a:ea typeface="Agrandir Narrow"/>
                <a:cs typeface="Agrandir Narrow"/>
                <a:sym typeface="Agrandir Narrow"/>
              </a:rPr>
              <a:t>, gig workers, and rural users by default - not by evidence</a:t>
            </a:r>
          </a:p>
          <a:p>
            <a:pPr algn="l" marL="539751" indent="-269876" lvl="1">
              <a:lnSpc>
                <a:spcPts val="3500"/>
              </a:lnSpc>
              <a:buFont typeface="Arial"/>
              <a:buChar char="•"/>
            </a:pPr>
            <a:r>
              <a:rPr lang="en-US" b="true" sz="2500">
                <a:solidFill>
                  <a:srgbClr val="000000"/>
                </a:solidFill>
                <a:latin typeface="Agrandir Narrow Bold"/>
                <a:ea typeface="Agrandir Narrow Bold"/>
                <a:cs typeface="Agrandir Narrow Bold"/>
                <a:sym typeface="Agrandir Narrow Bold"/>
              </a:rPr>
              <a:t>The Risk</a:t>
            </a:r>
            <a:r>
              <a:rPr lang="en-US" sz="2500">
                <a:solidFill>
                  <a:srgbClr val="000000"/>
                </a:solidFill>
                <a:latin typeface="Agrandir Narrow"/>
                <a:ea typeface="Agrandir Narrow"/>
                <a:cs typeface="Agrandir Narrow"/>
                <a:sym typeface="Agrandir Narrow"/>
              </a:rPr>
              <a:t> - Lenders either reject good borrowers or </a:t>
            </a:r>
            <a:r>
              <a:rPr lang="en-US" b="true" sz="2500">
                <a:solidFill>
                  <a:srgbClr val="000000"/>
                </a:solidFill>
                <a:latin typeface="Agrandir Narrow Bold"/>
                <a:ea typeface="Agrandir Narrow Bold"/>
                <a:cs typeface="Agrandir Narrow Bold"/>
                <a:sym typeface="Agrandir Narrow Bold"/>
              </a:rPr>
              <a:t>approve bad ones </a:t>
            </a:r>
            <a:r>
              <a:rPr lang="en-US" sz="2500">
                <a:solidFill>
                  <a:srgbClr val="000000"/>
                </a:solidFill>
                <a:latin typeface="Agrandir Narrow"/>
                <a:ea typeface="Agrandir Narrow"/>
                <a:cs typeface="Agrandir Narrow"/>
                <a:sym typeface="Agrandir Narrow"/>
              </a:rPr>
              <a:t>without better data. Both outcomes cause loss</a:t>
            </a:r>
          </a:p>
          <a:p>
            <a:pPr algn="l" marL="539751" indent="-269876" lvl="1">
              <a:lnSpc>
                <a:spcPts val="3500"/>
              </a:lnSpc>
              <a:buFont typeface="Arial"/>
              <a:buChar char="•"/>
            </a:pPr>
            <a:r>
              <a:rPr lang="en-US" b="true" sz="2500">
                <a:solidFill>
                  <a:srgbClr val="000000"/>
                </a:solidFill>
                <a:latin typeface="Agrandir Narrow Bold"/>
                <a:ea typeface="Agrandir Narrow Bold"/>
                <a:cs typeface="Agrandir Narrow Bold"/>
                <a:sym typeface="Agrandir Narrow Bold"/>
              </a:rPr>
              <a:t>The Legal Block - </a:t>
            </a:r>
            <a:r>
              <a:rPr lang="en-US" sz="2500">
                <a:solidFill>
                  <a:srgbClr val="000000"/>
                </a:solidFill>
                <a:latin typeface="Agrandir Narrow"/>
                <a:ea typeface="Agrandir Narrow"/>
                <a:cs typeface="Agrandir Narrow"/>
                <a:sym typeface="Agrandir Narrow"/>
              </a:rPr>
              <a:t>AI scoring tools risk violating India's DPDP Act 2023 without explicit per-source consent</a:t>
            </a:r>
          </a:p>
        </p:txBody>
      </p:sp>
      <p:grpSp>
        <p:nvGrpSpPr>
          <p:cNvPr name="Group 11" id="11"/>
          <p:cNvGrpSpPr/>
          <p:nvPr/>
        </p:nvGrpSpPr>
        <p:grpSpPr>
          <a:xfrm rot="0">
            <a:off x="5720710" y="7120816"/>
            <a:ext cx="2367658" cy="2344306"/>
            <a:chOff x="0" y="0"/>
            <a:chExt cx="758155" cy="750677"/>
          </a:xfrm>
        </p:grpSpPr>
        <p:sp>
          <p:nvSpPr>
            <p:cNvPr name="Freeform 12" id="12"/>
            <p:cNvSpPr/>
            <p:nvPr/>
          </p:nvSpPr>
          <p:spPr>
            <a:xfrm flipH="false" flipV="false" rot="0">
              <a:off x="0" y="0"/>
              <a:ext cx="758155" cy="750677"/>
            </a:xfrm>
            <a:custGeom>
              <a:avLst/>
              <a:gdLst/>
              <a:ahLst/>
              <a:cxnLst/>
              <a:rect r="r" b="b" t="t" l="l"/>
              <a:pathLst>
                <a:path h="750677" w="758155">
                  <a:moveTo>
                    <a:pt x="0" y="0"/>
                  </a:moveTo>
                  <a:lnTo>
                    <a:pt x="758155" y="0"/>
                  </a:lnTo>
                  <a:lnTo>
                    <a:pt x="758155" y="750677"/>
                  </a:lnTo>
                  <a:lnTo>
                    <a:pt x="0" y="750677"/>
                  </a:lnTo>
                  <a:close/>
                </a:path>
              </a:pathLst>
            </a:custGeom>
            <a:solidFill>
              <a:srgbClr val="DDF2F5"/>
            </a:solidFill>
          </p:spPr>
        </p:sp>
        <p:sp>
          <p:nvSpPr>
            <p:cNvPr name="TextBox 13" id="13"/>
            <p:cNvSpPr txBox="true"/>
            <p:nvPr/>
          </p:nvSpPr>
          <p:spPr>
            <a:xfrm>
              <a:off x="0" y="-57150"/>
              <a:ext cx="758155" cy="807827"/>
            </a:xfrm>
            <a:prstGeom prst="rect">
              <a:avLst/>
            </a:prstGeom>
          </p:spPr>
          <p:txBody>
            <a:bodyPr anchor="ctr" rtlCol="false" tIns="50800" lIns="50800" bIns="50800" rIns="50800"/>
            <a:lstStyle/>
            <a:p>
              <a:pPr algn="ctr">
                <a:lnSpc>
                  <a:spcPts val="2452"/>
                </a:lnSpc>
              </a:pPr>
            </a:p>
          </p:txBody>
        </p:sp>
      </p:grpSp>
      <p:grpSp>
        <p:nvGrpSpPr>
          <p:cNvPr name="Group 14" id="14"/>
          <p:cNvGrpSpPr/>
          <p:nvPr/>
        </p:nvGrpSpPr>
        <p:grpSpPr>
          <a:xfrm rot="0">
            <a:off x="2068099" y="7098805"/>
            <a:ext cx="2367658" cy="2344306"/>
            <a:chOff x="0" y="0"/>
            <a:chExt cx="758155" cy="750677"/>
          </a:xfrm>
        </p:grpSpPr>
        <p:sp>
          <p:nvSpPr>
            <p:cNvPr name="Freeform 15" id="15"/>
            <p:cNvSpPr/>
            <p:nvPr/>
          </p:nvSpPr>
          <p:spPr>
            <a:xfrm flipH="false" flipV="false" rot="0">
              <a:off x="0" y="0"/>
              <a:ext cx="758155" cy="750677"/>
            </a:xfrm>
            <a:custGeom>
              <a:avLst/>
              <a:gdLst/>
              <a:ahLst/>
              <a:cxnLst/>
              <a:rect r="r" b="b" t="t" l="l"/>
              <a:pathLst>
                <a:path h="750677" w="758155">
                  <a:moveTo>
                    <a:pt x="0" y="0"/>
                  </a:moveTo>
                  <a:lnTo>
                    <a:pt x="758155" y="0"/>
                  </a:lnTo>
                  <a:lnTo>
                    <a:pt x="758155" y="750677"/>
                  </a:lnTo>
                  <a:lnTo>
                    <a:pt x="0" y="750677"/>
                  </a:lnTo>
                  <a:close/>
                </a:path>
              </a:pathLst>
            </a:custGeom>
            <a:solidFill>
              <a:srgbClr val="DDF2F5"/>
            </a:solidFill>
          </p:spPr>
        </p:sp>
        <p:sp>
          <p:nvSpPr>
            <p:cNvPr name="TextBox 16" id="16"/>
            <p:cNvSpPr txBox="true"/>
            <p:nvPr/>
          </p:nvSpPr>
          <p:spPr>
            <a:xfrm>
              <a:off x="0" y="-57150"/>
              <a:ext cx="758155" cy="807827"/>
            </a:xfrm>
            <a:prstGeom prst="rect">
              <a:avLst/>
            </a:prstGeom>
          </p:spPr>
          <p:txBody>
            <a:bodyPr anchor="ctr" rtlCol="false" tIns="50800" lIns="50800" bIns="50800" rIns="50800"/>
            <a:lstStyle/>
            <a:p>
              <a:pPr algn="ctr">
                <a:lnSpc>
                  <a:spcPts val="2452"/>
                </a:lnSpc>
              </a:pPr>
            </a:p>
          </p:txBody>
        </p:sp>
      </p:grpSp>
      <p:grpSp>
        <p:nvGrpSpPr>
          <p:cNvPr name="Group 17" id="17"/>
          <p:cNvGrpSpPr/>
          <p:nvPr/>
        </p:nvGrpSpPr>
        <p:grpSpPr>
          <a:xfrm rot="0">
            <a:off x="2068099" y="7120816"/>
            <a:ext cx="2367658" cy="276688"/>
            <a:chOff x="0" y="0"/>
            <a:chExt cx="758155" cy="88599"/>
          </a:xfrm>
        </p:grpSpPr>
        <p:sp>
          <p:nvSpPr>
            <p:cNvPr name="Freeform 18" id="18"/>
            <p:cNvSpPr/>
            <p:nvPr/>
          </p:nvSpPr>
          <p:spPr>
            <a:xfrm flipH="false" flipV="false" rot="0">
              <a:off x="0" y="0"/>
              <a:ext cx="758155" cy="88599"/>
            </a:xfrm>
            <a:custGeom>
              <a:avLst/>
              <a:gdLst/>
              <a:ahLst/>
              <a:cxnLst/>
              <a:rect r="r" b="b" t="t" l="l"/>
              <a:pathLst>
                <a:path h="88599" w="758155">
                  <a:moveTo>
                    <a:pt x="0" y="0"/>
                  </a:moveTo>
                  <a:lnTo>
                    <a:pt x="758155" y="0"/>
                  </a:lnTo>
                  <a:lnTo>
                    <a:pt x="758155" y="88599"/>
                  </a:lnTo>
                  <a:lnTo>
                    <a:pt x="0" y="88599"/>
                  </a:lnTo>
                  <a:close/>
                </a:path>
              </a:pathLst>
            </a:custGeom>
            <a:solidFill>
              <a:srgbClr val="FF0000"/>
            </a:solidFill>
          </p:spPr>
        </p:sp>
        <p:sp>
          <p:nvSpPr>
            <p:cNvPr name="TextBox 19" id="19"/>
            <p:cNvSpPr txBox="true"/>
            <p:nvPr/>
          </p:nvSpPr>
          <p:spPr>
            <a:xfrm>
              <a:off x="0" y="-57150"/>
              <a:ext cx="758155" cy="145749"/>
            </a:xfrm>
            <a:prstGeom prst="rect">
              <a:avLst/>
            </a:prstGeom>
          </p:spPr>
          <p:txBody>
            <a:bodyPr anchor="ctr" rtlCol="false" tIns="50800" lIns="50800" bIns="50800" rIns="50800"/>
            <a:lstStyle/>
            <a:p>
              <a:pPr algn="ctr">
                <a:lnSpc>
                  <a:spcPts val="2452"/>
                </a:lnSpc>
              </a:pPr>
            </a:p>
          </p:txBody>
        </p:sp>
      </p:grpSp>
      <p:grpSp>
        <p:nvGrpSpPr>
          <p:cNvPr name="Group 20" id="20"/>
          <p:cNvGrpSpPr/>
          <p:nvPr/>
        </p:nvGrpSpPr>
        <p:grpSpPr>
          <a:xfrm rot="0">
            <a:off x="5720710" y="7120816"/>
            <a:ext cx="2367658" cy="276688"/>
            <a:chOff x="0" y="0"/>
            <a:chExt cx="758155" cy="88599"/>
          </a:xfrm>
        </p:grpSpPr>
        <p:sp>
          <p:nvSpPr>
            <p:cNvPr name="Freeform 21" id="21"/>
            <p:cNvSpPr/>
            <p:nvPr/>
          </p:nvSpPr>
          <p:spPr>
            <a:xfrm flipH="false" flipV="false" rot="0">
              <a:off x="0" y="0"/>
              <a:ext cx="758155" cy="88599"/>
            </a:xfrm>
            <a:custGeom>
              <a:avLst/>
              <a:gdLst/>
              <a:ahLst/>
              <a:cxnLst/>
              <a:rect r="r" b="b" t="t" l="l"/>
              <a:pathLst>
                <a:path h="88599" w="758155">
                  <a:moveTo>
                    <a:pt x="0" y="0"/>
                  </a:moveTo>
                  <a:lnTo>
                    <a:pt x="758155" y="0"/>
                  </a:lnTo>
                  <a:lnTo>
                    <a:pt x="758155" y="88599"/>
                  </a:lnTo>
                  <a:lnTo>
                    <a:pt x="0" y="88599"/>
                  </a:lnTo>
                  <a:close/>
                </a:path>
              </a:pathLst>
            </a:custGeom>
            <a:solidFill>
              <a:srgbClr val="FF914D"/>
            </a:solidFill>
          </p:spPr>
        </p:sp>
        <p:sp>
          <p:nvSpPr>
            <p:cNvPr name="TextBox 22" id="22"/>
            <p:cNvSpPr txBox="true"/>
            <p:nvPr/>
          </p:nvSpPr>
          <p:spPr>
            <a:xfrm>
              <a:off x="0" y="-57150"/>
              <a:ext cx="758155" cy="145749"/>
            </a:xfrm>
            <a:prstGeom prst="rect">
              <a:avLst/>
            </a:prstGeom>
          </p:spPr>
          <p:txBody>
            <a:bodyPr anchor="ctr" rtlCol="false" tIns="50800" lIns="50800" bIns="50800" rIns="50800"/>
            <a:lstStyle/>
            <a:p>
              <a:pPr algn="ctr">
                <a:lnSpc>
                  <a:spcPts val="2452"/>
                </a:lnSpc>
              </a:pPr>
            </a:p>
          </p:txBody>
        </p:sp>
      </p:grpSp>
      <p:sp>
        <p:nvSpPr>
          <p:cNvPr name="TextBox 23" id="23"/>
          <p:cNvSpPr txBox="true"/>
          <p:nvPr/>
        </p:nvSpPr>
        <p:spPr>
          <a:xfrm rot="0">
            <a:off x="2213230" y="8280889"/>
            <a:ext cx="2077395" cy="676275"/>
          </a:xfrm>
          <a:prstGeom prst="rect">
            <a:avLst/>
          </a:prstGeom>
        </p:spPr>
        <p:txBody>
          <a:bodyPr anchor="t" rtlCol="false" tIns="0" lIns="0" bIns="0" rIns="0">
            <a:spAutoFit/>
          </a:bodyPr>
          <a:lstStyle/>
          <a:p>
            <a:pPr algn="ctr">
              <a:lnSpc>
                <a:spcPts val="2400"/>
              </a:lnSpc>
              <a:spcBef>
                <a:spcPct val="0"/>
              </a:spcBef>
            </a:pPr>
            <a:r>
              <a:rPr lang="en-US" sz="2000">
                <a:solidFill>
                  <a:srgbClr val="1F1F1F"/>
                </a:solidFill>
                <a:latin typeface="Agrandir Narrow"/>
                <a:ea typeface="Agrandir Narrow"/>
                <a:cs typeface="Agrandir Narrow"/>
                <a:sym typeface="Agrandir Narrow"/>
              </a:rPr>
              <a:t>Credit-i</a:t>
            </a:r>
            <a:r>
              <a:rPr lang="en-US" sz="2000">
                <a:solidFill>
                  <a:srgbClr val="1F1F1F"/>
                </a:solidFill>
                <a:latin typeface="Agrandir Narrow"/>
                <a:ea typeface="Agrandir Narrow"/>
                <a:cs typeface="Agrandir Narrow"/>
                <a:sym typeface="Agrandir Narrow"/>
              </a:rPr>
              <a:t>nvisible adults in India</a:t>
            </a:r>
          </a:p>
        </p:txBody>
      </p:sp>
      <p:sp>
        <p:nvSpPr>
          <p:cNvPr name="TextBox 24" id="24"/>
          <p:cNvSpPr txBox="true"/>
          <p:nvPr/>
        </p:nvSpPr>
        <p:spPr>
          <a:xfrm rot="0">
            <a:off x="1207781" y="7607606"/>
            <a:ext cx="4088294" cy="514921"/>
          </a:xfrm>
          <a:prstGeom prst="rect">
            <a:avLst/>
          </a:prstGeom>
        </p:spPr>
        <p:txBody>
          <a:bodyPr anchor="t" rtlCol="false" tIns="0" lIns="0" bIns="0" rIns="0">
            <a:spAutoFit/>
          </a:bodyPr>
          <a:lstStyle/>
          <a:p>
            <a:pPr algn="ctr">
              <a:lnSpc>
                <a:spcPts val="3454"/>
              </a:lnSpc>
              <a:spcBef>
                <a:spcPct val="0"/>
              </a:spcBef>
            </a:pPr>
            <a:r>
              <a:rPr lang="en-US" b="true" sz="2878">
                <a:solidFill>
                  <a:srgbClr val="1F1F1F"/>
                </a:solidFill>
                <a:latin typeface="Agrandir Narrow Bold"/>
                <a:ea typeface="Agrandir Narrow Bold"/>
                <a:cs typeface="Agrandir Narrow Bold"/>
                <a:sym typeface="Agrandir Narrow Bold"/>
              </a:rPr>
              <a:t>9</a:t>
            </a:r>
            <a:r>
              <a:rPr lang="en-US" b="true" sz="2878">
                <a:solidFill>
                  <a:srgbClr val="1F1F1F"/>
                </a:solidFill>
                <a:latin typeface="Agrandir Narrow Bold"/>
                <a:ea typeface="Agrandir Narrow Bold"/>
                <a:cs typeface="Agrandir Narrow Bold"/>
                <a:sym typeface="Agrandir Narrow Bold"/>
              </a:rPr>
              <a:t>0M+</a:t>
            </a:r>
          </a:p>
        </p:txBody>
      </p:sp>
      <p:sp>
        <p:nvSpPr>
          <p:cNvPr name="AutoShape 25" id="25"/>
          <p:cNvSpPr/>
          <p:nvPr/>
        </p:nvSpPr>
        <p:spPr>
          <a:xfrm flipV="true">
            <a:off x="2213230" y="8116691"/>
            <a:ext cx="2077395" cy="5835"/>
          </a:xfrm>
          <a:prstGeom prst="line">
            <a:avLst/>
          </a:prstGeom>
          <a:ln cap="flat" w="28575">
            <a:solidFill>
              <a:srgbClr val="4A89CB"/>
            </a:solidFill>
            <a:prstDash val="solid"/>
            <a:headEnd type="none" len="sm" w="sm"/>
            <a:tailEnd type="none" len="sm" w="sm"/>
          </a:ln>
        </p:spPr>
      </p:sp>
      <p:sp>
        <p:nvSpPr>
          <p:cNvPr name="TextBox 26" id="26"/>
          <p:cNvSpPr txBox="true"/>
          <p:nvPr/>
        </p:nvSpPr>
        <p:spPr>
          <a:xfrm rot="0">
            <a:off x="5834872" y="8081552"/>
            <a:ext cx="2108364" cy="1238250"/>
          </a:xfrm>
          <a:prstGeom prst="rect">
            <a:avLst/>
          </a:prstGeom>
        </p:spPr>
        <p:txBody>
          <a:bodyPr anchor="t" rtlCol="false" tIns="0" lIns="0" bIns="0" rIns="0">
            <a:spAutoFit/>
          </a:bodyPr>
          <a:lstStyle/>
          <a:p>
            <a:pPr algn="ctr">
              <a:lnSpc>
                <a:spcPts val="2377"/>
              </a:lnSpc>
              <a:spcBef>
                <a:spcPct val="0"/>
              </a:spcBef>
            </a:pPr>
          </a:p>
          <a:p>
            <a:pPr algn="ctr">
              <a:lnSpc>
                <a:spcPts val="2377"/>
              </a:lnSpc>
              <a:spcBef>
                <a:spcPct val="0"/>
              </a:spcBef>
            </a:pPr>
            <a:r>
              <a:rPr lang="en-US" sz="1980">
                <a:solidFill>
                  <a:srgbClr val="1F1F1F"/>
                </a:solidFill>
                <a:latin typeface="Agrandir Narrow"/>
                <a:ea typeface="Agrandir Narrow"/>
                <a:cs typeface="Agrandir Narrow"/>
                <a:sym typeface="Agrandir Narrow"/>
              </a:rPr>
              <a:t>Potential lending market left untapped</a:t>
            </a:r>
          </a:p>
        </p:txBody>
      </p:sp>
      <p:sp>
        <p:nvSpPr>
          <p:cNvPr name="TextBox 27" id="27"/>
          <p:cNvSpPr txBox="true"/>
          <p:nvPr/>
        </p:nvSpPr>
        <p:spPr>
          <a:xfrm rot="0">
            <a:off x="5705225" y="7583413"/>
            <a:ext cx="2367658" cy="514921"/>
          </a:xfrm>
          <a:prstGeom prst="rect">
            <a:avLst/>
          </a:prstGeom>
        </p:spPr>
        <p:txBody>
          <a:bodyPr anchor="t" rtlCol="false" tIns="0" lIns="0" bIns="0" rIns="0">
            <a:spAutoFit/>
          </a:bodyPr>
          <a:lstStyle/>
          <a:p>
            <a:pPr algn="ctr">
              <a:lnSpc>
                <a:spcPts val="3454"/>
              </a:lnSpc>
              <a:spcBef>
                <a:spcPct val="0"/>
              </a:spcBef>
            </a:pPr>
            <a:r>
              <a:rPr lang="en-US" b="true" sz="2878">
                <a:solidFill>
                  <a:srgbClr val="1F1F1F"/>
                </a:solidFill>
                <a:latin typeface="Agrandir Narrow Bold"/>
                <a:ea typeface="Agrandir Narrow Bold"/>
                <a:cs typeface="Agrandir Narrow Bold"/>
                <a:sym typeface="Agrandir Narrow Bold"/>
              </a:rPr>
              <a:t>₹3.5L</a:t>
            </a:r>
            <a:r>
              <a:rPr lang="en-US" b="true" sz="2878">
                <a:solidFill>
                  <a:srgbClr val="1F1F1F"/>
                </a:solidFill>
                <a:latin typeface="Agrandir Narrow Bold"/>
                <a:ea typeface="Agrandir Narrow Bold"/>
                <a:cs typeface="Agrandir Narrow Bold"/>
                <a:sym typeface="Agrandir Narrow Bold"/>
              </a:rPr>
              <a:t> Cr</a:t>
            </a:r>
          </a:p>
        </p:txBody>
      </p:sp>
      <p:sp>
        <p:nvSpPr>
          <p:cNvPr name="AutoShape 28" id="28"/>
          <p:cNvSpPr/>
          <p:nvPr/>
        </p:nvSpPr>
        <p:spPr>
          <a:xfrm flipV="true">
            <a:off x="5865841" y="8141620"/>
            <a:ext cx="2077395" cy="5835"/>
          </a:xfrm>
          <a:prstGeom prst="line">
            <a:avLst/>
          </a:prstGeom>
          <a:ln cap="flat" w="28575">
            <a:solidFill>
              <a:srgbClr val="4A89CB"/>
            </a:solidFill>
            <a:prstDash val="solid"/>
            <a:headEnd type="none" len="sm" w="sm"/>
            <a:tailEnd type="none" len="sm" w="sm"/>
          </a:ln>
        </p:spPr>
      </p:sp>
      <p:grpSp>
        <p:nvGrpSpPr>
          <p:cNvPr name="Group 29" id="29"/>
          <p:cNvGrpSpPr/>
          <p:nvPr/>
        </p:nvGrpSpPr>
        <p:grpSpPr>
          <a:xfrm rot="0">
            <a:off x="13285583" y="7120816"/>
            <a:ext cx="2367658" cy="2344306"/>
            <a:chOff x="0" y="0"/>
            <a:chExt cx="758155" cy="750677"/>
          </a:xfrm>
        </p:grpSpPr>
        <p:sp>
          <p:nvSpPr>
            <p:cNvPr name="Freeform 30" id="30"/>
            <p:cNvSpPr/>
            <p:nvPr/>
          </p:nvSpPr>
          <p:spPr>
            <a:xfrm flipH="false" flipV="false" rot="0">
              <a:off x="0" y="0"/>
              <a:ext cx="758155" cy="750677"/>
            </a:xfrm>
            <a:custGeom>
              <a:avLst/>
              <a:gdLst/>
              <a:ahLst/>
              <a:cxnLst/>
              <a:rect r="r" b="b" t="t" l="l"/>
              <a:pathLst>
                <a:path h="750677" w="758155">
                  <a:moveTo>
                    <a:pt x="0" y="0"/>
                  </a:moveTo>
                  <a:lnTo>
                    <a:pt x="758155" y="0"/>
                  </a:lnTo>
                  <a:lnTo>
                    <a:pt x="758155" y="750677"/>
                  </a:lnTo>
                  <a:lnTo>
                    <a:pt x="0" y="750677"/>
                  </a:lnTo>
                  <a:close/>
                </a:path>
              </a:pathLst>
            </a:custGeom>
            <a:solidFill>
              <a:srgbClr val="DDF2F5"/>
            </a:solidFill>
          </p:spPr>
        </p:sp>
        <p:sp>
          <p:nvSpPr>
            <p:cNvPr name="TextBox 31" id="31"/>
            <p:cNvSpPr txBox="true"/>
            <p:nvPr/>
          </p:nvSpPr>
          <p:spPr>
            <a:xfrm>
              <a:off x="0" y="-57150"/>
              <a:ext cx="758155" cy="807827"/>
            </a:xfrm>
            <a:prstGeom prst="rect">
              <a:avLst/>
            </a:prstGeom>
          </p:spPr>
          <p:txBody>
            <a:bodyPr anchor="ctr" rtlCol="false" tIns="50800" lIns="50800" bIns="50800" rIns="50800"/>
            <a:lstStyle/>
            <a:p>
              <a:pPr algn="ctr">
                <a:lnSpc>
                  <a:spcPts val="2452"/>
                </a:lnSpc>
              </a:pPr>
            </a:p>
          </p:txBody>
        </p:sp>
      </p:grpSp>
      <p:grpSp>
        <p:nvGrpSpPr>
          <p:cNvPr name="Group 32" id="32"/>
          <p:cNvGrpSpPr/>
          <p:nvPr/>
        </p:nvGrpSpPr>
        <p:grpSpPr>
          <a:xfrm rot="0">
            <a:off x="9453036" y="7120816"/>
            <a:ext cx="2367658" cy="2344306"/>
            <a:chOff x="0" y="0"/>
            <a:chExt cx="758155" cy="750677"/>
          </a:xfrm>
        </p:grpSpPr>
        <p:sp>
          <p:nvSpPr>
            <p:cNvPr name="Freeform 33" id="33"/>
            <p:cNvSpPr/>
            <p:nvPr/>
          </p:nvSpPr>
          <p:spPr>
            <a:xfrm flipH="false" flipV="false" rot="0">
              <a:off x="0" y="0"/>
              <a:ext cx="758155" cy="750677"/>
            </a:xfrm>
            <a:custGeom>
              <a:avLst/>
              <a:gdLst/>
              <a:ahLst/>
              <a:cxnLst/>
              <a:rect r="r" b="b" t="t" l="l"/>
              <a:pathLst>
                <a:path h="750677" w="758155">
                  <a:moveTo>
                    <a:pt x="0" y="0"/>
                  </a:moveTo>
                  <a:lnTo>
                    <a:pt x="758155" y="0"/>
                  </a:lnTo>
                  <a:lnTo>
                    <a:pt x="758155" y="750677"/>
                  </a:lnTo>
                  <a:lnTo>
                    <a:pt x="0" y="750677"/>
                  </a:lnTo>
                  <a:close/>
                </a:path>
              </a:pathLst>
            </a:custGeom>
            <a:solidFill>
              <a:srgbClr val="DDF2F5"/>
            </a:solidFill>
          </p:spPr>
        </p:sp>
        <p:sp>
          <p:nvSpPr>
            <p:cNvPr name="TextBox 34" id="34"/>
            <p:cNvSpPr txBox="true"/>
            <p:nvPr/>
          </p:nvSpPr>
          <p:spPr>
            <a:xfrm>
              <a:off x="0" y="-57150"/>
              <a:ext cx="758155" cy="807827"/>
            </a:xfrm>
            <a:prstGeom prst="rect">
              <a:avLst/>
            </a:prstGeom>
          </p:spPr>
          <p:txBody>
            <a:bodyPr anchor="ctr" rtlCol="false" tIns="50800" lIns="50800" bIns="50800" rIns="50800"/>
            <a:lstStyle/>
            <a:p>
              <a:pPr algn="ctr">
                <a:lnSpc>
                  <a:spcPts val="2452"/>
                </a:lnSpc>
              </a:pPr>
            </a:p>
          </p:txBody>
        </p:sp>
      </p:grpSp>
      <p:grpSp>
        <p:nvGrpSpPr>
          <p:cNvPr name="Group 35" id="35"/>
          <p:cNvGrpSpPr/>
          <p:nvPr/>
        </p:nvGrpSpPr>
        <p:grpSpPr>
          <a:xfrm rot="0">
            <a:off x="9453036" y="7120816"/>
            <a:ext cx="2367658" cy="276688"/>
            <a:chOff x="0" y="0"/>
            <a:chExt cx="758155" cy="88599"/>
          </a:xfrm>
        </p:grpSpPr>
        <p:sp>
          <p:nvSpPr>
            <p:cNvPr name="Freeform 36" id="36"/>
            <p:cNvSpPr/>
            <p:nvPr/>
          </p:nvSpPr>
          <p:spPr>
            <a:xfrm flipH="false" flipV="false" rot="0">
              <a:off x="0" y="0"/>
              <a:ext cx="758155" cy="88599"/>
            </a:xfrm>
            <a:custGeom>
              <a:avLst/>
              <a:gdLst/>
              <a:ahLst/>
              <a:cxnLst/>
              <a:rect r="r" b="b" t="t" l="l"/>
              <a:pathLst>
                <a:path h="88599" w="758155">
                  <a:moveTo>
                    <a:pt x="0" y="0"/>
                  </a:moveTo>
                  <a:lnTo>
                    <a:pt x="758155" y="0"/>
                  </a:lnTo>
                  <a:lnTo>
                    <a:pt x="758155" y="88599"/>
                  </a:lnTo>
                  <a:lnTo>
                    <a:pt x="0" y="88599"/>
                  </a:lnTo>
                  <a:close/>
                </a:path>
              </a:pathLst>
            </a:custGeom>
            <a:solidFill>
              <a:srgbClr val="143DFB"/>
            </a:solidFill>
          </p:spPr>
        </p:sp>
        <p:sp>
          <p:nvSpPr>
            <p:cNvPr name="TextBox 37" id="37"/>
            <p:cNvSpPr txBox="true"/>
            <p:nvPr/>
          </p:nvSpPr>
          <p:spPr>
            <a:xfrm>
              <a:off x="0" y="-57150"/>
              <a:ext cx="758155" cy="145749"/>
            </a:xfrm>
            <a:prstGeom prst="rect">
              <a:avLst/>
            </a:prstGeom>
          </p:spPr>
          <p:txBody>
            <a:bodyPr anchor="ctr" rtlCol="false" tIns="50800" lIns="50800" bIns="50800" rIns="50800"/>
            <a:lstStyle/>
            <a:p>
              <a:pPr algn="ctr">
                <a:lnSpc>
                  <a:spcPts val="2452"/>
                </a:lnSpc>
              </a:pPr>
            </a:p>
          </p:txBody>
        </p:sp>
      </p:grpSp>
      <p:grpSp>
        <p:nvGrpSpPr>
          <p:cNvPr name="Group 38" id="38"/>
          <p:cNvGrpSpPr/>
          <p:nvPr/>
        </p:nvGrpSpPr>
        <p:grpSpPr>
          <a:xfrm rot="0">
            <a:off x="13285583" y="7120816"/>
            <a:ext cx="2367658" cy="276688"/>
            <a:chOff x="0" y="0"/>
            <a:chExt cx="758155" cy="88599"/>
          </a:xfrm>
        </p:grpSpPr>
        <p:sp>
          <p:nvSpPr>
            <p:cNvPr name="Freeform 39" id="39"/>
            <p:cNvSpPr/>
            <p:nvPr/>
          </p:nvSpPr>
          <p:spPr>
            <a:xfrm flipH="false" flipV="false" rot="0">
              <a:off x="0" y="0"/>
              <a:ext cx="758155" cy="88599"/>
            </a:xfrm>
            <a:custGeom>
              <a:avLst/>
              <a:gdLst/>
              <a:ahLst/>
              <a:cxnLst/>
              <a:rect r="r" b="b" t="t" l="l"/>
              <a:pathLst>
                <a:path h="88599" w="758155">
                  <a:moveTo>
                    <a:pt x="0" y="0"/>
                  </a:moveTo>
                  <a:lnTo>
                    <a:pt x="758155" y="0"/>
                  </a:lnTo>
                  <a:lnTo>
                    <a:pt x="758155" y="88599"/>
                  </a:lnTo>
                  <a:lnTo>
                    <a:pt x="0" y="88599"/>
                  </a:lnTo>
                  <a:close/>
                </a:path>
              </a:pathLst>
            </a:custGeom>
            <a:solidFill>
              <a:srgbClr val="00BF63"/>
            </a:solidFill>
          </p:spPr>
        </p:sp>
        <p:sp>
          <p:nvSpPr>
            <p:cNvPr name="TextBox 40" id="40"/>
            <p:cNvSpPr txBox="true"/>
            <p:nvPr/>
          </p:nvSpPr>
          <p:spPr>
            <a:xfrm>
              <a:off x="0" y="-57150"/>
              <a:ext cx="758155" cy="145749"/>
            </a:xfrm>
            <a:prstGeom prst="rect">
              <a:avLst/>
            </a:prstGeom>
          </p:spPr>
          <p:txBody>
            <a:bodyPr anchor="ctr" rtlCol="false" tIns="50800" lIns="50800" bIns="50800" rIns="50800"/>
            <a:lstStyle/>
            <a:p>
              <a:pPr algn="ctr">
                <a:lnSpc>
                  <a:spcPts val="2452"/>
                </a:lnSpc>
              </a:pPr>
            </a:p>
          </p:txBody>
        </p:sp>
      </p:grpSp>
      <p:sp>
        <p:nvSpPr>
          <p:cNvPr name="TextBox 41" id="41"/>
          <p:cNvSpPr txBox="true"/>
          <p:nvPr/>
        </p:nvSpPr>
        <p:spPr>
          <a:xfrm rot="0">
            <a:off x="9508085" y="7966841"/>
            <a:ext cx="2257561" cy="1238250"/>
          </a:xfrm>
          <a:prstGeom prst="rect">
            <a:avLst/>
          </a:prstGeom>
        </p:spPr>
        <p:txBody>
          <a:bodyPr anchor="t" rtlCol="false" tIns="0" lIns="0" bIns="0" rIns="0">
            <a:spAutoFit/>
          </a:bodyPr>
          <a:lstStyle/>
          <a:p>
            <a:pPr algn="ctr">
              <a:lnSpc>
                <a:spcPts val="2377"/>
              </a:lnSpc>
              <a:spcBef>
                <a:spcPct val="0"/>
              </a:spcBef>
            </a:pPr>
          </a:p>
          <a:p>
            <a:pPr algn="ctr">
              <a:lnSpc>
                <a:spcPts val="2377"/>
              </a:lnSpc>
              <a:spcBef>
                <a:spcPct val="0"/>
              </a:spcBef>
            </a:pPr>
            <a:r>
              <a:rPr lang="en-US" sz="1980">
                <a:solidFill>
                  <a:srgbClr val="1F1F1F"/>
                </a:solidFill>
                <a:latin typeface="Agrandir Narrow"/>
                <a:ea typeface="Agrandir Narrow"/>
                <a:cs typeface="Agrandir Narrow"/>
                <a:sym typeface="Agrandir Narrow"/>
              </a:rPr>
              <a:t>Loan rejections among first-time borrowers</a:t>
            </a:r>
          </a:p>
        </p:txBody>
      </p:sp>
      <p:sp>
        <p:nvSpPr>
          <p:cNvPr name="TextBox 42" id="42"/>
          <p:cNvSpPr txBox="true"/>
          <p:nvPr/>
        </p:nvSpPr>
        <p:spPr>
          <a:xfrm rot="0">
            <a:off x="10226850" y="7522738"/>
            <a:ext cx="820030" cy="514921"/>
          </a:xfrm>
          <a:prstGeom prst="rect">
            <a:avLst/>
          </a:prstGeom>
        </p:spPr>
        <p:txBody>
          <a:bodyPr anchor="t" rtlCol="false" tIns="0" lIns="0" bIns="0" rIns="0">
            <a:spAutoFit/>
          </a:bodyPr>
          <a:lstStyle/>
          <a:p>
            <a:pPr algn="ctr">
              <a:lnSpc>
                <a:spcPts val="3454"/>
              </a:lnSpc>
              <a:spcBef>
                <a:spcPct val="0"/>
              </a:spcBef>
            </a:pPr>
            <a:r>
              <a:rPr lang="en-US" b="true" sz="2878">
                <a:solidFill>
                  <a:srgbClr val="1F1F1F"/>
                </a:solidFill>
                <a:latin typeface="Agrandir Narrow Bold"/>
                <a:ea typeface="Agrandir Narrow Bold"/>
                <a:cs typeface="Agrandir Narrow Bold"/>
                <a:sym typeface="Agrandir Narrow Bold"/>
              </a:rPr>
              <a:t>9</a:t>
            </a:r>
            <a:r>
              <a:rPr lang="en-US" b="true" sz="2878">
                <a:solidFill>
                  <a:srgbClr val="1F1F1F"/>
                </a:solidFill>
                <a:latin typeface="Agrandir Narrow Bold"/>
                <a:ea typeface="Agrandir Narrow Bold"/>
                <a:cs typeface="Agrandir Narrow Bold"/>
                <a:sym typeface="Agrandir Narrow Bold"/>
              </a:rPr>
              <a:t>0%</a:t>
            </a:r>
          </a:p>
        </p:txBody>
      </p:sp>
      <p:sp>
        <p:nvSpPr>
          <p:cNvPr name="AutoShape 43" id="43"/>
          <p:cNvSpPr/>
          <p:nvPr/>
        </p:nvSpPr>
        <p:spPr>
          <a:xfrm flipV="true">
            <a:off x="9598212" y="8092499"/>
            <a:ext cx="2077395" cy="5835"/>
          </a:xfrm>
          <a:prstGeom prst="line">
            <a:avLst/>
          </a:prstGeom>
          <a:ln cap="flat" w="28575">
            <a:solidFill>
              <a:srgbClr val="4A89CB"/>
            </a:solidFill>
            <a:prstDash val="solid"/>
            <a:headEnd type="none" len="sm" w="sm"/>
            <a:tailEnd type="none" len="sm" w="sm"/>
          </a:ln>
        </p:spPr>
      </p:sp>
      <p:sp>
        <p:nvSpPr>
          <p:cNvPr name="TextBox 44" id="44"/>
          <p:cNvSpPr txBox="true"/>
          <p:nvPr/>
        </p:nvSpPr>
        <p:spPr>
          <a:xfrm rot="0">
            <a:off x="13545064" y="8235818"/>
            <a:ext cx="1932120" cy="942975"/>
          </a:xfrm>
          <a:prstGeom prst="rect">
            <a:avLst/>
          </a:prstGeom>
        </p:spPr>
        <p:txBody>
          <a:bodyPr anchor="t" rtlCol="false" tIns="0" lIns="0" bIns="0" rIns="0">
            <a:spAutoFit/>
          </a:bodyPr>
          <a:lstStyle/>
          <a:p>
            <a:pPr algn="ctr">
              <a:lnSpc>
                <a:spcPts val="2377"/>
              </a:lnSpc>
              <a:spcBef>
                <a:spcPct val="0"/>
              </a:spcBef>
            </a:pPr>
            <a:r>
              <a:rPr lang="en-US" sz="1980">
                <a:solidFill>
                  <a:srgbClr val="1F1F1F"/>
                </a:solidFill>
                <a:latin typeface="Agrandir Narrow"/>
                <a:ea typeface="Agrandir Narrow"/>
                <a:cs typeface="Agrandir Narrow"/>
                <a:sym typeface="Agrandir Narrow"/>
              </a:rPr>
              <a:t>Time</a:t>
            </a:r>
            <a:r>
              <a:rPr lang="en-US" sz="1980">
                <a:solidFill>
                  <a:srgbClr val="1F1F1F"/>
                </a:solidFill>
                <a:latin typeface="Agrandir Narrow"/>
                <a:ea typeface="Agrandir Narrow"/>
                <a:cs typeface="Agrandir Narrow"/>
                <a:sym typeface="Agrandir Narrow"/>
              </a:rPr>
              <a:t> IntelliCredit takes to score a user</a:t>
            </a:r>
          </a:p>
        </p:txBody>
      </p:sp>
      <p:sp>
        <p:nvSpPr>
          <p:cNvPr name="TextBox 45" id="45"/>
          <p:cNvSpPr txBox="true"/>
          <p:nvPr/>
        </p:nvSpPr>
        <p:spPr>
          <a:xfrm rot="0">
            <a:off x="13880126" y="7509070"/>
            <a:ext cx="1147602" cy="514921"/>
          </a:xfrm>
          <a:prstGeom prst="rect">
            <a:avLst/>
          </a:prstGeom>
        </p:spPr>
        <p:txBody>
          <a:bodyPr anchor="t" rtlCol="false" tIns="0" lIns="0" bIns="0" rIns="0">
            <a:spAutoFit/>
          </a:bodyPr>
          <a:lstStyle/>
          <a:p>
            <a:pPr algn="ctr">
              <a:lnSpc>
                <a:spcPts val="3454"/>
              </a:lnSpc>
              <a:spcBef>
                <a:spcPct val="0"/>
              </a:spcBef>
            </a:pPr>
            <a:r>
              <a:rPr lang="en-US" b="true" sz="2878">
                <a:solidFill>
                  <a:srgbClr val="1F1F1F"/>
                </a:solidFill>
                <a:latin typeface="Agrandir Narrow Bold"/>
                <a:ea typeface="Agrandir Narrow Bold"/>
                <a:cs typeface="Agrandir Narrow Bold"/>
                <a:sym typeface="Agrandir Narrow Bold"/>
              </a:rPr>
              <a:t>3</a:t>
            </a:r>
            <a:r>
              <a:rPr lang="en-US" b="true" sz="2878">
                <a:solidFill>
                  <a:srgbClr val="1F1F1F"/>
                </a:solidFill>
                <a:latin typeface="Agrandir Narrow Bold"/>
                <a:ea typeface="Agrandir Narrow Bold"/>
                <a:cs typeface="Agrandir Narrow Bold"/>
                <a:sym typeface="Agrandir Narrow Bold"/>
              </a:rPr>
              <a:t>0 Sec</a:t>
            </a:r>
          </a:p>
        </p:txBody>
      </p:sp>
      <p:sp>
        <p:nvSpPr>
          <p:cNvPr name="AutoShape 46" id="46"/>
          <p:cNvSpPr/>
          <p:nvPr/>
        </p:nvSpPr>
        <p:spPr>
          <a:xfrm flipV="true">
            <a:off x="13399789" y="8058939"/>
            <a:ext cx="2077395" cy="5835"/>
          </a:xfrm>
          <a:prstGeom prst="line">
            <a:avLst/>
          </a:prstGeom>
          <a:ln cap="flat" w="28575">
            <a:solidFill>
              <a:srgbClr val="4A89CB"/>
            </a:solidFill>
            <a:prstDash val="solid"/>
            <a:headEnd type="none" len="sm" w="sm"/>
            <a:tailEnd type="none" len="sm" w="sm"/>
          </a:ln>
        </p:spPr>
      </p:sp>
      <p:sp>
        <p:nvSpPr>
          <p:cNvPr name="TextBox 47" id="47"/>
          <p:cNvSpPr txBox="true"/>
          <p:nvPr/>
        </p:nvSpPr>
        <p:spPr>
          <a:xfrm rot="0">
            <a:off x="6365066" y="1766024"/>
            <a:ext cx="5558433" cy="485775"/>
          </a:xfrm>
          <a:prstGeom prst="rect">
            <a:avLst/>
          </a:prstGeom>
        </p:spPr>
        <p:txBody>
          <a:bodyPr anchor="t" rtlCol="false" tIns="0" lIns="0" bIns="0" rIns="0">
            <a:spAutoFit/>
          </a:bodyPr>
          <a:lstStyle/>
          <a:p>
            <a:pPr algn="ctr">
              <a:lnSpc>
                <a:spcPts val="3292"/>
              </a:lnSpc>
              <a:spcBef>
                <a:spcPct val="0"/>
              </a:spcBef>
            </a:pPr>
            <a:r>
              <a:rPr lang="en-US" b="true" sz="2743">
                <a:solidFill>
                  <a:srgbClr val="000000"/>
                </a:solidFill>
                <a:latin typeface="Agrandir Narrow Bold"/>
                <a:ea typeface="Agrandir Narrow Bold"/>
                <a:cs typeface="Agrandir Narrow Bold"/>
                <a:sym typeface="Agrandir Narrow Bold"/>
              </a:rPr>
              <a:t>The Credit Gap No One Talks About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09487" y="372210"/>
            <a:ext cx="11469026" cy="1008915"/>
            <a:chOff x="0" y="0"/>
            <a:chExt cx="3020649" cy="265722"/>
          </a:xfrm>
        </p:grpSpPr>
        <p:sp>
          <p:nvSpPr>
            <p:cNvPr name="Freeform 3" id="3"/>
            <p:cNvSpPr/>
            <p:nvPr/>
          </p:nvSpPr>
          <p:spPr>
            <a:xfrm flipH="false" flipV="false" rot="0">
              <a:off x="0" y="0"/>
              <a:ext cx="3020649" cy="265722"/>
            </a:xfrm>
            <a:custGeom>
              <a:avLst/>
              <a:gdLst/>
              <a:ahLst/>
              <a:cxnLst/>
              <a:rect r="r" b="b" t="t" l="l"/>
              <a:pathLst>
                <a:path h="265722" w="3020649">
                  <a:moveTo>
                    <a:pt x="34426" y="0"/>
                  </a:moveTo>
                  <a:lnTo>
                    <a:pt x="2986222" y="0"/>
                  </a:lnTo>
                  <a:cubicBezTo>
                    <a:pt x="2995353" y="0"/>
                    <a:pt x="3004109" y="3627"/>
                    <a:pt x="3010565" y="10083"/>
                  </a:cubicBezTo>
                  <a:cubicBezTo>
                    <a:pt x="3017022" y="16539"/>
                    <a:pt x="3020649" y="25296"/>
                    <a:pt x="3020649" y="34426"/>
                  </a:cubicBezTo>
                  <a:lnTo>
                    <a:pt x="3020649" y="231296"/>
                  </a:lnTo>
                  <a:cubicBezTo>
                    <a:pt x="3020649" y="240426"/>
                    <a:pt x="3017022" y="249183"/>
                    <a:pt x="3010565" y="255639"/>
                  </a:cubicBezTo>
                  <a:cubicBezTo>
                    <a:pt x="3004109" y="262095"/>
                    <a:pt x="2995353" y="265722"/>
                    <a:pt x="2986222" y="265722"/>
                  </a:cubicBezTo>
                  <a:lnTo>
                    <a:pt x="34426" y="265722"/>
                  </a:lnTo>
                  <a:cubicBezTo>
                    <a:pt x="25296" y="265722"/>
                    <a:pt x="16539" y="262095"/>
                    <a:pt x="10083" y="255639"/>
                  </a:cubicBezTo>
                  <a:cubicBezTo>
                    <a:pt x="3627" y="249183"/>
                    <a:pt x="0" y="240426"/>
                    <a:pt x="0" y="231296"/>
                  </a:cubicBezTo>
                  <a:lnTo>
                    <a:pt x="0" y="34426"/>
                  </a:lnTo>
                  <a:cubicBezTo>
                    <a:pt x="0" y="25296"/>
                    <a:pt x="3627" y="16539"/>
                    <a:pt x="10083" y="10083"/>
                  </a:cubicBezTo>
                  <a:cubicBezTo>
                    <a:pt x="16539" y="3627"/>
                    <a:pt x="25296" y="0"/>
                    <a:pt x="34426" y="0"/>
                  </a:cubicBezTo>
                  <a:close/>
                </a:path>
              </a:pathLst>
            </a:custGeom>
            <a:solidFill>
              <a:srgbClr val="225061"/>
            </a:solidFill>
          </p:spPr>
        </p:sp>
        <p:sp>
          <p:nvSpPr>
            <p:cNvPr name="TextBox 4" id="4"/>
            <p:cNvSpPr txBox="true"/>
            <p:nvPr/>
          </p:nvSpPr>
          <p:spPr>
            <a:xfrm>
              <a:off x="0" y="-123825"/>
              <a:ext cx="3020649" cy="389547"/>
            </a:xfrm>
            <a:prstGeom prst="rect">
              <a:avLst/>
            </a:prstGeom>
          </p:spPr>
          <p:txBody>
            <a:bodyPr anchor="ctr" rtlCol="false" tIns="50800" lIns="50800" bIns="50800" rIns="50800"/>
            <a:lstStyle/>
            <a:p>
              <a:pPr algn="ctr">
                <a:lnSpc>
                  <a:spcPts val="3640"/>
                </a:lnSpc>
              </a:pPr>
            </a:p>
          </p:txBody>
        </p:sp>
      </p:grpSp>
      <p:grpSp>
        <p:nvGrpSpPr>
          <p:cNvPr name="Group 5" id="5"/>
          <p:cNvGrpSpPr/>
          <p:nvPr/>
        </p:nvGrpSpPr>
        <p:grpSpPr>
          <a:xfrm rot="0">
            <a:off x="914400" y="19418"/>
            <a:ext cx="16459200" cy="1714500"/>
            <a:chOff x="0" y="0"/>
            <a:chExt cx="21945600" cy="2286000"/>
          </a:xfrm>
        </p:grpSpPr>
        <p:sp>
          <p:nvSpPr>
            <p:cNvPr name="Freeform 6" id="6"/>
            <p:cNvSpPr/>
            <p:nvPr/>
          </p:nvSpPr>
          <p:spPr>
            <a:xfrm flipH="false" flipV="false" rot="0">
              <a:off x="0" y="0"/>
              <a:ext cx="21945600" cy="2286000"/>
            </a:xfrm>
            <a:custGeom>
              <a:avLst/>
              <a:gdLst/>
              <a:ahLst/>
              <a:cxnLst/>
              <a:rect r="r" b="b" t="t" l="l"/>
              <a:pathLst>
                <a:path h="2286000" w="21945600">
                  <a:moveTo>
                    <a:pt x="0" y="0"/>
                  </a:moveTo>
                  <a:lnTo>
                    <a:pt x="21945600" y="0"/>
                  </a:lnTo>
                  <a:lnTo>
                    <a:pt x="21945600" y="2286000"/>
                  </a:lnTo>
                  <a:lnTo>
                    <a:pt x="0" y="2286000"/>
                  </a:lnTo>
                  <a:close/>
                </a:path>
              </a:pathLst>
            </a:custGeom>
            <a:solidFill>
              <a:srgbClr val="225061">
                <a:alpha val="0"/>
              </a:srgbClr>
            </a:solidFill>
          </p:spPr>
        </p:sp>
        <p:sp>
          <p:nvSpPr>
            <p:cNvPr name="TextBox 7" id="7"/>
            <p:cNvSpPr txBox="true"/>
            <p:nvPr/>
          </p:nvSpPr>
          <p:spPr>
            <a:xfrm>
              <a:off x="0" y="-133350"/>
              <a:ext cx="21945600" cy="2419350"/>
            </a:xfrm>
            <a:prstGeom prst="rect">
              <a:avLst/>
            </a:prstGeom>
          </p:spPr>
          <p:txBody>
            <a:bodyPr anchor="ctr" rtlCol="false" tIns="0" lIns="0" bIns="0" rIns="0"/>
            <a:lstStyle/>
            <a:p>
              <a:pPr algn="ctr">
                <a:lnSpc>
                  <a:spcPts val="5400"/>
                </a:lnSpc>
              </a:pPr>
              <a:r>
                <a:rPr lang="en-US" sz="4500" b="true">
                  <a:solidFill>
                    <a:srgbClr val="FFFFFF"/>
                  </a:solidFill>
                  <a:latin typeface="Agrandir Narrow Bold"/>
                  <a:ea typeface="Agrandir Narrow Bold"/>
                  <a:cs typeface="Agrandir Narrow Bold"/>
                  <a:sym typeface="Agrandir Narrow Bold"/>
                </a:rPr>
                <a:t>Proposed Solution</a:t>
              </a:r>
            </a:p>
          </p:txBody>
        </p:sp>
      </p:grpSp>
      <p:grpSp>
        <p:nvGrpSpPr>
          <p:cNvPr name="Group 8" id="8"/>
          <p:cNvGrpSpPr/>
          <p:nvPr/>
        </p:nvGrpSpPr>
        <p:grpSpPr>
          <a:xfrm rot="0">
            <a:off x="645030" y="3656934"/>
            <a:ext cx="5329430" cy="3931165"/>
            <a:chOff x="0" y="0"/>
            <a:chExt cx="7105906" cy="5241553"/>
          </a:xfrm>
        </p:grpSpPr>
        <p:grpSp>
          <p:nvGrpSpPr>
            <p:cNvPr name="Group 9" id="9"/>
            <p:cNvGrpSpPr/>
            <p:nvPr/>
          </p:nvGrpSpPr>
          <p:grpSpPr>
            <a:xfrm rot="0">
              <a:off x="0" y="0"/>
              <a:ext cx="7105906" cy="5241553"/>
              <a:chOff x="0" y="0"/>
              <a:chExt cx="1403636" cy="1035369"/>
            </a:xfrm>
          </p:grpSpPr>
          <p:sp>
            <p:nvSpPr>
              <p:cNvPr name="Freeform 10" id="10"/>
              <p:cNvSpPr/>
              <p:nvPr/>
            </p:nvSpPr>
            <p:spPr>
              <a:xfrm flipH="false" flipV="false" rot="0">
                <a:off x="0" y="0"/>
                <a:ext cx="1403636" cy="1035369"/>
              </a:xfrm>
              <a:custGeom>
                <a:avLst/>
                <a:gdLst/>
                <a:ahLst/>
                <a:cxnLst/>
                <a:rect r="r" b="b" t="t" l="l"/>
                <a:pathLst>
                  <a:path h="1035369" w="1403636">
                    <a:moveTo>
                      <a:pt x="47938" y="0"/>
                    </a:moveTo>
                    <a:lnTo>
                      <a:pt x="1355698" y="0"/>
                    </a:lnTo>
                    <a:cubicBezTo>
                      <a:pt x="1382173" y="0"/>
                      <a:pt x="1403636" y="21463"/>
                      <a:pt x="1403636" y="47938"/>
                    </a:cubicBezTo>
                    <a:lnTo>
                      <a:pt x="1403636" y="987430"/>
                    </a:lnTo>
                    <a:cubicBezTo>
                      <a:pt x="1403636" y="1000144"/>
                      <a:pt x="1398585" y="1012338"/>
                      <a:pt x="1389595" y="1021328"/>
                    </a:cubicBezTo>
                    <a:cubicBezTo>
                      <a:pt x="1380605" y="1030318"/>
                      <a:pt x="1368412" y="1035369"/>
                      <a:pt x="1355698" y="1035369"/>
                    </a:cubicBezTo>
                    <a:lnTo>
                      <a:pt x="47938" y="1035369"/>
                    </a:lnTo>
                    <a:cubicBezTo>
                      <a:pt x="21463" y="1035369"/>
                      <a:pt x="0" y="1013906"/>
                      <a:pt x="0" y="987430"/>
                    </a:cubicBezTo>
                    <a:lnTo>
                      <a:pt x="0" y="47938"/>
                    </a:lnTo>
                    <a:cubicBezTo>
                      <a:pt x="0" y="35224"/>
                      <a:pt x="5051" y="23031"/>
                      <a:pt x="14041" y="14041"/>
                    </a:cubicBezTo>
                    <a:cubicBezTo>
                      <a:pt x="23031" y="5051"/>
                      <a:pt x="35224" y="0"/>
                      <a:pt x="47938" y="0"/>
                    </a:cubicBezTo>
                    <a:close/>
                  </a:path>
                </a:pathLst>
              </a:custGeom>
              <a:solidFill>
                <a:srgbClr val="0097B2"/>
              </a:solidFill>
            </p:spPr>
          </p:sp>
          <p:sp>
            <p:nvSpPr>
              <p:cNvPr name="TextBox 11" id="11"/>
              <p:cNvSpPr txBox="true"/>
              <p:nvPr/>
            </p:nvSpPr>
            <p:spPr>
              <a:xfrm>
                <a:off x="0" y="-9525"/>
                <a:ext cx="1403636" cy="1044894"/>
              </a:xfrm>
              <a:prstGeom prst="rect">
                <a:avLst/>
              </a:prstGeom>
            </p:spPr>
            <p:txBody>
              <a:bodyPr anchor="ctr" rtlCol="false" tIns="50800" lIns="50800" bIns="50800" rIns="50800"/>
              <a:lstStyle/>
              <a:p>
                <a:pPr algn="ctr">
                  <a:lnSpc>
                    <a:spcPts val="2452"/>
                  </a:lnSpc>
                </a:pPr>
              </a:p>
            </p:txBody>
          </p:sp>
        </p:grpSp>
        <p:grpSp>
          <p:nvGrpSpPr>
            <p:cNvPr name="Group 12" id="12"/>
            <p:cNvGrpSpPr/>
            <p:nvPr/>
          </p:nvGrpSpPr>
          <p:grpSpPr>
            <a:xfrm rot="0">
              <a:off x="154537" y="124693"/>
              <a:ext cx="6780373" cy="4974853"/>
              <a:chOff x="0" y="0"/>
              <a:chExt cx="1339333" cy="982687"/>
            </a:xfrm>
          </p:grpSpPr>
          <p:sp>
            <p:nvSpPr>
              <p:cNvPr name="Freeform 13" id="13"/>
              <p:cNvSpPr/>
              <p:nvPr/>
            </p:nvSpPr>
            <p:spPr>
              <a:xfrm flipH="false" flipV="false" rot="0">
                <a:off x="0" y="0"/>
                <a:ext cx="1339333" cy="982687"/>
              </a:xfrm>
              <a:custGeom>
                <a:avLst/>
                <a:gdLst/>
                <a:ahLst/>
                <a:cxnLst/>
                <a:rect r="r" b="b" t="t" l="l"/>
                <a:pathLst>
                  <a:path h="982687" w="1339333">
                    <a:moveTo>
                      <a:pt x="36538" y="0"/>
                    </a:moveTo>
                    <a:lnTo>
                      <a:pt x="1302795" y="0"/>
                    </a:lnTo>
                    <a:cubicBezTo>
                      <a:pt x="1312485" y="0"/>
                      <a:pt x="1321779" y="3850"/>
                      <a:pt x="1328631" y="10702"/>
                    </a:cubicBezTo>
                    <a:cubicBezTo>
                      <a:pt x="1335483" y="17554"/>
                      <a:pt x="1339333" y="26848"/>
                      <a:pt x="1339333" y="36538"/>
                    </a:cubicBezTo>
                    <a:lnTo>
                      <a:pt x="1339333" y="946149"/>
                    </a:lnTo>
                    <a:cubicBezTo>
                      <a:pt x="1339333" y="955839"/>
                      <a:pt x="1335483" y="965133"/>
                      <a:pt x="1328631" y="971985"/>
                    </a:cubicBezTo>
                    <a:cubicBezTo>
                      <a:pt x="1321779" y="978837"/>
                      <a:pt x="1312485" y="982687"/>
                      <a:pt x="1302795" y="982687"/>
                    </a:cubicBezTo>
                    <a:lnTo>
                      <a:pt x="36538" y="982687"/>
                    </a:lnTo>
                    <a:cubicBezTo>
                      <a:pt x="26848" y="982687"/>
                      <a:pt x="17554" y="978837"/>
                      <a:pt x="10702" y="971985"/>
                    </a:cubicBezTo>
                    <a:cubicBezTo>
                      <a:pt x="3850" y="965133"/>
                      <a:pt x="0" y="955839"/>
                      <a:pt x="0" y="946149"/>
                    </a:cubicBezTo>
                    <a:lnTo>
                      <a:pt x="0" y="36538"/>
                    </a:lnTo>
                    <a:cubicBezTo>
                      <a:pt x="0" y="26848"/>
                      <a:pt x="3850" y="17554"/>
                      <a:pt x="10702" y="10702"/>
                    </a:cubicBezTo>
                    <a:cubicBezTo>
                      <a:pt x="17554" y="3850"/>
                      <a:pt x="26848" y="0"/>
                      <a:pt x="36538" y="0"/>
                    </a:cubicBezTo>
                    <a:close/>
                  </a:path>
                </a:pathLst>
              </a:custGeom>
              <a:solidFill>
                <a:srgbClr val="FFFFFF"/>
              </a:solidFill>
            </p:spPr>
          </p:sp>
          <p:sp>
            <p:nvSpPr>
              <p:cNvPr name="TextBox 14" id="14"/>
              <p:cNvSpPr txBox="true"/>
              <p:nvPr/>
            </p:nvSpPr>
            <p:spPr>
              <a:xfrm>
                <a:off x="0" y="-9525"/>
                <a:ext cx="1339333" cy="992212"/>
              </a:xfrm>
              <a:prstGeom prst="rect">
                <a:avLst/>
              </a:prstGeom>
            </p:spPr>
            <p:txBody>
              <a:bodyPr anchor="ctr" rtlCol="false" tIns="50800" lIns="50800" bIns="50800" rIns="50800"/>
              <a:lstStyle/>
              <a:p>
                <a:pPr algn="ctr">
                  <a:lnSpc>
                    <a:spcPts val="2452"/>
                  </a:lnSpc>
                </a:pPr>
              </a:p>
            </p:txBody>
          </p:sp>
        </p:grpSp>
      </p:grpSp>
      <p:grpSp>
        <p:nvGrpSpPr>
          <p:cNvPr name="Group 15" id="15"/>
          <p:cNvGrpSpPr/>
          <p:nvPr/>
        </p:nvGrpSpPr>
        <p:grpSpPr>
          <a:xfrm rot="0">
            <a:off x="12370960" y="3656934"/>
            <a:ext cx="5329430" cy="3931165"/>
            <a:chOff x="0" y="0"/>
            <a:chExt cx="7105906" cy="5241553"/>
          </a:xfrm>
        </p:grpSpPr>
        <p:grpSp>
          <p:nvGrpSpPr>
            <p:cNvPr name="Group 16" id="16"/>
            <p:cNvGrpSpPr/>
            <p:nvPr/>
          </p:nvGrpSpPr>
          <p:grpSpPr>
            <a:xfrm rot="0">
              <a:off x="0" y="0"/>
              <a:ext cx="7105906" cy="5241553"/>
              <a:chOff x="0" y="0"/>
              <a:chExt cx="1403636" cy="1035369"/>
            </a:xfrm>
          </p:grpSpPr>
          <p:sp>
            <p:nvSpPr>
              <p:cNvPr name="Freeform 17" id="17"/>
              <p:cNvSpPr/>
              <p:nvPr/>
            </p:nvSpPr>
            <p:spPr>
              <a:xfrm flipH="false" flipV="false" rot="0">
                <a:off x="0" y="0"/>
                <a:ext cx="1403636" cy="1035369"/>
              </a:xfrm>
              <a:custGeom>
                <a:avLst/>
                <a:gdLst/>
                <a:ahLst/>
                <a:cxnLst/>
                <a:rect r="r" b="b" t="t" l="l"/>
                <a:pathLst>
                  <a:path h="1035369" w="1403636">
                    <a:moveTo>
                      <a:pt x="47938" y="0"/>
                    </a:moveTo>
                    <a:lnTo>
                      <a:pt x="1355698" y="0"/>
                    </a:lnTo>
                    <a:cubicBezTo>
                      <a:pt x="1382173" y="0"/>
                      <a:pt x="1403636" y="21463"/>
                      <a:pt x="1403636" y="47938"/>
                    </a:cubicBezTo>
                    <a:lnTo>
                      <a:pt x="1403636" y="987430"/>
                    </a:lnTo>
                    <a:cubicBezTo>
                      <a:pt x="1403636" y="1000144"/>
                      <a:pt x="1398585" y="1012338"/>
                      <a:pt x="1389595" y="1021328"/>
                    </a:cubicBezTo>
                    <a:cubicBezTo>
                      <a:pt x="1380605" y="1030318"/>
                      <a:pt x="1368412" y="1035369"/>
                      <a:pt x="1355698" y="1035369"/>
                    </a:cubicBezTo>
                    <a:lnTo>
                      <a:pt x="47938" y="1035369"/>
                    </a:lnTo>
                    <a:cubicBezTo>
                      <a:pt x="21463" y="1035369"/>
                      <a:pt x="0" y="1013906"/>
                      <a:pt x="0" y="987430"/>
                    </a:cubicBezTo>
                    <a:lnTo>
                      <a:pt x="0" y="47938"/>
                    </a:lnTo>
                    <a:cubicBezTo>
                      <a:pt x="0" y="35224"/>
                      <a:pt x="5051" y="23031"/>
                      <a:pt x="14041" y="14041"/>
                    </a:cubicBezTo>
                    <a:cubicBezTo>
                      <a:pt x="23031" y="5051"/>
                      <a:pt x="35224" y="0"/>
                      <a:pt x="47938" y="0"/>
                    </a:cubicBezTo>
                    <a:close/>
                  </a:path>
                </a:pathLst>
              </a:custGeom>
              <a:solidFill>
                <a:srgbClr val="0097B2"/>
              </a:solidFill>
            </p:spPr>
          </p:sp>
          <p:sp>
            <p:nvSpPr>
              <p:cNvPr name="TextBox 18" id="18"/>
              <p:cNvSpPr txBox="true"/>
              <p:nvPr/>
            </p:nvSpPr>
            <p:spPr>
              <a:xfrm>
                <a:off x="0" y="-9525"/>
                <a:ext cx="1403636" cy="1044894"/>
              </a:xfrm>
              <a:prstGeom prst="rect">
                <a:avLst/>
              </a:prstGeom>
            </p:spPr>
            <p:txBody>
              <a:bodyPr anchor="ctr" rtlCol="false" tIns="50800" lIns="50800" bIns="50800" rIns="50800"/>
              <a:lstStyle/>
              <a:p>
                <a:pPr algn="ctr">
                  <a:lnSpc>
                    <a:spcPts val="2452"/>
                  </a:lnSpc>
                </a:pPr>
              </a:p>
            </p:txBody>
          </p:sp>
        </p:grpSp>
        <p:grpSp>
          <p:nvGrpSpPr>
            <p:cNvPr name="Group 19" id="19"/>
            <p:cNvGrpSpPr/>
            <p:nvPr/>
          </p:nvGrpSpPr>
          <p:grpSpPr>
            <a:xfrm rot="0">
              <a:off x="154537" y="124693"/>
              <a:ext cx="6780373" cy="4974853"/>
              <a:chOff x="0" y="0"/>
              <a:chExt cx="1339333" cy="982687"/>
            </a:xfrm>
          </p:grpSpPr>
          <p:sp>
            <p:nvSpPr>
              <p:cNvPr name="Freeform 20" id="20"/>
              <p:cNvSpPr/>
              <p:nvPr/>
            </p:nvSpPr>
            <p:spPr>
              <a:xfrm flipH="false" flipV="false" rot="0">
                <a:off x="0" y="0"/>
                <a:ext cx="1339333" cy="982687"/>
              </a:xfrm>
              <a:custGeom>
                <a:avLst/>
                <a:gdLst/>
                <a:ahLst/>
                <a:cxnLst/>
                <a:rect r="r" b="b" t="t" l="l"/>
                <a:pathLst>
                  <a:path h="982687" w="1339333">
                    <a:moveTo>
                      <a:pt x="36538" y="0"/>
                    </a:moveTo>
                    <a:lnTo>
                      <a:pt x="1302795" y="0"/>
                    </a:lnTo>
                    <a:cubicBezTo>
                      <a:pt x="1312485" y="0"/>
                      <a:pt x="1321779" y="3850"/>
                      <a:pt x="1328631" y="10702"/>
                    </a:cubicBezTo>
                    <a:cubicBezTo>
                      <a:pt x="1335483" y="17554"/>
                      <a:pt x="1339333" y="26848"/>
                      <a:pt x="1339333" y="36538"/>
                    </a:cubicBezTo>
                    <a:lnTo>
                      <a:pt x="1339333" y="946149"/>
                    </a:lnTo>
                    <a:cubicBezTo>
                      <a:pt x="1339333" y="955839"/>
                      <a:pt x="1335483" y="965133"/>
                      <a:pt x="1328631" y="971985"/>
                    </a:cubicBezTo>
                    <a:cubicBezTo>
                      <a:pt x="1321779" y="978837"/>
                      <a:pt x="1312485" y="982687"/>
                      <a:pt x="1302795" y="982687"/>
                    </a:cubicBezTo>
                    <a:lnTo>
                      <a:pt x="36538" y="982687"/>
                    </a:lnTo>
                    <a:cubicBezTo>
                      <a:pt x="26848" y="982687"/>
                      <a:pt x="17554" y="978837"/>
                      <a:pt x="10702" y="971985"/>
                    </a:cubicBezTo>
                    <a:cubicBezTo>
                      <a:pt x="3850" y="965133"/>
                      <a:pt x="0" y="955839"/>
                      <a:pt x="0" y="946149"/>
                    </a:cubicBezTo>
                    <a:lnTo>
                      <a:pt x="0" y="36538"/>
                    </a:lnTo>
                    <a:cubicBezTo>
                      <a:pt x="0" y="26848"/>
                      <a:pt x="3850" y="17554"/>
                      <a:pt x="10702" y="10702"/>
                    </a:cubicBezTo>
                    <a:cubicBezTo>
                      <a:pt x="17554" y="3850"/>
                      <a:pt x="26848" y="0"/>
                      <a:pt x="36538" y="0"/>
                    </a:cubicBezTo>
                    <a:close/>
                  </a:path>
                </a:pathLst>
              </a:custGeom>
              <a:solidFill>
                <a:srgbClr val="FFFFFF"/>
              </a:solidFill>
            </p:spPr>
          </p:sp>
          <p:sp>
            <p:nvSpPr>
              <p:cNvPr name="TextBox 21" id="21"/>
              <p:cNvSpPr txBox="true"/>
              <p:nvPr/>
            </p:nvSpPr>
            <p:spPr>
              <a:xfrm>
                <a:off x="0" y="-9525"/>
                <a:ext cx="1339333" cy="992212"/>
              </a:xfrm>
              <a:prstGeom prst="rect">
                <a:avLst/>
              </a:prstGeom>
            </p:spPr>
            <p:txBody>
              <a:bodyPr anchor="ctr" rtlCol="false" tIns="50800" lIns="50800" bIns="50800" rIns="50800"/>
              <a:lstStyle/>
              <a:p>
                <a:pPr algn="ctr">
                  <a:lnSpc>
                    <a:spcPts val="2452"/>
                  </a:lnSpc>
                </a:pPr>
              </a:p>
            </p:txBody>
          </p:sp>
        </p:grpSp>
      </p:grpSp>
      <p:grpSp>
        <p:nvGrpSpPr>
          <p:cNvPr name="Group 22" id="22"/>
          <p:cNvGrpSpPr/>
          <p:nvPr/>
        </p:nvGrpSpPr>
        <p:grpSpPr>
          <a:xfrm rot="0">
            <a:off x="6479285" y="3656934"/>
            <a:ext cx="5329430" cy="3931165"/>
            <a:chOff x="0" y="0"/>
            <a:chExt cx="7105906" cy="5241553"/>
          </a:xfrm>
        </p:grpSpPr>
        <p:grpSp>
          <p:nvGrpSpPr>
            <p:cNvPr name="Group 23" id="23"/>
            <p:cNvGrpSpPr/>
            <p:nvPr/>
          </p:nvGrpSpPr>
          <p:grpSpPr>
            <a:xfrm rot="0">
              <a:off x="0" y="0"/>
              <a:ext cx="7105906" cy="5241553"/>
              <a:chOff x="0" y="0"/>
              <a:chExt cx="1403636" cy="1035369"/>
            </a:xfrm>
          </p:grpSpPr>
          <p:sp>
            <p:nvSpPr>
              <p:cNvPr name="Freeform 24" id="24"/>
              <p:cNvSpPr/>
              <p:nvPr/>
            </p:nvSpPr>
            <p:spPr>
              <a:xfrm flipH="false" flipV="false" rot="0">
                <a:off x="0" y="0"/>
                <a:ext cx="1403636" cy="1035369"/>
              </a:xfrm>
              <a:custGeom>
                <a:avLst/>
                <a:gdLst/>
                <a:ahLst/>
                <a:cxnLst/>
                <a:rect r="r" b="b" t="t" l="l"/>
                <a:pathLst>
                  <a:path h="1035369" w="1403636">
                    <a:moveTo>
                      <a:pt x="47938" y="0"/>
                    </a:moveTo>
                    <a:lnTo>
                      <a:pt x="1355698" y="0"/>
                    </a:lnTo>
                    <a:cubicBezTo>
                      <a:pt x="1382173" y="0"/>
                      <a:pt x="1403636" y="21463"/>
                      <a:pt x="1403636" y="47938"/>
                    </a:cubicBezTo>
                    <a:lnTo>
                      <a:pt x="1403636" y="987430"/>
                    </a:lnTo>
                    <a:cubicBezTo>
                      <a:pt x="1403636" y="1000144"/>
                      <a:pt x="1398585" y="1012338"/>
                      <a:pt x="1389595" y="1021328"/>
                    </a:cubicBezTo>
                    <a:cubicBezTo>
                      <a:pt x="1380605" y="1030318"/>
                      <a:pt x="1368412" y="1035369"/>
                      <a:pt x="1355698" y="1035369"/>
                    </a:cubicBezTo>
                    <a:lnTo>
                      <a:pt x="47938" y="1035369"/>
                    </a:lnTo>
                    <a:cubicBezTo>
                      <a:pt x="21463" y="1035369"/>
                      <a:pt x="0" y="1013906"/>
                      <a:pt x="0" y="987430"/>
                    </a:cubicBezTo>
                    <a:lnTo>
                      <a:pt x="0" y="47938"/>
                    </a:lnTo>
                    <a:cubicBezTo>
                      <a:pt x="0" y="35224"/>
                      <a:pt x="5051" y="23031"/>
                      <a:pt x="14041" y="14041"/>
                    </a:cubicBezTo>
                    <a:cubicBezTo>
                      <a:pt x="23031" y="5051"/>
                      <a:pt x="35224" y="0"/>
                      <a:pt x="47938" y="0"/>
                    </a:cubicBezTo>
                    <a:close/>
                  </a:path>
                </a:pathLst>
              </a:custGeom>
              <a:solidFill>
                <a:srgbClr val="0097B2"/>
              </a:solidFill>
            </p:spPr>
          </p:sp>
          <p:sp>
            <p:nvSpPr>
              <p:cNvPr name="TextBox 25" id="25"/>
              <p:cNvSpPr txBox="true"/>
              <p:nvPr/>
            </p:nvSpPr>
            <p:spPr>
              <a:xfrm>
                <a:off x="0" y="-9525"/>
                <a:ext cx="1403636" cy="1044894"/>
              </a:xfrm>
              <a:prstGeom prst="rect">
                <a:avLst/>
              </a:prstGeom>
            </p:spPr>
            <p:txBody>
              <a:bodyPr anchor="ctr" rtlCol="false" tIns="50800" lIns="50800" bIns="50800" rIns="50800"/>
              <a:lstStyle/>
              <a:p>
                <a:pPr algn="ctr">
                  <a:lnSpc>
                    <a:spcPts val="2452"/>
                  </a:lnSpc>
                </a:pPr>
              </a:p>
            </p:txBody>
          </p:sp>
        </p:grpSp>
        <p:grpSp>
          <p:nvGrpSpPr>
            <p:cNvPr name="Group 26" id="26"/>
            <p:cNvGrpSpPr/>
            <p:nvPr/>
          </p:nvGrpSpPr>
          <p:grpSpPr>
            <a:xfrm rot="0">
              <a:off x="154537" y="124693"/>
              <a:ext cx="6780373" cy="4974853"/>
              <a:chOff x="0" y="0"/>
              <a:chExt cx="1339333" cy="982687"/>
            </a:xfrm>
          </p:grpSpPr>
          <p:sp>
            <p:nvSpPr>
              <p:cNvPr name="Freeform 27" id="27"/>
              <p:cNvSpPr/>
              <p:nvPr/>
            </p:nvSpPr>
            <p:spPr>
              <a:xfrm flipH="false" flipV="false" rot="0">
                <a:off x="0" y="0"/>
                <a:ext cx="1339333" cy="982687"/>
              </a:xfrm>
              <a:custGeom>
                <a:avLst/>
                <a:gdLst/>
                <a:ahLst/>
                <a:cxnLst/>
                <a:rect r="r" b="b" t="t" l="l"/>
                <a:pathLst>
                  <a:path h="982687" w="1339333">
                    <a:moveTo>
                      <a:pt x="36538" y="0"/>
                    </a:moveTo>
                    <a:lnTo>
                      <a:pt x="1302795" y="0"/>
                    </a:lnTo>
                    <a:cubicBezTo>
                      <a:pt x="1312485" y="0"/>
                      <a:pt x="1321779" y="3850"/>
                      <a:pt x="1328631" y="10702"/>
                    </a:cubicBezTo>
                    <a:cubicBezTo>
                      <a:pt x="1335483" y="17554"/>
                      <a:pt x="1339333" y="26848"/>
                      <a:pt x="1339333" y="36538"/>
                    </a:cubicBezTo>
                    <a:lnTo>
                      <a:pt x="1339333" y="946149"/>
                    </a:lnTo>
                    <a:cubicBezTo>
                      <a:pt x="1339333" y="955839"/>
                      <a:pt x="1335483" y="965133"/>
                      <a:pt x="1328631" y="971985"/>
                    </a:cubicBezTo>
                    <a:cubicBezTo>
                      <a:pt x="1321779" y="978837"/>
                      <a:pt x="1312485" y="982687"/>
                      <a:pt x="1302795" y="982687"/>
                    </a:cubicBezTo>
                    <a:lnTo>
                      <a:pt x="36538" y="982687"/>
                    </a:lnTo>
                    <a:cubicBezTo>
                      <a:pt x="26848" y="982687"/>
                      <a:pt x="17554" y="978837"/>
                      <a:pt x="10702" y="971985"/>
                    </a:cubicBezTo>
                    <a:cubicBezTo>
                      <a:pt x="3850" y="965133"/>
                      <a:pt x="0" y="955839"/>
                      <a:pt x="0" y="946149"/>
                    </a:cubicBezTo>
                    <a:lnTo>
                      <a:pt x="0" y="36538"/>
                    </a:lnTo>
                    <a:cubicBezTo>
                      <a:pt x="0" y="26848"/>
                      <a:pt x="3850" y="17554"/>
                      <a:pt x="10702" y="10702"/>
                    </a:cubicBezTo>
                    <a:cubicBezTo>
                      <a:pt x="17554" y="3850"/>
                      <a:pt x="26848" y="0"/>
                      <a:pt x="36538" y="0"/>
                    </a:cubicBezTo>
                    <a:close/>
                  </a:path>
                </a:pathLst>
              </a:custGeom>
              <a:solidFill>
                <a:srgbClr val="FFFFFF"/>
              </a:solidFill>
            </p:spPr>
          </p:sp>
          <p:sp>
            <p:nvSpPr>
              <p:cNvPr name="TextBox 28" id="28"/>
              <p:cNvSpPr txBox="true"/>
              <p:nvPr/>
            </p:nvSpPr>
            <p:spPr>
              <a:xfrm>
                <a:off x="0" y="-9525"/>
                <a:ext cx="1339333" cy="992212"/>
              </a:xfrm>
              <a:prstGeom prst="rect">
                <a:avLst/>
              </a:prstGeom>
            </p:spPr>
            <p:txBody>
              <a:bodyPr anchor="ctr" rtlCol="false" tIns="50800" lIns="50800" bIns="50800" rIns="50800"/>
              <a:lstStyle/>
              <a:p>
                <a:pPr algn="ctr">
                  <a:lnSpc>
                    <a:spcPts val="2452"/>
                  </a:lnSpc>
                </a:pPr>
              </a:p>
            </p:txBody>
          </p:sp>
        </p:grpSp>
      </p:grpSp>
      <p:grpSp>
        <p:nvGrpSpPr>
          <p:cNvPr name="Group 29" id="29"/>
          <p:cNvGrpSpPr/>
          <p:nvPr/>
        </p:nvGrpSpPr>
        <p:grpSpPr>
          <a:xfrm rot="0">
            <a:off x="922779" y="2165777"/>
            <a:ext cx="16442442" cy="1110157"/>
            <a:chOff x="0" y="0"/>
            <a:chExt cx="4330520" cy="292387"/>
          </a:xfrm>
        </p:grpSpPr>
        <p:sp>
          <p:nvSpPr>
            <p:cNvPr name="Freeform 30" id="30"/>
            <p:cNvSpPr/>
            <p:nvPr/>
          </p:nvSpPr>
          <p:spPr>
            <a:xfrm flipH="false" flipV="false" rot="0">
              <a:off x="0" y="0"/>
              <a:ext cx="4330520" cy="292387"/>
            </a:xfrm>
            <a:custGeom>
              <a:avLst/>
              <a:gdLst/>
              <a:ahLst/>
              <a:cxnLst/>
              <a:rect r="r" b="b" t="t" l="l"/>
              <a:pathLst>
                <a:path h="292387" w="4330520">
                  <a:moveTo>
                    <a:pt x="8475" y="0"/>
                  </a:moveTo>
                  <a:lnTo>
                    <a:pt x="4322044" y="0"/>
                  </a:lnTo>
                  <a:cubicBezTo>
                    <a:pt x="4324292" y="0"/>
                    <a:pt x="4326448" y="893"/>
                    <a:pt x="4328037" y="2482"/>
                  </a:cubicBezTo>
                  <a:cubicBezTo>
                    <a:pt x="4329627" y="4072"/>
                    <a:pt x="4330520" y="6228"/>
                    <a:pt x="4330520" y="8475"/>
                  </a:cubicBezTo>
                  <a:lnTo>
                    <a:pt x="4330520" y="283912"/>
                  </a:lnTo>
                  <a:cubicBezTo>
                    <a:pt x="4330520" y="288593"/>
                    <a:pt x="4326725" y="292387"/>
                    <a:pt x="4322044" y="292387"/>
                  </a:cubicBezTo>
                  <a:lnTo>
                    <a:pt x="8475" y="292387"/>
                  </a:lnTo>
                  <a:cubicBezTo>
                    <a:pt x="6228" y="292387"/>
                    <a:pt x="4072" y="291494"/>
                    <a:pt x="2482" y="289905"/>
                  </a:cubicBezTo>
                  <a:cubicBezTo>
                    <a:pt x="893" y="288315"/>
                    <a:pt x="0" y="286160"/>
                    <a:pt x="0" y="283912"/>
                  </a:cubicBezTo>
                  <a:lnTo>
                    <a:pt x="0" y="8475"/>
                  </a:lnTo>
                  <a:cubicBezTo>
                    <a:pt x="0" y="6228"/>
                    <a:pt x="893" y="4072"/>
                    <a:pt x="2482" y="2482"/>
                  </a:cubicBezTo>
                  <a:cubicBezTo>
                    <a:pt x="4072" y="893"/>
                    <a:pt x="6228" y="0"/>
                    <a:pt x="8475" y="0"/>
                  </a:cubicBezTo>
                  <a:close/>
                </a:path>
              </a:pathLst>
            </a:custGeom>
            <a:solidFill>
              <a:srgbClr val="DDF2F5"/>
            </a:solidFill>
          </p:spPr>
        </p:sp>
        <p:sp>
          <p:nvSpPr>
            <p:cNvPr name="TextBox 31" id="31"/>
            <p:cNvSpPr txBox="true"/>
            <p:nvPr/>
          </p:nvSpPr>
          <p:spPr>
            <a:xfrm>
              <a:off x="0" y="-57150"/>
              <a:ext cx="4330520" cy="349537"/>
            </a:xfrm>
            <a:prstGeom prst="rect">
              <a:avLst/>
            </a:prstGeom>
          </p:spPr>
          <p:txBody>
            <a:bodyPr anchor="ctr" rtlCol="false" tIns="50800" lIns="50800" bIns="50800" rIns="50800"/>
            <a:lstStyle/>
            <a:p>
              <a:pPr algn="ctr">
                <a:lnSpc>
                  <a:spcPts val="2452"/>
                </a:lnSpc>
              </a:pPr>
            </a:p>
          </p:txBody>
        </p:sp>
      </p:grpSp>
      <p:grpSp>
        <p:nvGrpSpPr>
          <p:cNvPr name="Group 32" id="32"/>
          <p:cNvGrpSpPr/>
          <p:nvPr/>
        </p:nvGrpSpPr>
        <p:grpSpPr>
          <a:xfrm rot="0">
            <a:off x="7051883" y="9077786"/>
            <a:ext cx="437585" cy="417980"/>
            <a:chOff x="0" y="0"/>
            <a:chExt cx="115249" cy="110085"/>
          </a:xfrm>
        </p:grpSpPr>
        <p:sp>
          <p:nvSpPr>
            <p:cNvPr name="Freeform 33" id="33"/>
            <p:cNvSpPr/>
            <p:nvPr/>
          </p:nvSpPr>
          <p:spPr>
            <a:xfrm flipH="false" flipV="false" rot="0">
              <a:off x="0" y="0"/>
              <a:ext cx="115249" cy="110085"/>
            </a:xfrm>
            <a:custGeom>
              <a:avLst/>
              <a:gdLst/>
              <a:ahLst/>
              <a:cxnLst/>
              <a:rect r="r" b="b" t="t" l="l"/>
              <a:pathLst>
                <a:path h="110085" w="115249">
                  <a:moveTo>
                    <a:pt x="0" y="0"/>
                  </a:moveTo>
                  <a:lnTo>
                    <a:pt x="115249" y="0"/>
                  </a:lnTo>
                  <a:lnTo>
                    <a:pt x="115249" y="110085"/>
                  </a:lnTo>
                  <a:lnTo>
                    <a:pt x="0" y="110085"/>
                  </a:lnTo>
                  <a:close/>
                </a:path>
              </a:pathLst>
            </a:custGeom>
            <a:solidFill>
              <a:srgbClr val="FFFFFF"/>
            </a:solidFill>
          </p:spPr>
        </p:sp>
        <p:sp>
          <p:nvSpPr>
            <p:cNvPr name="TextBox 34" id="34"/>
            <p:cNvSpPr txBox="true"/>
            <p:nvPr/>
          </p:nvSpPr>
          <p:spPr>
            <a:xfrm>
              <a:off x="0" y="-57150"/>
              <a:ext cx="115249" cy="167235"/>
            </a:xfrm>
            <a:prstGeom prst="rect">
              <a:avLst/>
            </a:prstGeom>
          </p:spPr>
          <p:txBody>
            <a:bodyPr anchor="ctr" rtlCol="false" tIns="50800" lIns="50800" bIns="50800" rIns="50800"/>
            <a:lstStyle/>
            <a:p>
              <a:pPr algn="ctr">
                <a:lnSpc>
                  <a:spcPts val="2452"/>
                </a:lnSpc>
              </a:pPr>
            </a:p>
          </p:txBody>
        </p:sp>
      </p:grpSp>
      <p:grpSp>
        <p:nvGrpSpPr>
          <p:cNvPr name="Group 35" id="35"/>
          <p:cNvGrpSpPr/>
          <p:nvPr/>
        </p:nvGrpSpPr>
        <p:grpSpPr>
          <a:xfrm rot="0">
            <a:off x="10609177" y="9077786"/>
            <a:ext cx="437585" cy="417980"/>
            <a:chOff x="0" y="0"/>
            <a:chExt cx="115249" cy="110085"/>
          </a:xfrm>
        </p:grpSpPr>
        <p:sp>
          <p:nvSpPr>
            <p:cNvPr name="Freeform 36" id="36"/>
            <p:cNvSpPr/>
            <p:nvPr/>
          </p:nvSpPr>
          <p:spPr>
            <a:xfrm flipH="false" flipV="false" rot="0">
              <a:off x="0" y="0"/>
              <a:ext cx="115249" cy="110085"/>
            </a:xfrm>
            <a:custGeom>
              <a:avLst/>
              <a:gdLst/>
              <a:ahLst/>
              <a:cxnLst/>
              <a:rect r="r" b="b" t="t" l="l"/>
              <a:pathLst>
                <a:path h="110085" w="115249">
                  <a:moveTo>
                    <a:pt x="0" y="0"/>
                  </a:moveTo>
                  <a:lnTo>
                    <a:pt x="115249" y="0"/>
                  </a:lnTo>
                  <a:lnTo>
                    <a:pt x="115249" y="110085"/>
                  </a:lnTo>
                  <a:lnTo>
                    <a:pt x="0" y="110085"/>
                  </a:lnTo>
                  <a:close/>
                </a:path>
              </a:pathLst>
            </a:custGeom>
            <a:solidFill>
              <a:srgbClr val="FFFFFF"/>
            </a:solidFill>
          </p:spPr>
        </p:sp>
        <p:sp>
          <p:nvSpPr>
            <p:cNvPr name="TextBox 37" id="37"/>
            <p:cNvSpPr txBox="true"/>
            <p:nvPr/>
          </p:nvSpPr>
          <p:spPr>
            <a:xfrm>
              <a:off x="0" y="-57150"/>
              <a:ext cx="115249" cy="167235"/>
            </a:xfrm>
            <a:prstGeom prst="rect">
              <a:avLst/>
            </a:prstGeom>
          </p:spPr>
          <p:txBody>
            <a:bodyPr anchor="ctr" rtlCol="false" tIns="50800" lIns="50800" bIns="50800" rIns="50800"/>
            <a:lstStyle/>
            <a:p>
              <a:pPr algn="ctr">
                <a:lnSpc>
                  <a:spcPts val="2452"/>
                </a:lnSpc>
              </a:pPr>
            </a:p>
          </p:txBody>
        </p:sp>
      </p:grpSp>
      <p:grpSp>
        <p:nvGrpSpPr>
          <p:cNvPr name="Group 38" id="38"/>
          <p:cNvGrpSpPr/>
          <p:nvPr/>
        </p:nvGrpSpPr>
        <p:grpSpPr>
          <a:xfrm rot="0">
            <a:off x="13991565" y="9077786"/>
            <a:ext cx="437585" cy="417980"/>
            <a:chOff x="0" y="0"/>
            <a:chExt cx="115249" cy="110085"/>
          </a:xfrm>
        </p:grpSpPr>
        <p:sp>
          <p:nvSpPr>
            <p:cNvPr name="Freeform 39" id="39"/>
            <p:cNvSpPr/>
            <p:nvPr/>
          </p:nvSpPr>
          <p:spPr>
            <a:xfrm flipH="false" flipV="false" rot="0">
              <a:off x="0" y="0"/>
              <a:ext cx="115249" cy="110085"/>
            </a:xfrm>
            <a:custGeom>
              <a:avLst/>
              <a:gdLst/>
              <a:ahLst/>
              <a:cxnLst/>
              <a:rect r="r" b="b" t="t" l="l"/>
              <a:pathLst>
                <a:path h="110085" w="115249">
                  <a:moveTo>
                    <a:pt x="0" y="0"/>
                  </a:moveTo>
                  <a:lnTo>
                    <a:pt x="115249" y="0"/>
                  </a:lnTo>
                  <a:lnTo>
                    <a:pt x="115249" y="110085"/>
                  </a:lnTo>
                  <a:lnTo>
                    <a:pt x="0" y="110085"/>
                  </a:lnTo>
                  <a:close/>
                </a:path>
              </a:pathLst>
            </a:custGeom>
            <a:solidFill>
              <a:srgbClr val="FFFFFF"/>
            </a:solidFill>
          </p:spPr>
        </p:sp>
        <p:sp>
          <p:nvSpPr>
            <p:cNvPr name="TextBox 40" id="40"/>
            <p:cNvSpPr txBox="true"/>
            <p:nvPr/>
          </p:nvSpPr>
          <p:spPr>
            <a:xfrm>
              <a:off x="0" y="-57150"/>
              <a:ext cx="115249" cy="167235"/>
            </a:xfrm>
            <a:prstGeom prst="rect">
              <a:avLst/>
            </a:prstGeom>
          </p:spPr>
          <p:txBody>
            <a:bodyPr anchor="ctr" rtlCol="false" tIns="50800" lIns="50800" bIns="50800" rIns="50800"/>
            <a:lstStyle/>
            <a:p>
              <a:pPr algn="ctr">
                <a:lnSpc>
                  <a:spcPts val="2452"/>
                </a:lnSpc>
              </a:pPr>
            </a:p>
          </p:txBody>
        </p:sp>
      </p:grpSp>
      <p:sp>
        <p:nvSpPr>
          <p:cNvPr name="Freeform 41" id="41"/>
          <p:cNvSpPr/>
          <p:nvPr/>
        </p:nvSpPr>
        <p:spPr>
          <a:xfrm flipH="false" flipV="false" rot="0">
            <a:off x="103015" y="8484064"/>
            <a:ext cx="18184985" cy="1568455"/>
          </a:xfrm>
          <a:custGeom>
            <a:avLst/>
            <a:gdLst/>
            <a:ahLst/>
            <a:cxnLst/>
            <a:rect r="r" b="b" t="t" l="l"/>
            <a:pathLst>
              <a:path h="1568455" w="18184985">
                <a:moveTo>
                  <a:pt x="0" y="0"/>
                </a:moveTo>
                <a:lnTo>
                  <a:pt x="18184985" y="0"/>
                </a:lnTo>
                <a:lnTo>
                  <a:pt x="18184985" y="1568455"/>
                </a:lnTo>
                <a:lnTo>
                  <a:pt x="0" y="1568455"/>
                </a:lnTo>
                <a:lnTo>
                  <a:pt x="0" y="0"/>
                </a:lnTo>
                <a:close/>
              </a:path>
            </a:pathLst>
          </a:custGeom>
          <a:blipFill>
            <a:blip r:embed="rId2"/>
            <a:stretch>
              <a:fillRect l="0" t="0" r="0" b="0"/>
            </a:stretch>
          </a:blipFill>
        </p:spPr>
      </p:sp>
      <p:sp>
        <p:nvSpPr>
          <p:cNvPr name="TextBox 42" id="42"/>
          <p:cNvSpPr txBox="true"/>
          <p:nvPr/>
        </p:nvSpPr>
        <p:spPr>
          <a:xfrm rot="0">
            <a:off x="4812581" y="1457693"/>
            <a:ext cx="8662839" cy="574040"/>
          </a:xfrm>
          <a:prstGeom prst="rect">
            <a:avLst/>
          </a:prstGeom>
        </p:spPr>
        <p:txBody>
          <a:bodyPr anchor="t" rtlCol="false" tIns="0" lIns="0" bIns="0" rIns="0">
            <a:spAutoFit/>
          </a:bodyPr>
          <a:lstStyle/>
          <a:p>
            <a:pPr algn="ctr">
              <a:lnSpc>
                <a:spcPts val="4059"/>
              </a:lnSpc>
              <a:spcBef>
                <a:spcPct val="0"/>
              </a:spcBef>
            </a:pPr>
            <a:r>
              <a:rPr lang="en-US" b="true" sz="2899">
                <a:solidFill>
                  <a:srgbClr val="000000"/>
                </a:solidFill>
                <a:latin typeface="Agrandir Narrow Bold"/>
                <a:ea typeface="Agrandir Narrow Bold"/>
                <a:cs typeface="Agrandir Narrow Bold"/>
                <a:sym typeface="Agrandir Narrow Bold"/>
              </a:rPr>
              <a:t>IntelliCredit: A Credit Score Buil</a:t>
            </a:r>
            <a:r>
              <a:rPr lang="en-US" b="true" sz="2899">
                <a:solidFill>
                  <a:srgbClr val="000000"/>
                </a:solidFill>
                <a:latin typeface="Agrandir Narrow Bold"/>
                <a:ea typeface="Agrandir Narrow Bold"/>
                <a:cs typeface="Agrandir Narrow Bold"/>
                <a:sym typeface="Agrandir Narrow Bold"/>
              </a:rPr>
              <a:t>t From How You Live</a:t>
            </a:r>
          </a:p>
        </p:txBody>
      </p:sp>
      <p:sp>
        <p:nvSpPr>
          <p:cNvPr name="TextBox 43" id="43"/>
          <p:cNvSpPr txBox="true"/>
          <p:nvPr/>
        </p:nvSpPr>
        <p:spPr>
          <a:xfrm rot="0">
            <a:off x="914323" y="2252480"/>
            <a:ext cx="16459354" cy="876300"/>
          </a:xfrm>
          <a:prstGeom prst="rect">
            <a:avLst/>
          </a:prstGeom>
        </p:spPr>
        <p:txBody>
          <a:bodyPr anchor="t" rtlCol="false" tIns="0" lIns="0" bIns="0" rIns="0">
            <a:spAutoFit/>
          </a:bodyPr>
          <a:lstStyle/>
          <a:p>
            <a:pPr algn="ctr">
              <a:lnSpc>
                <a:spcPts val="3159"/>
              </a:lnSpc>
              <a:spcBef>
                <a:spcPct val="0"/>
              </a:spcBef>
            </a:pPr>
            <a:r>
              <a:rPr lang="en-US" b="true" sz="2632" i="true">
                <a:solidFill>
                  <a:srgbClr val="000000"/>
                </a:solidFill>
                <a:latin typeface="Agrandir Narrow Bold Italics"/>
                <a:ea typeface="Agrandir Narrow Bold Italics"/>
                <a:cs typeface="Agrandir Narrow Bold Italics"/>
                <a:sym typeface="Agrandir Narrow Bold Italics"/>
              </a:rPr>
              <a:t>IntelliCredit doesn't ask if you've</a:t>
            </a:r>
            <a:r>
              <a:rPr lang="en-US" b="true" sz="2632" i="true">
                <a:solidFill>
                  <a:srgbClr val="000000"/>
                </a:solidFill>
                <a:latin typeface="Agrandir Narrow Bold Italics"/>
                <a:ea typeface="Agrandir Narrow Bold Italics"/>
                <a:cs typeface="Agrandir Narrow Bold Italics"/>
                <a:sym typeface="Agrandir Narrow Bold Italics"/>
              </a:rPr>
              <a:t> taken loans before. It looks at how you pay your phone bill, how stable your address is, and how you answer 30 simple questions and builds a fair, explainable score in 30 seconds.</a:t>
            </a:r>
          </a:p>
        </p:txBody>
      </p:sp>
      <p:sp>
        <p:nvSpPr>
          <p:cNvPr name="TextBox 44" id="44"/>
          <p:cNvSpPr txBox="true"/>
          <p:nvPr/>
        </p:nvSpPr>
        <p:spPr>
          <a:xfrm rot="0">
            <a:off x="2250721" y="3715873"/>
            <a:ext cx="2158008" cy="819150"/>
          </a:xfrm>
          <a:prstGeom prst="rect">
            <a:avLst/>
          </a:prstGeom>
        </p:spPr>
        <p:txBody>
          <a:bodyPr anchor="t" rtlCol="false" tIns="0" lIns="0" bIns="0" rIns="0">
            <a:spAutoFit/>
          </a:bodyPr>
          <a:lstStyle/>
          <a:p>
            <a:pPr algn="l">
              <a:lnSpc>
                <a:spcPts val="5400"/>
              </a:lnSpc>
            </a:pPr>
            <a:r>
              <a:rPr lang="en-US" sz="4500" b="true">
                <a:solidFill>
                  <a:srgbClr val="215061"/>
                </a:solidFill>
                <a:latin typeface="Agrandir Narrow Bold"/>
                <a:ea typeface="Agrandir Narrow Bold"/>
                <a:cs typeface="Agrandir Narrow Bold"/>
                <a:sym typeface="Agrandir Narrow Bold"/>
              </a:rPr>
              <a:t>Coll</a:t>
            </a:r>
            <a:r>
              <a:rPr lang="en-US" b="true" sz="4500">
                <a:solidFill>
                  <a:srgbClr val="215061"/>
                </a:solidFill>
                <a:latin typeface="Agrandir Narrow Bold"/>
                <a:ea typeface="Agrandir Narrow Bold"/>
                <a:cs typeface="Agrandir Narrow Bold"/>
                <a:sym typeface="Agrandir Narrow Bold"/>
              </a:rPr>
              <a:t>ects</a:t>
            </a:r>
          </a:p>
        </p:txBody>
      </p:sp>
      <p:sp>
        <p:nvSpPr>
          <p:cNvPr name="TextBox 45" id="45"/>
          <p:cNvSpPr txBox="true"/>
          <p:nvPr/>
        </p:nvSpPr>
        <p:spPr>
          <a:xfrm rot="0">
            <a:off x="865846" y="4496923"/>
            <a:ext cx="4887798" cy="2124075"/>
          </a:xfrm>
          <a:prstGeom prst="rect">
            <a:avLst/>
          </a:prstGeom>
        </p:spPr>
        <p:txBody>
          <a:bodyPr anchor="t" rtlCol="false" tIns="0" lIns="0" bIns="0" rIns="0">
            <a:spAutoFit/>
          </a:bodyPr>
          <a:lstStyle/>
          <a:p>
            <a:pPr algn="ctr">
              <a:lnSpc>
                <a:spcPts val="2759"/>
              </a:lnSpc>
              <a:spcBef>
                <a:spcPct val="0"/>
              </a:spcBef>
            </a:pPr>
            <a:r>
              <a:rPr lang="en-US" sz="2299">
                <a:solidFill>
                  <a:srgbClr val="035C7C"/>
                </a:solidFill>
                <a:latin typeface="Agrandir Narrow"/>
                <a:ea typeface="Agrandir Narrow"/>
                <a:cs typeface="Agrandir Narrow"/>
                <a:sym typeface="Agrandir Narrow"/>
              </a:rPr>
              <a:t>Every consented data source - UPI transactions, telecom payments, shopping patterns, location stability, questionnaire answers, and merchant activity - is fe</a:t>
            </a:r>
            <a:r>
              <a:rPr lang="en-US" sz="2299">
                <a:solidFill>
                  <a:srgbClr val="035C7C"/>
                </a:solidFill>
                <a:latin typeface="Agrandir Narrow"/>
                <a:ea typeface="Agrandir Narrow"/>
                <a:cs typeface="Agrandir Narrow"/>
                <a:sym typeface="Agrandir Narrow"/>
              </a:rPr>
              <a:t>tch</a:t>
            </a:r>
            <a:r>
              <a:rPr lang="en-US" sz="2299">
                <a:solidFill>
                  <a:srgbClr val="035C7C"/>
                </a:solidFill>
                <a:latin typeface="Agrandir Narrow"/>
                <a:ea typeface="Agrandir Narrow"/>
                <a:cs typeface="Agrandir Narrow"/>
                <a:sym typeface="Agrandir Narrow"/>
              </a:rPr>
              <a:t>e</a:t>
            </a:r>
            <a:r>
              <a:rPr lang="en-US" sz="2299">
                <a:solidFill>
                  <a:srgbClr val="035C7C"/>
                </a:solidFill>
                <a:latin typeface="Agrandir Narrow"/>
                <a:ea typeface="Agrandir Narrow"/>
                <a:cs typeface="Agrandir Narrow"/>
                <a:sym typeface="Agrandir Narrow"/>
              </a:rPr>
              <a:t>d </a:t>
            </a:r>
            <a:r>
              <a:rPr lang="en-US" sz="2299">
                <a:solidFill>
                  <a:srgbClr val="035C7C"/>
                </a:solidFill>
                <a:latin typeface="Agrandir Narrow"/>
                <a:ea typeface="Agrandir Narrow"/>
                <a:cs typeface="Agrandir Narrow"/>
                <a:sym typeface="Agrandir Narrow"/>
              </a:rPr>
              <a:t>s</a:t>
            </a:r>
            <a:r>
              <a:rPr lang="en-US" sz="2299">
                <a:solidFill>
                  <a:srgbClr val="035C7C"/>
                </a:solidFill>
                <a:latin typeface="Agrandir Narrow"/>
                <a:ea typeface="Agrandir Narrow"/>
                <a:cs typeface="Agrandir Narrow"/>
                <a:sym typeface="Agrandir Narrow"/>
              </a:rPr>
              <a:t>imultan</a:t>
            </a:r>
            <a:r>
              <a:rPr lang="en-US" sz="2299">
                <a:solidFill>
                  <a:srgbClr val="035C7C"/>
                </a:solidFill>
                <a:latin typeface="Agrandir Narrow"/>
                <a:ea typeface="Agrandir Narrow"/>
                <a:cs typeface="Agrandir Narrow"/>
                <a:sym typeface="Agrandir Narrow"/>
              </a:rPr>
              <a:t>e</a:t>
            </a:r>
            <a:r>
              <a:rPr lang="en-US" sz="2299">
                <a:solidFill>
                  <a:srgbClr val="035C7C"/>
                </a:solidFill>
                <a:latin typeface="Agrandir Narrow"/>
                <a:ea typeface="Agrandir Narrow"/>
                <a:cs typeface="Agrandir Narrow"/>
                <a:sym typeface="Agrandir Narrow"/>
              </a:rPr>
              <a:t>ously</a:t>
            </a:r>
            <a:r>
              <a:rPr lang="en-US" sz="2299">
                <a:solidFill>
                  <a:srgbClr val="035C7C"/>
                </a:solidFill>
                <a:latin typeface="Agrandir Narrow"/>
                <a:ea typeface="Agrandir Narrow"/>
                <a:cs typeface="Agrandir Narrow"/>
                <a:sym typeface="Agrandir Narrow"/>
              </a:rPr>
              <a:t> </a:t>
            </a:r>
            <a:r>
              <a:rPr lang="en-US" sz="2299">
                <a:solidFill>
                  <a:srgbClr val="035C7C"/>
                </a:solidFill>
                <a:latin typeface="Agrandir Narrow"/>
                <a:ea typeface="Agrandir Narrow"/>
                <a:cs typeface="Agrandir Narrow"/>
                <a:sym typeface="Agrandir Narrow"/>
              </a:rPr>
              <a:t>b</a:t>
            </a:r>
            <a:r>
              <a:rPr lang="en-US" sz="2299">
                <a:solidFill>
                  <a:srgbClr val="035C7C"/>
                </a:solidFill>
                <a:latin typeface="Agrandir Narrow"/>
                <a:ea typeface="Agrandir Narrow"/>
                <a:cs typeface="Agrandir Narrow"/>
                <a:sym typeface="Agrandir Narrow"/>
              </a:rPr>
              <a:t>y</a:t>
            </a:r>
            <a:r>
              <a:rPr lang="en-US" b="true" sz="2299">
                <a:solidFill>
                  <a:srgbClr val="035C7C"/>
                </a:solidFill>
                <a:latin typeface="Agrandir Narrow Bold"/>
                <a:ea typeface="Agrandir Narrow Bold"/>
                <a:cs typeface="Agrandir Narrow Bold"/>
                <a:sym typeface="Agrandir Narrow Bold"/>
              </a:rPr>
              <a:t> 6 parallel workers in 30 seconds.</a:t>
            </a:r>
          </a:p>
        </p:txBody>
      </p:sp>
      <p:sp>
        <p:nvSpPr>
          <p:cNvPr name="TextBox 46" id="46"/>
          <p:cNvSpPr txBox="true"/>
          <p:nvPr/>
        </p:nvSpPr>
        <p:spPr>
          <a:xfrm rot="0">
            <a:off x="6706544" y="4792198"/>
            <a:ext cx="4874911" cy="2124075"/>
          </a:xfrm>
          <a:prstGeom prst="rect">
            <a:avLst/>
          </a:prstGeom>
        </p:spPr>
        <p:txBody>
          <a:bodyPr anchor="t" rtlCol="false" tIns="0" lIns="0" bIns="0" rIns="0">
            <a:spAutoFit/>
          </a:bodyPr>
          <a:lstStyle/>
          <a:p>
            <a:pPr algn="ctr">
              <a:lnSpc>
                <a:spcPts val="2759"/>
              </a:lnSpc>
              <a:spcBef>
                <a:spcPct val="0"/>
              </a:spcBef>
            </a:pPr>
            <a:r>
              <a:rPr lang="en-US" sz="2299">
                <a:solidFill>
                  <a:srgbClr val="035C7C"/>
                </a:solidFill>
                <a:latin typeface="Agrandir Narrow"/>
                <a:ea typeface="Agrandir Narrow"/>
                <a:cs typeface="Agrandir Narrow"/>
                <a:sym typeface="Agrandir Narrow"/>
              </a:rPr>
              <a:t>A </a:t>
            </a:r>
            <a:r>
              <a:rPr lang="en-US" b="true" sz="2299">
                <a:solidFill>
                  <a:srgbClr val="035C7C"/>
                </a:solidFill>
                <a:latin typeface="Agrandir Narrow Bold"/>
                <a:ea typeface="Agrandir Narrow Bold"/>
                <a:cs typeface="Agrandir Narrow Bold"/>
                <a:sym typeface="Agrandir Narrow Bold"/>
              </a:rPr>
              <a:t>two-ti</a:t>
            </a:r>
            <a:r>
              <a:rPr lang="en-US" b="true" sz="2299">
                <a:solidFill>
                  <a:srgbClr val="035C7C"/>
                </a:solidFill>
                <a:latin typeface="Agrandir Narrow Bold"/>
                <a:ea typeface="Agrandir Narrow Bold"/>
                <a:cs typeface="Agrandir Narrow Bold"/>
                <a:sym typeface="Agrandir Narrow Bold"/>
              </a:rPr>
              <a:t>er ML engine</a:t>
            </a:r>
            <a:r>
              <a:rPr lang="en-US" sz="2299">
                <a:solidFill>
                  <a:srgbClr val="035C7C"/>
                </a:solidFill>
                <a:latin typeface="Agrandir Narrow"/>
                <a:ea typeface="Agrandir Narrow"/>
                <a:cs typeface="Agrandir Narrow"/>
                <a:sym typeface="Agrandir Narrow"/>
              </a:rPr>
              <a:t> (XGBoost + LightGBM) blends all signals into a score from 0 to 850. Users with </a:t>
            </a:r>
            <a:r>
              <a:rPr lang="en-US" b="true" sz="2299">
                <a:solidFill>
                  <a:srgbClr val="035C7C"/>
                </a:solidFill>
                <a:latin typeface="Agrandir Narrow Bold"/>
                <a:ea typeface="Agrandir Narrow Bold"/>
                <a:cs typeface="Agrandir Narrow Bold"/>
                <a:sym typeface="Agrandir Narrow Bold"/>
              </a:rPr>
              <a:t>zero financial</a:t>
            </a:r>
            <a:r>
              <a:rPr lang="en-US" sz="2299">
                <a:solidFill>
                  <a:srgbClr val="035C7C"/>
                </a:solidFill>
                <a:latin typeface="Agrandir Narrow"/>
                <a:ea typeface="Agrandir Narrow"/>
                <a:cs typeface="Agrandir Narrow"/>
                <a:sym typeface="Agrandir Narrow"/>
              </a:rPr>
              <a:t> history still get a fair score using the Tier 1 model built on 3 alternate signals.</a:t>
            </a:r>
          </a:p>
        </p:txBody>
      </p:sp>
      <p:sp>
        <p:nvSpPr>
          <p:cNvPr name="TextBox 47" id="47"/>
          <p:cNvSpPr txBox="true"/>
          <p:nvPr/>
        </p:nvSpPr>
        <p:spPr>
          <a:xfrm rot="0">
            <a:off x="12591762" y="4712757"/>
            <a:ext cx="4887827" cy="2124075"/>
          </a:xfrm>
          <a:prstGeom prst="rect">
            <a:avLst/>
          </a:prstGeom>
        </p:spPr>
        <p:txBody>
          <a:bodyPr anchor="t" rtlCol="false" tIns="0" lIns="0" bIns="0" rIns="0">
            <a:spAutoFit/>
          </a:bodyPr>
          <a:lstStyle/>
          <a:p>
            <a:pPr algn="ctr">
              <a:lnSpc>
                <a:spcPts val="2759"/>
              </a:lnSpc>
              <a:spcBef>
                <a:spcPct val="0"/>
              </a:spcBef>
            </a:pPr>
            <a:r>
              <a:rPr lang="en-US" b="true" sz="2299">
                <a:solidFill>
                  <a:srgbClr val="035C7C"/>
                </a:solidFill>
                <a:latin typeface="Agrandir Narrow Bold"/>
                <a:ea typeface="Agrandir Narrow Bold"/>
                <a:cs typeface="Agrandir Narrow Bold"/>
                <a:sym typeface="Agrandir Narrow Bold"/>
              </a:rPr>
              <a:t>SHAP </a:t>
            </a:r>
            <a:r>
              <a:rPr lang="en-US" sz="2299">
                <a:solidFill>
                  <a:srgbClr val="035C7C"/>
                </a:solidFill>
                <a:latin typeface="Agrandir Narrow"/>
                <a:ea typeface="Agrandir Narrow"/>
                <a:cs typeface="Agrandir Narrow"/>
                <a:sym typeface="Agrandir Narrow"/>
              </a:rPr>
              <a:t>(S</a:t>
            </a:r>
            <a:r>
              <a:rPr lang="en-US" sz="2299">
                <a:solidFill>
                  <a:srgbClr val="035C7C"/>
                </a:solidFill>
                <a:latin typeface="Agrandir Narrow"/>
                <a:ea typeface="Agrandir Narrow"/>
                <a:cs typeface="Agrandir Narrow"/>
                <a:sym typeface="Agrandir Narrow"/>
              </a:rPr>
              <a:t>hapley values) breaks down exactly </a:t>
            </a:r>
            <a:r>
              <a:rPr lang="en-US" b="true" sz="2299">
                <a:solidFill>
                  <a:srgbClr val="035C7C"/>
                </a:solidFill>
                <a:latin typeface="Agrandir Narrow Bold"/>
                <a:ea typeface="Agrandir Narrow Bold"/>
                <a:cs typeface="Agrandir Narrow Bold"/>
                <a:sym typeface="Agrandir Narrow Bold"/>
              </a:rPr>
              <a:t>why you got your score</a:t>
            </a:r>
            <a:r>
              <a:rPr lang="en-US" sz="2299">
                <a:solidFill>
                  <a:srgbClr val="035C7C"/>
                </a:solidFill>
                <a:latin typeface="Agrandir Narrow"/>
                <a:ea typeface="Agrandir Narrow"/>
                <a:cs typeface="Agrandir Narrow"/>
                <a:sym typeface="Agrandir Narrow"/>
              </a:rPr>
              <a:t> - wh</a:t>
            </a:r>
            <a:r>
              <a:rPr lang="en-US" sz="2299">
                <a:solidFill>
                  <a:srgbClr val="035C7C"/>
                </a:solidFill>
                <a:latin typeface="Agrandir Narrow"/>
                <a:ea typeface="Agrandir Narrow"/>
                <a:cs typeface="Agrandir Narrow"/>
                <a:sym typeface="Agrandir Narrow"/>
              </a:rPr>
              <a:t>ic</a:t>
            </a:r>
            <a:r>
              <a:rPr lang="en-US" sz="2299">
                <a:solidFill>
                  <a:srgbClr val="035C7C"/>
                </a:solidFill>
                <a:latin typeface="Agrandir Narrow"/>
                <a:ea typeface="Agrandir Narrow"/>
                <a:cs typeface="Agrandir Narrow"/>
                <a:sym typeface="Agrandir Narrow"/>
              </a:rPr>
              <a:t>h sign</a:t>
            </a:r>
            <a:r>
              <a:rPr lang="en-US" sz="2299">
                <a:solidFill>
                  <a:srgbClr val="035C7C"/>
                </a:solidFill>
                <a:latin typeface="Agrandir Narrow"/>
                <a:ea typeface="Agrandir Narrow"/>
                <a:cs typeface="Agrandir Narrow"/>
                <a:sym typeface="Agrandir Narrow"/>
              </a:rPr>
              <a:t>al</a:t>
            </a:r>
            <a:r>
              <a:rPr lang="en-US" sz="2299">
                <a:solidFill>
                  <a:srgbClr val="035C7C"/>
                </a:solidFill>
                <a:latin typeface="Agrandir Narrow"/>
                <a:ea typeface="Agrandir Narrow"/>
                <a:cs typeface="Agrandir Narrow"/>
                <a:sym typeface="Agrandir Narrow"/>
              </a:rPr>
              <a:t>s he</a:t>
            </a:r>
            <a:r>
              <a:rPr lang="en-US" sz="2299">
                <a:solidFill>
                  <a:srgbClr val="035C7C"/>
                </a:solidFill>
                <a:latin typeface="Agrandir Narrow"/>
                <a:ea typeface="Agrandir Narrow"/>
                <a:cs typeface="Agrandir Narrow"/>
                <a:sym typeface="Agrandir Narrow"/>
              </a:rPr>
              <a:t>l</a:t>
            </a:r>
            <a:r>
              <a:rPr lang="en-US" sz="2299">
                <a:solidFill>
                  <a:srgbClr val="035C7C"/>
                </a:solidFill>
                <a:latin typeface="Agrandir Narrow"/>
                <a:ea typeface="Agrandir Narrow"/>
                <a:cs typeface="Agrandir Narrow"/>
                <a:sym typeface="Agrandir Narrow"/>
              </a:rPr>
              <a:t>ped,</a:t>
            </a:r>
            <a:r>
              <a:rPr lang="en-US" sz="2299">
                <a:solidFill>
                  <a:srgbClr val="035C7C"/>
                </a:solidFill>
                <a:latin typeface="Agrandir Narrow"/>
                <a:ea typeface="Agrandir Narrow"/>
                <a:cs typeface="Agrandir Narrow"/>
                <a:sym typeface="Agrandir Narrow"/>
              </a:rPr>
              <a:t> which hurt, and by how many points. The RAG Advisor </a:t>
            </a:r>
            <a:r>
              <a:rPr lang="en-US" b="true" sz="2299">
                <a:solidFill>
                  <a:srgbClr val="035C7C"/>
                </a:solidFill>
                <a:latin typeface="Agrandir Narrow Bold"/>
                <a:ea typeface="Agrandir Narrow Bold"/>
                <a:cs typeface="Agrandir Narrow Bold"/>
                <a:sym typeface="Agrandir Narrow Bold"/>
              </a:rPr>
              <a:t>answers any question</a:t>
            </a:r>
            <a:r>
              <a:rPr lang="en-US" sz="2299">
                <a:solidFill>
                  <a:srgbClr val="035C7C"/>
                </a:solidFill>
                <a:latin typeface="Agrandir Narrow"/>
                <a:ea typeface="Agrandir Narrow"/>
                <a:cs typeface="Agrandir Narrow"/>
                <a:sym typeface="Agrandir Narrow"/>
              </a:rPr>
              <a:t> in plain language, grounded in </a:t>
            </a:r>
            <a:r>
              <a:rPr lang="en-US" b="true" sz="2299">
                <a:solidFill>
                  <a:srgbClr val="035C7C"/>
                </a:solidFill>
                <a:latin typeface="Agrandir Narrow Bold"/>
                <a:ea typeface="Agrandir Narrow Bold"/>
                <a:cs typeface="Agrandir Narrow Bold"/>
                <a:sym typeface="Agrandir Narrow Bold"/>
              </a:rPr>
              <a:t>RBI guidelines.</a:t>
            </a:r>
          </a:p>
        </p:txBody>
      </p:sp>
      <p:sp>
        <p:nvSpPr>
          <p:cNvPr name="TextBox 48" id="48"/>
          <p:cNvSpPr txBox="true"/>
          <p:nvPr/>
        </p:nvSpPr>
        <p:spPr>
          <a:xfrm rot="0">
            <a:off x="8084976" y="3744448"/>
            <a:ext cx="1839664" cy="819150"/>
          </a:xfrm>
          <a:prstGeom prst="rect">
            <a:avLst/>
          </a:prstGeom>
        </p:spPr>
        <p:txBody>
          <a:bodyPr anchor="t" rtlCol="false" tIns="0" lIns="0" bIns="0" rIns="0">
            <a:spAutoFit/>
          </a:bodyPr>
          <a:lstStyle/>
          <a:p>
            <a:pPr algn="l">
              <a:lnSpc>
                <a:spcPts val="5400"/>
              </a:lnSpc>
            </a:pPr>
            <a:r>
              <a:rPr lang="en-US" sz="4500" b="true">
                <a:solidFill>
                  <a:srgbClr val="215061"/>
                </a:solidFill>
                <a:latin typeface="Agrandir Narrow Bold"/>
                <a:ea typeface="Agrandir Narrow Bold"/>
                <a:cs typeface="Agrandir Narrow Bold"/>
                <a:sym typeface="Agrandir Narrow Bold"/>
              </a:rPr>
              <a:t>Scores</a:t>
            </a:r>
          </a:p>
        </p:txBody>
      </p:sp>
      <p:sp>
        <p:nvSpPr>
          <p:cNvPr name="TextBox 49" id="49"/>
          <p:cNvSpPr txBox="true"/>
          <p:nvPr/>
        </p:nvSpPr>
        <p:spPr>
          <a:xfrm rot="0">
            <a:off x="13991565" y="3750732"/>
            <a:ext cx="2127721" cy="819150"/>
          </a:xfrm>
          <a:prstGeom prst="rect">
            <a:avLst/>
          </a:prstGeom>
        </p:spPr>
        <p:txBody>
          <a:bodyPr anchor="t" rtlCol="false" tIns="0" lIns="0" bIns="0" rIns="0">
            <a:spAutoFit/>
          </a:bodyPr>
          <a:lstStyle/>
          <a:p>
            <a:pPr algn="l">
              <a:lnSpc>
                <a:spcPts val="5400"/>
              </a:lnSpc>
            </a:pPr>
            <a:r>
              <a:rPr lang="en-US" sz="4500" b="true">
                <a:solidFill>
                  <a:srgbClr val="215061"/>
                </a:solidFill>
                <a:latin typeface="Agrandir Narrow Bold"/>
                <a:ea typeface="Agrandir Narrow Bold"/>
                <a:cs typeface="Agrandir Narrow Bold"/>
                <a:sym typeface="Agrandir Narrow Bold"/>
              </a:rPr>
              <a:t>Explains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7252830" cy="10287000"/>
          </a:xfrm>
          <a:custGeom>
            <a:avLst/>
            <a:gdLst/>
            <a:ahLst/>
            <a:cxnLst/>
            <a:rect r="r" b="b" t="t" l="l"/>
            <a:pathLst>
              <a:path h="10287000" w="17252830">
                <a:moveTo>
                  <a:pt x="0" y="0"/>
                </a:moveTo>
                <a:lnTo>
                  <a:pt x="17252830" y="0"/>
                </a:lnTo>
                <a:lnTo>
                  <a:pt x="17252830" y="10287000"/>
                </a:lnTo>
                <a:lnTo>
                  <a:pt x="0" y="1028700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640080" y="2194560"/>
          <a:ext cx="10206402" cy="5334000"/>
        </p:xfrm>
        <a:graphic>
          <a:graphicData uri="http://schemas.openxmlformats.org/drawingml/2006/table">
            <a:tbl>
              <a:tblPr/>
              <a:tblGrid>
                <a:gridCol w="1065556"/>
                <a:gridCol w="2137743"/>
                <a:gridCol w="5302738"/>
                <a:gridCol w="1700365"/>
              </a:tblGrid>
              <a:tr h="762000">
                <a:tc>
                  <a:txBody>
                    <a:bodyPr anchor="t" rtlCol="false"/>
                    <a:lstStyle/>
                    <a:p>
                      <a:pPr algn="ctr">
                        <a:lnSpc>
                          <a:spcPts val="2400"/>
                        </a:lnSpc>
                        <a:defRPr/>
                      </a:pPr>
                      <a:r>
                        <a:rPr lang="en-US" sz="2000" b="true">
                          <a:solidFill>
                            <a:srgbClr val="FFFFFF"/>
                          </a:solidFill>
                          <a:latin typeface="Agrandir Narrow Bold"/>
                          <a:ea typeface="Agrandir Narrow Bold"/>
                          <a:cs typeface="Agrandir Narrow Bold"/>
                          <a:sym typeface="Agrandir Narrow Bold"/>
                        </a:rPr>
                        <a:t>ID</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solidFill>
                      <a:srgbClr val="215061"/>
                    </a:solidFill>
                  </a:tcPr>
                </a:tc>
                <a:tc>
                  <a:txBody>
                    <a:bodyPr anchor="t" rtlCol="false"/>
                    <a:lstStyle/>
                    <a:p>
                      <a:pPr algn="ctr">
                        <a:lnSpc>
                          <a:spcPts val="2400"/>
                        </a:lnSpc>
                        <a:defRPr/>
                      </a:pPr>
                      <a:r>
                        <a:rPr lang="en-US" sz="2000" b="true">
                          <a:solidFill>
                            <a:srgbClr val="FFFFFF"/>
                          </a:solidFill>
                          <a:latin typeface="Agrandir Narrow Bold"/>
                          <a:ea typeface="Agrandir Narrow Bold"/>
                          <a:cs typeface="Agrandir Narrow Bold"/>
                          <a:sym typeface="Agrandir Narrow Bold"/>
                        </a:rPr>
                        <a:t>Source</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solidFill>
                      <a:srgbClr val="215061"/>
                    </a:solidFill>
                  </a:tcPr>
                </a:tc>
                <a:tc>
                  <a:txBody>
                    <a:bodyPr anchor="t" rtlCol="false"/>
                    <a:lstStyle/>
                    <a:p>
                      <a:pPr algn="ctr">
                        <a:lnSpc>
                          <a:spcPts val="2400"/>
                        </a:lnSpc>
                        <a:defRPr/>
                      </a:pPr>
                      <a:r>
                        <a:rPr lang="en-US" sz="2000" b="true">
                          <a:solidFill>
                            <a:srgbClr val="FFFFFF"/>
                          </a:solidFill>
                          <a:latin typeface="Agrandir Narrow Bold"/>
                          <a:ea typeface="Agrandir Narrow Bold"/>
                          <a:cs typeface="Agrandir Narrow Bold"/>
                          <a:sym typeface="Agrandir Narrow Bold"/>
                        </a:rPr>
                        <a:t>Key Signal</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solidFill>
                      <a:srgbClr val="215061"/>
                    </a:solidFill>
                  </a:tcPr>
                </a:tc>
                <a:tc>
                  <a:txBody>
                    <a:bodyPr anchor="t" rtlCol="false"/>
                    <a:lstStyle/>
                    <a:p>
                      <a:pPr algn="ctr">
                        <a:lnSpc>
                          <a:spcPts val="2400"/>
                        </a:lnSpc>
                        <a:defRPr/>
                      </a:pPr>
                      <a:r>
                        <a:rPr lang="en-US" sz="2000" b="true">
                          <a:solidFill>
                            <a:srgbClr val="FFFFFF"/>
                          </a:solidFill>
                          <a:latin typeface="Agrandir Narrow Bold"/>
                          <a:ea typeface="Agrandir Narrow Bold"/>
                          <a:cs typeface="Agrandir Narrow Bold"/>
                          <a:sym typeface="Agrandir Narrow Bold"/>
                        </a:rPr>
                        <a:t>Weight</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solidFill>
                      <a:srgbClr val="215061"/>
                    </a:solidFill>
                  </a:tcPr>
                </a:tc>
              </a:tr>
              <a:tr h="762000">
                <a:tc>
                  <a:txBody>
                    <a:bodyPr anchor="t" rtlCol="false"/>
                    <a:lstStyle/>
                    <a:p>
                      <a:pPr algn="l">
                        <a:lnSpc>
                          <a:spcPts val="2639"/>
                        </a:lnSpc>
                        <a:defRPr/>
                      </a:pPr>
                      <a:r>
                        <a:rPr lang="en-US" sz="2199" b="true">
                          <a:solidFill>
                            <a:srgbClr val="028090"/>
                          </a:solidFill>
                          <a:latin typeface="Agrandir Narrow Bold"/>
                          <a:ea typeface="Agrandir Narrow Bold"/>
                          <a:cs typeface="Agrandir Narrow Bold"/>
                          <a:sym typeface="Agrandir Narrow Bold"/>
                        </a:rPr>
                        <a:t>D1</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1E293B"/>
                          </a:solidFill>
                          <a:latin typeface="Agrandir Narrow"/>
                          <a:ea typeface="Agrandir Narrow"/>
                          <a:cs typeface="Agrandir Narrow"/>
                          <a:sym typeface="Agrandir Narrow"/>
                        </a:rPr>
                        <a:t>Bank / UPI</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334155"/>
                          </a:solidFill>
                          <a:latin typeface="Agrandir Narrow"/>
                          <a:ea typeface="Agrandir Narrow"/>
                          <a:cs typeface="Agrandir Narrow"/>
                          <a:sym typeface="Agrandir Narrow"/>
                        </a:rPr>
                        <a:t>Transaction inflows, payment regularity</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ctr">
                        <a:lnSpc>
                          <a:spcPts val="2639"/>
                        </a:lnSpc>
                        <a:defRPr/>
                      </a:pPr>
                      <a:r>
                        <a:rPr lang="en-US" sz="2199" b="true">
                          <a:solidFill>
                            <a:srgbClr val="028090"/>
                          </a:solidFill>
                          <a:latin typeface="Agrandir Narrow Bold"/>
                          <a:ea typeface="Agrandir Narrow Bold"/>
                          <a:cs typeface="Agrandir Narrow Bold"/>
                          <a:sym typeface="Agrandir Narrow Bold"/>
                        </a:rPr>
                        <a:t>25%</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r>
              <a:tr h="762000">
                <a:tc>
                  <a:txBody>
                    <a:bodyPr anchor="t" rtlCol="false"/>
                    <a:lstStyle/>
                    <a:p>
                      <a:pPr algn="l">
                        <a:lnSpc>
                          <a:spcPts val="2639"/>
                        </a:lnSpc>
                        <a:defRPr/>
                      </a:pPr>
                      <a:r>
                        <a:rPr lang="en-US" sz="2199" b="true">
                          <a:solidFill>
                            <a:srgbClr val="028090"/>
                          </a:solidFill>
                          <a:latin typeface="Agrandir Narrow Bold"/>
                          <a:ea typeface="Agrandir Narrow Bold"/>
                          <a:cs typeface="Agrandir Narrow Bold"/>
                          <a:sym typeface="Agrandir Narrow Bold"/>
                        </a:rPr>
                        <a:t>D2</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1E293B"/>
                          </a:solidFill>
                          <a:latin typeface="Agrandir Narrow"/>
                          <a:ea typeface="Agrandir Narrow"/>
                          <a:cs typeface="Agrandir Narrow"/>
                          <a:sym typeface="Agrandir Narrow"/>
                        </a:rPr>
                        <a:t>Telecom</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334155"/>
                          </a:solidFill>
                          <a:latin typeface="Agrandir Narrow"/>
                          <a:ea typeface="Agrandir Narrow"/>
                          <a:cs typeface="Agrandir Narrow"/>
                          <a:sym typeface="Agrandir Narrow"/>
                        </a:rPr>
                        <a:t>24-month bill payment history</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ctr">
                        <a:lnSpc>
                          <a:spcPts val="2639"/>
                        </a:lnSpc>
                        <a:defRPr/>
                      </a:pPr>
                      <a:r>
                        <a:rPr lang="en-US" sz="2199" b="true">
                          <a:solidFill>
                            <a:srgbClr val="028090"/>
                          </a:solidFill>
                          <a:latin typeface="Agrandir Narrow Bold"/>
                          <a:ea typeface="Agrandir Narrow Bold"/>
                          <a:cs typeface="Agrandir Narrow Bold"/>
                          <a:sym typeface="Agrandir Narrow Bold"/>
                        </a:rPr>
                        <a:t>20%</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r>
              <a:tr h="762000">
                <a:tc>
                  <a:txBody>
                    <a:bodyPr anchor="t" rtlCol="false"/>
                    <a:lstStyle/>
                    <a:p>
                      <a:pPr algn="l">
                        <a:lnSpc>
                          <a:spcPts val="2639"/>
                        </a:lnSpc>
                        <a:defRPr/>
                      </a:pPr>
                      <a:r>
                        <a:rPr lang="en-US" sz="2199" b="true">
                          <a:solidFill>
                            <a:srgbClr val="028090"/>
                          </a:solidFill>
                          <a:latin typeface="Agrandir Narrow Bold"/>
                          <a:ea typeface="Agrandir Narrow Bold"/>
                          <a:cs typeface="Agrandir Narrow Bold"/>
                          <a:sym typeface="Agrandir Narrow Bold"/>
                        </a:rPr>
                        <a:t>D3</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1E293B"/>
                          </a:solidFill>
                          <a:latin typeface="Agrandir Narrow"/>
                          <a:ea typeface="Agrandir Narrow"/>
                          <a:cs typeface="Agrandir Narrow"/>
                          <a:sym typeface="Agrandir Narrow"/>
                        </a:rPr>
                        <a:t>E-Commerce</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334155"/>
                          </a:solidFill>
                          <a:latin typeface="Agrandir Narrow"/>
                          <a:ea typeface="Agrandir Narrow"/>
                          <a:cs typeface="Agrandir Narrow"/>
                          <a:sym typeface="Agrandir Narrow"/>
                        </a:rPr>
                        <a:t>Purchase patterns, return rate</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ctr">
                        <a:lnSpc>
                          <a:spcPts val="2639"/>
                        </a:lnSpc>
                        <a:defRPr/>
                      </a:pPr>
                      <a:r>
                        <a:rPr lang="en-US" sz="2199" b="true">
                          <a:solidFill>
                            <a:srgbClr val="028090"/>
                          </a:solidFill>
                          <a:latin typeface="Agrandir Narrow Bold"/>
                          <a:ea typeface="Agrandir Narrow Bold"/>
                          <a:cs typeface="Agrandir Narrow Bold"/>
                          <a:sym typeface="Agrandir Narrow Bold"/>
                        </a:rPr>
                        <a:t>15%</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r>
              <a:tr h="762000">
                <a:tc>
                  <a:txBody>
                    <a:bodyPr anchor="t" rtlCol="false"/>
                    <a:lstStyle/>
                    <a:p>
                      <a:pPr algn="l">
                        <a:lnSpc>
                          <a:spcPts val="2639"/>
                        </a:lnSpc>
                        <a:defRPr/>
                      </a:pPr>
                      <a:r>
                        <a:rPr lang="en-US" sz="2199" b="true">
                          <a:solidFill>
                            <a:srgbClr val="028090"/>
                          </a:solidFill>
                          <a:latin typeface="Agrandir Narrow Bold"/>
                          <a:ea typeface="Agrandir Narrow Bold"/>
                          <a:cs typeface="Agrandir Narrow Bold"/>
                          <a:sym typeface="Agrandir Narrow Bold"/>
                        </a:rPr>
                        <a:t>D4</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1E293B"/>
                          </a:solidFill>
                          <a:latin typeface="Agrandir Narrow"/>
                          <a:ea typeface="Agrandir Narrow"/>
                          <a:cs typeface="Agrandir Narrow"/>
                          <a:sym typeface="Agrandir Narrow"/>
                        </a:rPr>
                        <a:t>Location</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334155"/>
                          </a:solidFill>
                          <a:latin typeface="Agrandir Narrow"/>
                          <a:ea typeface="Agrandir Narrow"/>
                          <a:cs typeface="Agrandir Narrow"/>
                          <a:sym typeface="Agrandir Narrow"/>
                        </a:rPr>
                        <a:t>Address stability (district-level only)</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ctr">
                        <a:lnSpc>
                          <a:spcPts val="2639"/>
                        </a:lnSpc>
                        <a:defRPr/>
                      </a:pPr>
                      <a:r>
                        <a:rPr lang="en-US" sz="2199" b="true">
                          <a:solidFill>
                            <a:srgbClr val="028090"/>
                          </a:solidFill>
                          <a:latin typeface="Agrandir Narrow Bold"/>
                          <a:ea typeface="Agrandir Narrow Bold"/>
                          <a:cs typeface="Agrandir Narrow Bold"/>
                          <a:sym typeface="Agrandir Narrow Bold"/>
                        </a:rPr>
                        <a:t>15%</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r>
              <a:tr h="762000">
                <a:tc>
                  <a:txBody>
                    <a:bodyPr anchor="t" rtlCol="false"/>
                    <a:lstStyle/>
                    <a:p>
                      <a:pPr algn="l">
                        <a:lnSpc>
                          <a:spcPts val="2639"/>
                        </a:lnSpc>
                        <a:defRPr/>
                      </a:pPr>
                      <a:r>
                        <a:rPr lang="en-US" sz="2199" b="true">
                          <a:solidFill>
                            <a:srgbClr val="028090"/>
                          </a:solidFill>
                          <a:latin typeface="Agrandir Narrow Bold"/>
                          <a:ea typeface="Agrandir Narrow Bold"/>
                          <a:cs typeface="Agrandir Narrow Bold"/>
                          <a:sym typeface="Agrandir Narrow Bold"/>
                        </a:rPr>
                        <a:t>D5</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1E293B"/>
                          </a:solidFill>
                          <a:latin typeface="Agrandir Narrow"/>
                          <a:ea typeface="Agrandir Narrow"/>
                          <a:cs typeface="Agrandir Narrow"/>
                          <a:sym typeface="Agrandir Narrow"/>
                        </a:rPr>
                        <a:t>Questionnaire</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334155"/>
                          </a:solidFill>
                          <a:latin typeface="Agrandir Narrow"/>
                          <a:ea typeface="Agrandir Narrow"/>
                          <a:cs typeface="Agrandir Narrow"/>
                          <a:sym typeface="Agrandir Narrow"/>
                        </a:rPr>
                        <a:t>30-question financial mindset model</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ctr">
                        <a:lnSpc>
                          <a:spcPts val="2639"/>
                        </a:lnSpc>
                        <a:defRPr/>
                      </a:pPr>
                      <a:r>
                        <a:rPr lang="en-US" sz="2199" b="true">
                          <a:solidFill>
                            <a:srgbClr val="028090"/>
                          </a:solidFill>
                          <a:latin typeface="Agrandir Narrow Bold"/>
                          <a:ea typeface="Agrandir Narrow Bold"/>
                          <a:cs typeface="Agrandir Narrow Bold"/>
                          <a:sym typeface="Agrandir Narrow Bold"/>
                        </a:rPr>
                        <a:t>15%</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r>
              <a:tr h="762000">
                <a:tc>
                  <a:txBody>
                    <a:bodyPr anchor="t" rtlCol="false"/>
                    <a:lstStyle/>
                    <a:p>
                      <a:pPr algn="l">
                        <a:lnSpc>
                          <a:spcPts val="2639"/>
                        </a:lnSpc>
                        <a:defRPr/>
                      </a:pPr>
                      <a:r>
                        <a:rPr lang="en-US" sz="2199" b="true">
                          <a:solidFill>
                            <a:srgbClr val="028090"/>
                          </a:solidFill>
                          <a:latin typeface="Agrandir Narrow Bold"/>
                          <a:ea typeface="Agrandir Narrow Bold"/>
                          <a:cs typeface="Agrandir Narrow Bold"/>
                          <a:sym typeface="Agrandir Narrow Bold"/>
                        </a:rPr>
                        <a:t>D6</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1E293B"/>
                          </a:solidFill>
                          <a:latin typeface="Agrandir Narrow"/>
                          <a:ea typeface="Agrandir Narrow"/>
                          <a:cs typeface="Agrandir Narrow"/>
                          <a:sym typeface="Agrandir Narrow"/>
                        </a:rPr>
                        <a:t>Merchant / GST</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l">
                        <a:lnSpc>
                          <a:spcPts val="2639"/>
                        </a:lnSpc>
                        <a:defRPr/>
                      </a:pPr>
                      <a:r>
                        <a:rPr lang="en-US" sz="2199">
                          <a:solidFill>
                            <a:srgbClr val="334155"/>
                          </a:solidFill>
                          <a:latin typeface="Agrandir Narrow"/>
                          <a:ea typeface="Agrandir Narrow"/>
                          <a:cs typeface="Agrandir Narrow"/>
                          <a:sym typeface="Agrandir Narrow"/>
                        </a:rPr>
                        <a:t>Business ratings, filing regularity</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c>
                  <a:txBody>
                    <a:bodyPr anchor="t" rtlCol="false"/>
                    <a:lstStyle/>
                    <a:p>
                      <a:pPr algn="ctr">
                        <a:lnSpc>
                          <a:spcPts val="2639"/>
                        </a:lnSpc>
                        <a:defRPr/>
                      </a:pPr>
                      <a:r>
                        <a:rPr lang="en-US" sz="2199" b="true">
                          <a:solidFill>
                            <a:srgbClr val="028090"/>
                          </a:solidFill>
                          <a:latin typeface="Agrandir Narrow Bold"/>
                          <a:ea typeface="Agrandir Narrow Bold"/>
                          <a:cs typeface="Agrandir Narrow Bold"/>
                          <a:sym typeface="Agrandir Narrow Bold"/>
                        </a:rPr>
                        <a:t>10%</a:t>
                      </a:r>
                      <a:endParaRPr lang="en-US" sz="1100"/>
                    </a:p>
                  </a:txBody>
                  <a:tcPr marL="91440" marR="91440" marT="91440" marB="91440" anchor="ctr">
                    <a:lnL cmpd="sng" algn="ctr" cap="flat" w="6350">
                      <a:solidFill>
                        <a:srgbClr val="B2EBF2"/>
                      </a:solidFill>
                      <a:prstDash val="solid"/>
                      <a:round/>
                      <a:headEnd type="none" w="med" len="med"/>
                      <a:tailEnd type="none" w="med" len="med"/>
                    </a:lnL>
                    <a:lnR cmpd="sng" algn="ctr" cap="flat" w="6350">
                      <a:solidFill>
                        <a:srgbClr val="B2EBF2"/>
                      </a:solidFill>
                      <a:prstDash val="solid"/>
                      <a:round/>
                      <a:headEnd type="none" w="med" len="med"/>
                      <a:tailEnd type="none" w="med" len="med"/>
                    </a:lnR>
                    <a:lnT cmpd="sng" algn="ctr" cap="flat" w="6350">
                      <a:solidFill>
                        <a:srgbClr val="B2EBF2"/>
                      </a:solidFill>
                      <a:prstDash val="solid"/>
                      <a:round/>
                      <a:headEnd type="none" w="med" len="med"/>
                      <a:tailEnd type="none" w="med" len="med"/>
                    </a:lnT>
                    <a:lnB cmpd="sng" algn="ctr" cap="flat" w="6350">
                      <a:solidFill>
                        <a:srgbClr val="B2EBF2"/>
                      </a:solidFill>
                      <a:prstDash val="solid"/>
                      <a:round/>
                      <a:headEnd type="none" w="med" len="med"/>
                      <a:tailEnd type="none" w="med" len="med"/>
                    </a:lnB>
                  </a:tcPr>
                </a:tc>
              </a:tr>
            </a:tbl>
          </a:graphicData>
        </a:graphic>
      </p:graphicFrame>
      <p:grpSp>
        <p:nvGrpSpPr>
          <p:cNvPr name="Group 3" id="3"/>
          <p:cNvGrpSpPr/>
          <p:nvPr/>
        </p:nvGrpSpPr>
        <p:grpSpPr>
          <a:xfrm rot="0">
            <a:off x="11978640" y="2194560"/>
            <a:ext cx="5669280" cy="640080"/>
            <a:chOff x="0" y="0"/>
            <a:chExt cx="7559040" cy="853440"/>
          </a:xfrm>
        </p:grpSpPr>
        <p:sp>
          <p:nvSpPr>
            <p:cNvPr name="Freeform 4" id="4"/>
            <p:cNvSpPr/>
            <p:nvPr/>
          </p:nvSpPr>
          <p:spPr>
            <a:xfrm flipH="false" flipV="false" rot="0">
              <a:off x="0" y="0"/>
              <a:ext cx="7559040" cy="853440"/>
            </a:xfrm>
            <a:custGeom>
              <a:avLst/>
              <a:gdLst/>
              <a:ahLst/>
              <a:cxnLst/>
              <a:rect r="r" b="b" t="t" l="l"/>
              <a:pathLst>
                <a:path h="853440" w="7559040">
                  <a:moveTo>
                    <a:pt x="0" y="0"/>
                  </a:moveTo>
                  <a:lnTo>
                    <a:pt x="7559040" y="0"/>
                  </a:lnTo>
                  <a:lnTo>
                    <a:pt x="7559040" y="853440"/>
                  </a:lnTo>
                  <a:lnTo>
                    <a:pt x="0" y="853440"/>
                  </a:lnTo>
                  <a:close/>
                </a:path>
              </a:pathLst>
            </a:custGeom>
            <a:blipFill>
              <a:blip r:embed="rId2">
                <a:alphaModFix amt="0"/>
              </a:blip>
              <a:stretch>
                <a:fillRect l="0" t="-122581" r="0" b="-122581"/>
              </a:stretch>
            </a:blipFill>
          </p:spPr>
        </p:sp>
        <p:sp>
          <p:nvSpPr>
            <p:cNvPr name="TextBox 5" id="5"/>
            <p:cNvSpPr txBox="true"/>
            <p:nvPr/>
          </p:nvSpPr>
          <p:spPr>
            <a:xfrm>
              <a:off x="0" y="-9525"/>
              <a:ext cx="7559040" cy="862965"/>
            </a:xfrm>
            <a:prstGeom prst="rect">
              <a:avLst/>
            </a:prstGeom>
          </p:spPr>
          <p:txBody>
            <a:bodyPr anchor="ctr" rtlCol="false" tIns="0" lIns="0" bIns="0" rIns="0"/>
            <a:lstStyle/>
            <a:p>
              <a:pPr algn="ctr">
                <a:lnSpc>
                  <a:spcPts val="2879"/>
                </a:lnSpc>
              </a:pPr>
              <a:r>
                <a:rPr lang="en-US" sz="2400" b="true">
                  <a:solidFill>
                    <a:srgbClr val="015F6B"/>
                  </a:solidFill>
                  <a:latin typeface="Trebuchet MS Bold"/>
                  <a:ea typeface="Trebuchet MS Bold"/>
                  <a:cs typeface="Trebuchet MS Bold"/>
                  <a:sym typeface="Trebuchet MS Bold"/>
                </a:rPr>
                <a:t>Score Bands</a:t>
              </a:r>
            </a:p>
          </p:txBody>
        </p:sp>
      </p:grpSp>
      <p:grpSp>
        <p:nvGrpSpPr>
          <p:cNvPr name="Group 6" id="6"/>
          <p:cNvGrpSpPr/>
          <p:nvPr/>
        </p:nvGrpSpPr>
        <p:grpSpPr>
          <a:xfrm rot="0">
            <a:off x="11965943" y="2913383"/>
            <a:ext cx="5694683" cy="1268987"/>
            <a:chOff x="0" y="0"/>
            <a:chExt cx="7592911" cy="1691983"/>
          </a:xfrm>
        </p:grpSpPr>
        <p:sp>
          <p:nvSpPr>
            <p:cNvPr name="Freeform 7" id="7"/>
            <p:cNvSpPr/>
            <p:nvPr/>
          </p:nvSpPr>
          <p:spPr>
            <a:xfrm flipH="false" flipV="false" rot="0">
              <a:off x="16891" y="16891"/>
              <a:ext cx="7559040" cy="1658112"/>
            </a:xfrm>
            <a:custGeom>
              <a:avLst/>
              <a:gdLst/>
              <a:ahLst/>
              <a:cxnLst/>
              <a:rect r="r" b="b" t="t" l="l"/>
              <a:pathLst>
                <a:path h="1658112" w="7559040">
                  <a:moveTo>
                    <a:pt x="0" y="0"/>
                  </a:moveTo>
                  <a:lnTo>
                    <a:pt x="7559040" y="0"/>
                  </a:lnTo>
                  <a:lnTo>
                    <a:pt x="7559040" y="1658112"/>
                  </a:lnTo>
                  <a:lnTo>
                    <a:pt x="0" y="1658112"/>
                  </a:lnTo>
                  <a:close/>
                </a:path>
              </a:pathLst>
            </a:custGeom>
            <a:solidFill>
              <a:srgbClr val="F8FCFD"/>
            </a:solidFill>
          </p:spPr>
        </p:sp>
        <p:sp>
          <p:nvSpPr>
            <p:cNvPr name="Freeform 8" id="8"/>
            <p:cNvSpPr/>
            <p:nvPr/>
          </p:nvSpPr>
          <p:spPr>
            <a:xfrm flipH="false" flipV="false" rot="0">
              <a:off x="0" y="0"/>
              <a:ext cx="7592822" cy="1691894"/>
            </a:xfrm>
            <a:custGeom>
              <a:avLst/>
              <a:gdLst/>
              <a:ahLst/>
              <a:cxnLst/>
              <a:rect r="r" b="b" t="t" l="l"/>
              <a:pathLst>
                <a:path h="1691894" w="7592822">
                  <a:moveTo>
                    <a:pt x="16891" y="0"/>
                  </a:moveTo>
                  <a:lnTo>
                    <a:pt x="7575931" y="0"/>
                  </a:lnTo>
                  <a:cubicBezTo>
                    <a:pt x="7585329" y="0"/>
                    <a:pt x="7592822" y="7620"/>
                    <a:pt x="7592822" y="16891"/>
                  </a:cubicBezTo>
                  <a:lnTo>
                    <a:pt x="7592822" y="1675003"/>
                  </a:lnTo>
                  <a:cubicBezTo>
                    <a:pt x="7592822" y="1684401"/>
                    <a:pt x="7585202" y="1691894"/>
                    <a:pt x="757593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7575931" y="1658112"/>
                  </a:lnTo>
                  <a:lnTo>
                    <a:pt x="7575931" y="1675003"/>
                  </a:lnTo>
                  <a:lnTo>
                    <a:pt x="7559040" y="1675003"/>
                  </a:lnTo>
                  <a:lnTo>
                    <a:pt x="7559040" y="16891"/>
                  </a:lnTo>
                  <a:lnTo>
                    <a:pt x="7575931" y="16891"/>
                  </a:lnTo>
                  <a:lnTo>
                    <a:pt x="7575931" y="33909"/>
                  </a:lnTo>
                  <a:lnTo>
                    <a:pt x="16891" y="33909"/>
                  </a:lnTo>
                  <a:close/>
                </a:path>
              </a:pathLst>
            </a:custGeom>
            <a:solidFill>
              <a:srgbClr val="B2EBF2"/>
            </a:solidFill>
          </p:spPr>
        </p:sp>
      </p:grpSp>
      <p:grpSp>
        <p:nvGrpSpPr>
          <p:cNvPr name="Group 9" id="9"/>
          <p:cNvGrpSpPr/>
          <p:nvPr/>
        </p:nvGrpSpPr>
        <p:grpSpPr>
          <a:xfrm rot="0">
            <a:off x="12216384" y="2962656"/>
            <a:ext cx="1737360" cy="640080"/>
            <a:chOff x="0" y="0"/>
            <a:chExt cx="2316480" cy="853440"/>
          </a:xfrm>
        </p:grpSpPr>
        <p:sp>
          <p:nvSpPr>
            <p:cNvPr name="Freeform 10" id="10"/>
            <p:cNvSpPr/>
            <p:nvPr/>
          </p:nvSpPr>
          <p:spPr>
            <a:xfrm flipH="false" flipV="false" rot="0">
              <a:off x="0" y="0"/>
              <a:ext cx="2316480" cy="853440"/>
            </a:xfrm>
            <a:custGeom>
              <a:avLst/>
              <a:gdLst/>
              <a:ahLst/>
              <a:cxnLst/>
              <a:rect r="r" b="b" t="t" l="l"/>
              <a:pathLst>
                <a:path h="853440" w="2316480">
                  <a:moveTo>
                    <a:pt x="0" y="0"/>
                  </a:moveTo>
                  <a:lnTo>
                    <a:pt x="2316480" y="0"/>
                  </a:lnTo>
                  <a:lnTo>
                    <a:pt x="2316480" y="853440"/>
                  </a:lnTo>
                  <a:lnTo>
                    <a:pt x="0" y="853440"/>
                  </a:lnTo>
                  <a:close/>
                </a:path>
              </a:pathLst>
            </a:custGeom>
            <a:blipFill>
              <a:blip r:embed="rId2">
                <a:alphaModFix amt="0"/>
              </a:blip>
              <a:stretch>
                <a:fillRect l="0" t="-2887" r="0" b="-2887"/>
              </a:stretch>
            </a:blipFill>
          </p:spPr>
        </p:sp>
        <p:sp>
          <p:nvSpPr>
            <p:cNvPr name="TextBox 11" id="11"/>
            <p:cNvSpPr txBox="true"/>
            <p:nvPr/>
          </p:nvSpPr>
          <p:spPr>
            <a:xfrm>
              <a:off x="0" y="-66675"/>
              <a:ext cx="2316480" cy="920115"/>
            </a:xfrm>
            <a:prstGeom prst="rect">
              <a:avLst/>
            </a:prstGeom>
          </p:spPr>
          <p:txBody>
            <a:bodyPr anchor="ctr" rtlCol="false" tIns="0" lIns="0" bIns="0" rIns="0"/>
            <a:lstStyle/>
            <a:p>
              <a:pPr algn="l">
                <a:lnSpc>
                  <a:spcPts val="2639"/>
                </a:lnSpc>
              </a:pPr>
              <a:r>
                <a:rPr lang="en-US" sz="2199" b="true">
                  <a:solidFill>
                    <a:srgbClr val="16A34A"/>
                  </a:solidFill>
                  <a:latin typeface="Agrandir Narrow Bold"/>
                  <a:ea typeface="Agrandir Narrow Bold"/>
                  <a:cs typeface="Agrandir Narrow Bold"/>
                  <a:sym typeface="Agrandir Narrow Bold"/>
                </a:rPr>
                <a:t>750–850</a:t>
              </a:r>
            </a:p>
          </p:txBody>
        </p:sp>
      </p:grpSp>
      <p:grpSp>
        <p:nvGrpSpPr>
          <p:cNvPr name="Group 12" id="12"/>
          <p:cNvGrpSpPr/>
          <p:nvPr/>
        </p:nvGrpSpPr>
        <p:grpSpPr>
          <a:xfrm rot="0">
            <a:off x="12216384" y="3529584"/>
            <a:ext cx="1737360" cy="512064"/>
            <a:chOff x="0" y="0"/>
            <a:chExt cx="2316480" cy="682752"/>
          </a:xfrm>
        </p:grpSpPr>
        <p:sp>
          <p:nvSpPr>
            <p:cNvPr name="Freeform 13" id="13"/>
            <p:cNvSpPr/>
            <p:nvPr/>
          </p:nvSpPr>
          <p:spPr>
            <a:xfrm flipH="false" flipV="false" rot="0">
              <a:off x="0" y="0"/>
              <a:ext cx="2316480" cy="682752"/>
            </a:xfrm>
            <a:custGeom>
              <a:avLst/>
              <a:gdLst/>
              <a:ahLst/>
              <a:cxnLst/>
              <a:rect r="r" b="b" t="t" l="l"/>
              <a:pathLst>
                <a:path h="682752" w="2316480">
                  <a:moveTo>
                    <a:pt x="0" y="0"/>
                  </a:moveTo>
                  <a:lnTo>
                    <a:pt x="2316480" y="0"/>
                  </a:lnTo>
                  <a:lnTo>
                    <a:pt x="2316480" y="682752"/>
                  </a:lnTo>
                  <a:lnTo>
                    <a:pt x="0" y="682752"/>
                  </a:lnTo>
                  <a:close/>
                </a:path>
              </a:pathLst>
            </a:custGeom>
            <a:blipFill>
              <a:blip r:embed="rId2">
                <a:alphaModFix amt="0"/>
              </a:blip>
              <a:stretch>
                <a:fillRect l="0" t="-16109" r="0" b="-16109"/>
              </a:stretch>
            </a:blipFill>
          </p:spPr>
        </p:sp>
        <p:sp>
          <p:nvSpPr>
            <p:cNvPr name="TextBox 14" id="14"/>
            <p:cNvSpPr txBox="true"/>
            <p:nvPr/>
          </p:nvSpPr>
          <p:spPr>
            <a:xfrm>
              <a:off x="0" y="-47625"/>
              <a:ext cx="2316480" cy="730377"/>
            </a:xfrm>
            <a:prstGeom prst="rect">
              <a:avLst/>
            </a:prstGeom>
          </p:spPr>
          <p:txBody>
            <a:bodyPr anchor="ctr" rtlCol="false" tIns="0" lIns="0" bIns="0" rIns="0"/>
            <a:lstStyle/>
            <a:p>
              <a:pPr algn="l">
                <a:lnSpc>
                  <a:spcPts val="2039"/>
                </a:lnSpc>
              </a:pPr>
              <a:r>
                <a:rPr lang="en-US" sz="1700">
                  <a:solidFill>
                    <a:srgbClr val="64748B"/>
                  </a:solidFill>
                  <a:latin typeface="Agrandir Narrow"/>
                  <a:ea typeface="Agrandir Narrow"/>
                  <a:cs typeface="Agrandir Narrow"/>
                  <a:sym typeface="Agrandir Narrow"/>
                </a:rPr>
                <a:t>Excellent</a:t>
              </a:r>
            </a:p>
          </p:txBody>
        </p:sp>
      </p:grpSp>
      <p:grpSp>
        <p:nvGrpSpPr>
          <p:cNvPr name="Group 15" id="15"/>
          <p:cNvGrpSpPr/>
          <p:nvPr/>
        </p:nvGrpSpPr>
        <p:grpSpPr>
          <a:xfrm rot="0">
            <a:off x="13990320" y="3145536"/>
            <a:ext cx="3566160" cy="822960"/>
            <a:chOff x="0" y="0"/>
            <a:chExt cx="4754880" cy="1097280"/>
          </a:xfrm>
        </p:grpSpPr>
        <p:sp>
          <p:nvSpPr>
            <p:cNvPr name="Freeform 16" id="16"/>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2">
                <a:alphaModFix amt="0"/>
              </a:blip>
              <a:stretch>
                <a:fillRect l="0" t="-34435" r="0" b="-34435"/>
              </a:stretch>
            </a:blipFill>
          </p:spPr>
        </p:sp>
        <p:sp>
          <p:nvSpPr>
            <p:cNvPr name="TextBox 17" id="17"/>
            <p:cNvSpPr txBox="true"/>
            <p:nvPr/>
          </p:nvSpPr>
          <p:spPr>
            <a:xfrm>
              <a:off x="0" y="-76200"/>
              <a:ext cx="4754880" cy="1173480"/>
            </a:xfrm>
            <a:prstGeom prst="rect">
              <a:avLst/>
            </a:prstGeom>
          </p:spPr>
          <p:txBody>
            <a:bodyPr anchor="ctr" rtlCol="false" tIns="0" lIns="0" bIns="0" rIns="0"/>
            <a:lstStyle/>
            <a:p>
              <a:pPr algn="l">
                <a:lnSpc>
                  <a:spcPts val="3239"/>
                </a:lnSpc>
              </a:pPr>
              <a:r>
                <a:rPr lang="en-US" sz="2699">
                  <a:solidFill>
                    <a:srgbClr val="1E293B"/>
                  </a:solidFill>
                  <a:latin typeface="Agrandir Narrow"/>
                  <a:ea typeface="Agrandir Narrow"/>
                  <a:cs typeface="Agrandir Narrow"/>
                  <a:sym typeface="Agrandir Narrow"/>
                </a:rPr>
                <a:t>Best loan terms</a:t>
              </a:r>
            </a:p>
          </p:txBody>
        </p:sp>
      </p:grpSp>
      <p:grpSp>
        <p:nvGrpSpPr>
          <p:cNvPr name="Group 18" id="18"/>
          <p:cNvGrpSpPr/>
          <p:nvPr/>
        </p:nvGrpSpPr>
        <p:grpSpPr>
          <a:xfrm rot="0">
            <a:off x="11965943" y="4321559"/>
            <a:ext cx="5694683" cy="1268987"/>
            <a:chOff x="0" y="0"/>
            <a:chExt cx="7592911" cy="1691983"/>
          </a:xfrm>
        </p:grpSpPr>
        <p:sp>
          <p:nvSpPr>
            <p:cNvPr name="Freeform 19" id="19"/>
            <p:cNvSpPr/>
            <p:nvPr/>
          </p:nvSpPr>
          <p:spPr>
            <a:xfrm flipH="false" flipV="false" rot="0">
              <a:off x="16891" y="16891"/>
              <a:ext cx="7559040" cy="1658112"/>
            </a:xfrm>
            <a:custGeom>
              <a:avLst/>
              <a:gdLst/>
              <a:ahLst/>
              <a:cxnLst/>
              <a:rect r="r" b="b" t="t" l="l"/>
              <a:pathLst>
                <a:path h="1658112" w="7559040">
                  <a:moveTo>
                    <a:pt x="0" y="0"/>
                  </a:moveTo>
                  <a:lnTo>
                    <a:pt x="7559040" y="0"/>
                  </a:lnTo>
                  <a:lnTo>
                    <a:pt x="7559040" y="1658112"/>
                  </a:lnTo>
                  <a:lnTo>
                    <a:pt x="0" y="1658112"/>
                  </a:lnTo>
                  <a:close/>
                </a:path>
              </a:pathLst>
            </a:custGeom>
            <a:solidFill>
              <a:srgbClr val="F8FCFD"/>
            </a:solidFill>
          </p:spPr>
        </p:sp>
        <p:sp>
          <p:nvSpPr>
            <p:cNvPr name="Freeform 20" id="20"/>
            <p:cNvSpPr/>
            <p:nvPr/>
          </p:nvSpPr>
          <p:spPr>
            <a:xfrm flipH="false" flipV="false" rot="0">
              <a:off x="0" y="0"/>
              <a:ext cx="7592822" cy="1691894"/>
            </a:xfrm>
            <a:custGeom>
              <a:avLst/>
              <a:gdLst/>
              <a:ahLst/>
              <a:cxnLst/>
              <a:rect r="r" b="b" t="t" l="l"/>
              <a:pathLst>
                <a:path h="1691894" w="7592822">
                  <a:moveTo>
                    <a:pt x="16891" y="0"/>
                  </a:moveTo>
                  <a:lnTo>
                    <a:pt x="7575931" y="0"/>
                  </a:lnTo>
                  <a:cubicBezTo>
                    <a:pt x="7585329" y="0"/>
                    <a:pt x="7592822" y="7620"/>
                    <a:pt x="7592822" y="16891"/>
                  </a:cubicBezTo>
                  <a:lnTo>
                    <a:pt x="7592822" y="1675003"/>
                  </a:lnTo>
                  <a:cubicBezTo>
                    <a:pt x="7592822" y="1684401"/>
                    <a:pt x="7585202" y="1691894"/>
                    <a:pt x="757593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7575931" y="1658112"/>
                  </a:lnTo>
                  <a:lnTo>
                    <a:pt x="7575931" y="1675003"/>
                  </a:lnTo>
                  <a:lnTo>
                    <a:pt x="7559040" y="1675003"/>
                  </a:lnTo>
                  <a:lnTo>
                    <a:pt x="7559040" y="16891"/>
                  </a:lnTo>
                  <a:lnTo>
                    <a:pt x="7575931" y="16891"/>
                  </a:lnTo>
                  <a:lnTo>
                    <a:pt x="7575931" y="33909"/>
                  </a:lnTo>
                  <a:lnTo>
                    <a:pt x="16891" y="33909"/>
                  </a:lnTo>
                  <a:close/>
                </a:path>
              </a:pathLst>
            </a:custGeom>
            <a:solidFill>
              <a:srgbClr val="B2EBF2"/>
            </a:solidFill>
          </p:spPr>
        </p:sp>
      </p:grpSp>
      <p:grpSp>
        <p:nvGrpSpPr>
          <p:cNvPr name="Group 21" id="21"/>
          <p:cNvGrpSpPr/>
          <p:nvPr/>
        </p:nvGrpSpPr>
        <p:grpSpPr>
          <a:xfrm rot="0">
            <a:off x="12216384" y="4370832"/>
            <a:ext cx="1737360" cy="640080"/>
            <a:chOff x="0" y="0"/>
            <a:chExt cx="2316480" cy="853440"/>
          </a:xfrm>
        </p:grpSpPr>
        <p:sp>
          <p:nvSpPr>
            <p:cNvPr name="Freeform 22" id="22"/>
            <p:cNvSpPr/>
            <p:nvPr/>
          </p:nvSpPr>
          <p:spPr>
            <a:xfrm flipH="false" flipV="false" rot="0">
              <a:off x="0" y="0"/>
              <a:ext cx="2316480" cy="853440"/>
            </a:xfrm>
            <a:custGeom>
              <a:avLst/>
              <a:gdLst/>
              <a:ahLst/>
              <a:cxnLst/>
              <a:rect r="r" b="b" t="t" l="l"/>
              <a:pathLst>
                <a:path h="853440" w="2316480">
                  <a:moveTo>
                    <a:pt x="0" y="0"/>
                  </a:moveTo>
                  <a:lnTo>
                    <a:pt x="2316480" y="0"/>
                  </a:lnTo>
                  <a:lnTo>
                    <a:pt x="2316480" y="853440"/>
                  </a:lnTo>
                  <a:lnTo>
                    <a:pt x="0" y="853440"/>
                  </a:lnTo>
                  <a:close/>
                </a:path>
              </a:pathLst>
            </a:custGeom>
            <a:blipFill>
              <a:blip r:embed="rId2">
                <a:alphaModFix amt="0"/>
              </a:blip>
              <a:stretch>
                <a:fillRect l="0" t="-2887" r="0" b="-2887"/>
              </a:stretch>
            </a:blipFill>
          </p:spPr>
        </p:sp>
        <p:sp>
          <p:nvSpPr>
            <p:cNvPr name="TextBox 23" id="23"/>
            <p:cNvSpPr txBox="true"/>
            <p:nvPr/>
          </p:nvSpPr>
          <p:spPr>
            <a:xfrm>
              <a:off x="0" y="-66675"/>
              <a:ext cx="2316480" cy="920115"/>
            </a:xfrm>
            <a:prstGeom prst="rect">
              <a:avLst/>
            </a:prstGeom>
          </p:spPr>
          <p:txBody>
            <a:bodyPr anchor="ctr" rtlCol="false" tIns="0" lIns="0" bIns="0" rIns="0"/>
            <a:lstStyle/>
            <a:p>
              <a:pPr algn="l">
                <a:lnSpc>
                  <a:spcPts val="2639"/>
                </a:lnSpc>
              </a:pPr>
              <a:r>
                <a:rPr lang="en-US" sz="2199" b="true">
                  <a:solidFill>
                    <a:srgbClr val="2563EB"/>
                  </a:solidFill>
                  <a:latin typeface="Agrandir Narrow Bold"/>
                  <a:ea typeface="Agrandir Narrow Bold"/>
                  <a:cs typeface="Agrandir Narrow Bold"/>
                  <a:sym typeface="Agrandir Narrow Bold"/>
                </a:rPr>
                <a:t>650–749</a:t>
              </a:r>
            </a:p>
          </p:txBody>
        </p:sp>
      </p:grpSp>
      <p:grpSp>
        <p:nvGrpSpPr>
          <p:cNvPr name="Group 24" id="24"/>
          <p:cNvGrpSpPr/>
          <p:nvPr/>
        </p:nvGrpSpPr>
        <p:grpSpPr>
          <a:xfrm rot="0">
            <a:off x="12216384" y="4937760"/>
            <a:ext cx="1737360" cy="512064"/>
            <a:chOff x="0" y="0"/>
            <a:chExt cx="2316480" cy="682752"/>
          </a:xfrm>
        </p:grpSpPr>
        <p:sp>
          <p:nvSpPr>
            <p:cNvPr name="Freeform 25" id="25"/>
            <p:cNvSpPr/>
            <p:nvPr/>
          </p:nvSpPr>
          <p:spPr>
            <a:xfrm flipH="false" flipV="false" rot="0">
              <a:off x="0" y="0"/>
              <a:ext cx="2316480" cy="682752"/>
            </a:xfrm>
            <a:custGeom>
              <a:avLst/>
              <a:gdLst/>
              <a:ahLst/>
              <a:cxnLst/>
              <a:rect r="r" b="b" t="t" l="l"/>
              <a:pathLst>
                <a:path h="682752" w="2316480">
                  <a:moveTo>
                    <a:pt x="0" y="0"/>
                  </a:moveTo>
                  <a:lnTo>
                    <a:pt x="2316480" y="0"/>
                  </a:lnTo>
                  <a:lnTo>
                    <a:pt x="2316480" y="682752"/>
                  </a:lnTo>
                  <a:lnTo>
                    <a:pt x="0" y="682752"/>
                  </a:lnTo>
                  <a:close/>
                </a:path>
              </a:pathLst>
            </a:custGeom>
            <a:blipFill>
              <a:blip r:embed="rId2">
                <a:alphaModFix amt="0"/>
              </a:blip>
              <a:stretch>
                <a:fillRect l="0" t="-16109" r="0" b="-16109"/>
              </a:stretch>
            </a:blipFill>
          </p:spPr>
        </p:sp>
        <p:sp>
          <p:nvSpPr>
            <p:cNvPr name="TextBox 26" id="26"/>
            <p:cNvSpPr txBox="true"/>
            <p:nvPr/>
          </p:nvSpPr>
          <p:spPr>
            <a:xfrm>
              <a:off x="0" y="-47625"/>
              <a:ext cx="2316480" cy="730377"/>
            </a:xfrm>
            <a:prstGeom prst="rect">
              <a:avLst/>
            </a:prstGeom>
          </p:spPr>
          <p:txBody>
            <a:bodyPr anchor="ctr" rtlCol="false" tIns="0" lIns="0" bIns="0" rIns="0"/>
            <a:lstStyle/>
            <a:p>
              <a:pPr algn="l">
                <a:lnSpc>
                  <a:spcPts val="2039"/>
                </a:lnSpc>
              </a:pPr>
              <a:r>
                <a:rPr lang="en-US" sz="1700">
                  <a:solidFill>
                    <a:srgbClr val="64748B"/>
                  </a:solidFill>
                  <a:latin typeface="Agrandir Narrow"/>
                  <a:ea typeface="Agrandir Narrow"/>
                  <a:cs typeface="Agrandir Narrow"/>
                  <a:sym typeface="Agrandir Narrow"/>
                </a:rPr>
                <a:t>Good</a:t>
              </a:r>
            </a:p>
          </p:txBody>
        </p:sp>
      </p:grpSp>
      <p:grpSp>
        <p:nvGrpSpPr>
          <p:cNvPr name="Group 27" id="27"/>
          <p:cNvGrpSpPr/>
          <p:nvPr/>
        </p:nvGrpSpPr>
        <p:grpSpPr>
          <a:xfrm rot="0">
            <a:off x="13990320" y="4553712"/>
            <a:ext cx="3566160" cy="822960"/>
            <a:chOff x="0" y="0"/>
            <a:chExt cx="4754880" cy="1097280"/>
          </a:xfrm>
        </p:grpSpPr>
        <p:sp>
          <p:nvSpPr>
            <p:cNvPr name="Freeform 28" id="28"/>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2">
                <a:alphaModFix amt="0"/>
              </a:blip>
              <a:stretch>
                <a:fillRect l="0" t="-34435" r="0" b="-34435"/>
              </a:stretch>
            </a:blipFill>
          </p:spPr>
        </p:sp>
        <p:sp>
          <p:nvSpPr>
            <p:cNvPr name="TextBox 29" id="29"/>
            <p:cNvSpPr txBox="true"/>
            <p:nvPr/>
          </p:nvSpPr>
          <p:spPr>
            <a:xfrm>
              <a:off x="0" y="-76200"/>
              <a:ext cx="4754880" cy="1173480"/>
            </a:xfrm>
            <a:prstGeom prst="rect">
              <a:avLst/>
            </a:prstGeom>
          </p:spPr>
          <p:txBody>
            <a:bodyPr anchor="ctr" rtlCol="false" tIns="0" lIns="0" bIns="0" rIns="0"/>
            <a:lstStyle/>
            <a:p>
              <a:pPr algn="l">
                <a:lnSpc>
                  <a:spcPts val="3239"/>
                </a:lnSpc>
              </a:pPr>
              <a:r>
                <a:rPr lang="en-US" sz="2699">
                  <a:solidFill>
                    <a:srgbClr val="1E293B"/>
                  </a:solidFill>
                  <a:latin typeface="Agrandir Narrow"/>
                  <a:ea typeface="Agrandir Narrow"/>
                  <a:cs typeface="Agrandir Narrow"/>
                  <a:sym typeface="Agrandir Narrow"/>
                </a:rPr>
                <a:t>Standard terms</a:t>
              </a:r>
            </a:p>
          </p:txBody>
        </p:sp>
      </p:grpSp>
      <p:grpSp>
        <p:nvGrpSpPr>
          <p:cNvPr name="Group 30" id="30"/>
          <p:cNvGrpSpPr/>
          <p:nvPr/>
        </p:nvGrpSpPr>
        <p:grpSpPr>
          <a:xfrm rot="0">
            <a:off x="11965943" y="5729735"/>
            <a:ext cx="5694683" cy="1268987"/>
            <a:chOff x="0" y="0"/>
            <a:chExt cx="7592911" cy="1691983"/>
          </a:xfrm>
        </p:grpSpPr>
        <p:sp>
          <p:nvSpPr>
            <p:cNvPr name="Freeform 31" id="31"/>
            <p:cNvSpPr/>
            <p:nvPr/>
          </p:nvSpPr>
          <p:spPr>
            <a:xfrm flipH="false" flipV="false" rot="0">
              <a:off x="16891" y="16891"/>
              <a:ext cx="7559040" cy="1658112"/>
            </a:xfrm>
            <a:custGeom>
              <a:avLst/>
              <a:gdLst/>
              <a:ahLst/>
              <a:cxnLst/>
              <a:rect r="r" b="b" t="t" l="l"/>
              <a:pathLst>
                <a:path h="1658112" w="7559040">
                  <a:moveTo>
                    <a:pt x="0" y="0"/>
                  </a:moveTo>
                  <a:lnTo>
                    <a:pt x="7559040" y="0"/>
                  </a:lnTo>
                  <a:lnTo>
                    <a:pt x="7559040" y="1658112"/>
                  </a:lnTo>
                  <a:lnTo>
                    <a:pt x="0" y="1658112"/>
                  </a:lnTo>
                  <a:close/>
                </a:path>
              </a:pathLst>
            </a:custGeom>
            <a:solidFill>
              <a:srgbClr val="F8FCFD"/>
            </a:solidFill>
          </p:spPr>
        </p:sp>
        <p:sp>
          <p:nvSpPr>
            <p:cNvPr name="Freeform 32" id="32"/>
            <p:cNvSpPr/>
            <p:nvPr/>
          </p:nvSpPr>
          <p:spPr>
            <a:xfrm flipH="false" flipV="false" rot="0">
              <a:off x="0" y="0"/>
              <a:ext cx="7592822" cy="1691894"/>
            </a:xfrm>
            <a:custGeom>
              <a:avLst/>
              <a:gdLst/>
              <a:ahLst/>
              <a:cxnLst/>
              <a:rect r="r" b="b" t="t" l="l"/>
              <a:pathLst>
                <a:path h="1691894" w="7592822">
                  <a:moveTo>
                    <a:pt x="16891" y="0"/>
                  </a:moveTo>
                  <a:lnTo>
                    <a:pt x="7575931" y="0"/>
                  </a:lnTo>
                  <a:cubicBezTo>
                    <a:pt x="7585329" y="0"/>
                    <a:pt x="7592822" y="7620"/>
                    <a:pt x="7592822" y="16891"/>
                  </a:cubicBezTo>
                  <a:lnTo>
                    <a:pt x="7592822" y="1675003"/>
                  </a:lnTo>
                  <a:cubicBezTo>
                    <a:pt x="7592822" y="1684401"/>
                    <a:pt x="7585202" y="1691894"/>
                    <a:pt x="757593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7575931" y="1658112"/>
                  </a:lnTo>
                  <a:lnTo>
                    <a:pt x="7575931" y="1675003"/>
                  </a:lnTo>
                  <a:lnTo>
                    <a:pt x="7559040" y="1675003"/>
                  </a:lnTo>
                  <a:lnTo>
                    <a:pt x="7559040" y="16891"/>
                  </a:lnTo>
                  <a:lnTo>
                    <a:pt x="7575931" y="16891"/>
                  </a:lnTo>
                  <a:lnTo>
                    <a:pt x="7575931" y="33909"/>
                  </a:lnTo>
                  <a:lnTo>
                    <a:pt x="16891" y="33909"/>
                  </a:lnTo>
                  <a:close/>
                </a:path>
              </a:pathLst>
            </a:custGeom>
            <a:solidFill>
              <a:srgbClr val="B2EBF2"/>
            </a:solidFill>
          </p:spPr>
        </p:sp>
      </p:grpSp>
      <p:grpSp>
        <p:nvGrpSpPr>
          <p:cNvPr name="Group 33" id="33"/>
          <p:cNvGrpSpPr/>
          <p:nvPr/>
        </p:nvGrpSpPr>
        <p:grpSpPr>
          <a:xfrm rot="0">
            <a:off x="12216384" y="5779008"/>
            <a:ext cx="1737360" cy="640080"/>
            <a:chOff x="0" y="0"/>
            <a:chExt cx="2316480" cy="853440"/>
          </a:xfrm>
        </p:grpSpPr>
        <p:sp>
          <p:nvSpPr>
            <p:cNvPr name="Freeform 34" id="34"/>
            <p:cNvSpPr/>
            <p:nvPr/>
          </p:nvSpPr>
          <p:spPr>
            <a:xfrm flipH="false" flipV="false" rot="0">
              <a:off x="0" y="0"/>
              <a:ext cx="2316480" cy="853440"/>
            </a:xfrm>
            <a:custGeom>
              <a:avLst/>
              <a:gdLst/>
              <a:ahLst/>
              <a:cxnLst/>
              <a:rect r="r" b="b" t="t" l="l"/>
              <a:pathLst>
                <a:path h="853440" w="2316480">
                  <a:moveTo>
                    <a:pt x="0" y="0"/>
                  </a:moveTo>
                  <a:lnTo>
                    <a:pt x="2316480" y="0"/>
                  </a:lnTo>
                  <a:lnTo>
                    <a:pt x="2316480" y="853440"/>
                  </a:lnTo>
                  <a:lnTo>
                    <a:pt x="0" y="853440"/>
                  </a:lnTo>
                  <a:close/>
                </a:path>
              </a:pathLst>
            </a:custGeom>
            <a:blipFill>
              <a:blip r:embed="rId2">
                <a:alphaModFix amt="0"/>
              </a:blip>
              <a:stretch>
                <a:fillRect l="0" t="-2887" r="0" b="-2887"/>
              </a:stretch>
            </a:blipFill>
          </p:spPr>
        </p:sp>
        <p:sp>
          <p:nvSpPr>
            <p:cNvPr name="TextBox 35" id="35"/>
            <p:cNvSpPr txBox="true"/>
            <p:nvPr/>
          </p:nvSpPr>
          <p:spPr>
            <a:xfrm>
              <a:off x="0" y="-66675"/>
              <a:ext cx="2316480" cy="920115"/>
            </a:xfrm>
            <a:prstGeom prst="rect">
              <a:avLst/>
            </a:prstGeom>
          </p:spPr>
          <p:txBody>
            <a:bodyPr anchor="ctr" rtlCol="false" tIns="0" lIns="0" bIns="0" rIns="0"/>
            <a:lstStyle/>
            <a:p>
              <a:pPr algn="l">
                <a:lnSpc>
                  <a:spcPts val="2639"/>
                </a:lnSpc>
              </a:pPr>
              <a:r>
                <a:rPr lang="en-US" sz="2199" b="true">
                  <a:solidFill>
                    <a:srgbClr val="D97706"/>
                  </a:solidFill>
                  <a:latin typeface="Agrandir Narrow Bold"/>
                  <a:ea typeface="Agrandir Narrow Bold"/>
                  <a:cs typeface="Agrandir Narrow Bold"/>
                  <a:sym typeface="Agrandir Narrow Bold"/>
                </a:rPr>
                <a:t>550–649</a:t>
              </a:r>
            </a:p>
          </p:txBody>
        </p:sp>
      </p:grpSp>
      <p:grpSp>
        <p:nvGrpSpPr>
          <p:cNvPr name="Group 36" id="36"/>
          <p:cNvGrpSpPr/>
          <p:nvPr/>
        </p:nvGrpSpPr>
        <p:grpSpPr>
          <a:xfrm rot="0">
            <a:off x="12216384" y="6345936"/>
            <a:ext cx="1737360" cy="512064"/>
            <a:chOff x="0" y="0"/>
            <a:chExt cx="2316480" cy="682752"/>
          </a:xfrm>
        </p:grpSpPr>
        <p:sp>
          <p:nvSpPr>
            <p:cNvPr name="Freeform 37" id="37"/>
            <p:cNvSpPr/>
            <p:nvPr/>
          </p:nvSpPr>
          <p:spPr>
            <a:xfrm flipH="false" flipV="false" rot="0">
              <a:off x="0" y="0"/>
              <a:ext cx="2316480" cy="682752"/>
            </a:xfrm>
            <a:custGeom>
              <a:avLst/>
              <a:gdLst/>
              <a:ahLst/>
              <a:cxnLst/>
              <a:rect r="r" b="b" t="t" l="l"/>
              <a:pathLst>
                <a:path h="682752" w="2316480">
                  <a:moveTo>
                    <a:pt x="0" y="0"/>
                  </a:moveTo>
                  <a:lnTo>
                    <a:pt x="2316480" y="0"/>
                  </a:lnTo>
                  <a:lnTo>
                    <a:pt x="2316480" y="682752"/>
                  </a:lnTo>
                  <a:lnTo>
                    <a:pt x="0" y="682752"/>
                  </a:lnTo>
                  <a:close/>
                </a:path>
              </a:pathLst>
            </a:custGeom>
            <a:blipFill>
              <a:blip r:embed="rId2">
                <a:alphaModFix amt="0"/>
              </a:blip>
              <a:stretch>
                <a:fillRect l="0" t="-16109" r="0" b="-16109"/>
              </a:stretch>
            </a:blipFill>
          </p:spPr>
        </p:sp>
        <p:sp>
          <p:nvSpPr>
            <p:cNvPr name="TextBox 38" id="38"/>
            <p:cNvSpPr txBox="true"/>
            <p:nvPr/>
          </p:nvSpPr>
          <p:spPr>
            <a:xfrm>
              <a:off x="0" y="-47625"/>
              <a:ext cx="2316480" cy="730377"/>
            </a:xfrm>
            <a:prstGeom prst="rect">
              <a:avLst/>
            </a:prstGeom>
          </p:spPr>
          <p:txBody>
            <a:bodyPr anchor="ctr" rtlCol="false" tIns="0" lIns="0" bIns="0" rIns="0"/>
            <a:lstStyle/>
            <a:p>
              <a:pPr algn="l">
                <a:lnSpc>
                  <a:spcPts val="2039"/>
                </a:lnSpc>
              </a:pPr>
              <a:r>
                <a:rPr lang="en-US" sz="1700">
                  <a:solidFill>
                    <a:srgbClr val="64748B"/>
                  </a:solidFill>
                  <a:latin typeface="Agrandir Narrow"/>
                  <a:ea typeface="Agrandir Narrow"/>
                  <a:cs typeface="Agrandir Narrow"/>
                  <a:sym typeface="Agrandir Narrow"/>
                </a:rPr>
                <a:t>Fair</a:t>
              </a:r>
            </a:p>
          </p:txBody>
        </p:sp>
      </p:grpSp>
      <p:grpSp>
        <p:nvGrpSpPr>
          <p:cNvPr name="Group 39" id="39"/>
          <p:cNvGrpSpPr/>
          <p:nvPr/>
        </p:nvGrpSpPr>
        <p:grpSpPr>
          <a:xfrm rot="0">
            <a:off x="13990320" y="5961888"/>
            <a:ext cx="3566160" cy="822960"/>
            <a:chOff x="0" y="0"/>
            <a:chExt cx="4754880" cy="1097280"/>
          </a:xfrm>
        </p:grpSpPr>
        <p:sp>
          <p:nvSpPr>
            <p:cNvPr name="Freeform 40" id="40"/>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2">
                <a:alphaModFix amt="0"/>
              </a:blip>
              <a:stretch>
                <a:fillRect l="0" t="-34435" r="0" b="-34435"/>
              </a:stretch>
            </a:blipFill>
          </p:spPr>
        </p:sp>
        <p:sp>
          <p:nvSpPr>
            <p:cNvPr name="TextBox 41" id="41"/>
            <p:cNvSpPr txBox="true"/>
            <p:nvPr/>
          </p:nvSpPr>
          <p:spPr>
            <a:xfrm>
              <a:off x="0" y="-76200"/>
              <a:ext cx="4754880" cy="1173480"/>
            </a:xfrm>
            <a:prstGeom prst="rect">
              <a:avLst/>
            </a:prstGeom>
          </p:spPr>
          <p:txBody>
            <a:bodyPr anchor="ctr" rtlCol="false" tIns="0" lIns="0" bIns="0" rIns="0"/>
            <a:lstStyle/>
            <a:p>
              <a:pPr algn="l">
                <a:lnSpc>
                  <a:spcPts val="3239"/>
                </a:lnSpc>
              </a:pPr>
              <a:r>
                <a:rPr lang="en-US" sz="2699">
                  <a:solidFill>
                    <a:srgbClr val="1E293B"/>
                  </a:solidFill>
                  <a:latin typeface="Agrandir Narrow"/>
                  <a:ea typeface="Agrandir Narrow"/>
                  <a:cs typeface="Agrandir Narrow"/>
                  <a:sym typeface="Agrandir Narrow"/>
                </a:rPr>
                <a:t>Higher interest</a:t>
              </a:r>
            </a:p>
          </p:txBody>
        </p:sp>
      </p:grpSp>
      <p:grpSp>
        <p:nvGrpSpPr>
          <p:cNvPr name="Group 42" id="42"/>
          <p:cNvGrpSpPr/>
          <p:nvPr/>
        </p:nvGrpSpPr>
        <p:grpSpPr>
          <a:xfrm rot="0">
            <a:off x="11965943" y="7137911"/>
            <a:ext cx="5694683" cy="1268987"/>
            <a:chOff x="0" y="0"/>
            <a:chExt cx="7592911" cy="1691983"/>
          </a:xfrm>
        </p:grpSpPr>
        <p:sp>
          <p:nvSpPr>
            <p:cNvPr name="Freeform 43" id="43"/>
            <p:cNvSpPr/>
            <p:nvPr/>
          </p:nvSpPr>
          <p:spPr>
            <a:xfrm flipH="false" flipV="false" rot="0">
              <a:off x="16891" y="16891"/>
              <a:ext cx="7559040" cy="1658112"/>
            </a:xfrm>
            <a:custGeom>
              <a:avLst/>
              <a:gdLst/>
              <a:ahLst/>
              <a:cxnLst/>
              <a:rect r="r" b="b" t="t" l="l"/>
              <a:pathLst>
                <a:path h="1658112" w="7559040">
                  <a:moveTo>
                    <a:pt x="0" y="0"/>
                  </a:moveTo>
                  <a:lnTo>
                    <a:pt x="7559040" y="0"/>
                  </a:lnTo>
                  <a:lnTo>
                    <a:pt x="7559040" y="1658112"/>
                  </a:lnTo>
                  <a:lnTo>
                    <a:pt x="0" y="1658112"/>
                  </a:lnTo>
                  <a:close/>
                </a:path>
              </a:pathLst>
            </a:custGeom>
            <a:solidFill>
              <a:srgbClr val="F8FCFD"/>
            </a:solidFill>
          </p:spPr>
        </p:sp>
        <p:sp>
          <p:nvSpPr>
            <p:cNvPr name="Freeform 44" id="44"/>
            <p:cNvSpPr/>
            <p:nvPr/>
          </p:nvSpPr>
          <p:spPr>
            <a:xfrm flipH="false" flipV="false" rot="0">
              <a:off x="0" y="0"/>
              <a:ext cx="7592822" cy="1691894"/>
            </a:xfrm>
            <a:custGeom>
              <a:avLst/>
              <a:gdLst/>
              <a:ahLst/>
              <a:cxnLst/>
              <a:rect r="r" b="b" t="t" l="l"/>
              <a:pathLst>
                <a:path h="1691894" w="7592822">
                  <a:moveTo>
                    <a:pt x="16891" y="0"/>
                  </a:moveTo>
                  <a:lnTo>
                    <a:pt x="7575931" y="0"/>
                  </a:lnTo>
                  <a:cubicBezTo>
                    <a:pt x="7585329" y="0"/>
                    <a:pt x="7592822" y="7620"/>
                    <a:pt x="7592822" y="16891"/>
                  </a:cubicBezTo>
                  <a:lnTo>
                    <a:pt x="7592822" y="1675003"/>
                  </a:lnTo>
                  <a:cubicBezTo>
                    <a:pt x="7592822" y="1684401"/>
                    <a:pt x="7585202" y="1691894"/>
                    <a:pt x="757593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7575931" y="1658112"/>
                  </a:lnTo>
                  <a:lnTo>
                    <a:pt x="7575931" y="1675003"/>
                  </a:lnTo>
                  <a:lnTo>
                    <a:pt x="7559040" y="1675003"/>
                  </a:lnTo>
                  <a:lnTo>
                    <a:pt x="7559040" y="16891"/>
                  </a:lnTo>
                  <a:lnTo>
                    <a:pt x="7575931" y="16891"/>
                  </a:lnTo>
                  <a:lnTo>
                    <a:pt x="7575931" y="33909"/>
                  </a:lnTo>
                  <a:lnTo>
                    <a:pt x="16891" y="33909"/>
                  </a:lnTo>
                  <a:close/>
                </a:path>
              </a:pathLst>
            </a:custGeom>
            <a:solidFill>
              <a:srgbClr val="B2EBF2"/>
            </a:solidFill>
          </p:spPr>
        </p:sp>
      </p:grpSp>
      <p:grpSp>
        <p:nvGrpSpPr>
          <p:cNvPr name="Group 45" id="45"/>
          <p:cNvGrpSpPr/>
          <p:nvPr/>
        </p:nvGrpSpPr>
        <p:grpSpPr>
          <a:xfrm rot="0">
            <a:off x="12216384" y="7187184"/>
            <a:ext cx="1737360" cy="640080"/>
            <a:chOff x="0" y="0"/>
            <a:chExt cx="2316480" cy="853440"/>
          </a:xfrm>
        </p:grpSpPr>
        <p:sp>
          <p:nvSpPr>
            <p:cNvPr name="Freeform 46" id="46"/>
            <p:cNvSpPr/>
            <p:nvPr/>
          </p:nvSpPr>
          <p:spPr>
            <a:xfrm flipH="false" flipV="false" rot="0">
              <a:off x="0" y="0"/>
              <a:ext cx="2316480" cy="853440"/>
            </a:xfrm>
            <a:custGeom>
              <a:avLst/>
              <a:gdLst/>
              <a:ahLst/>
              <a:cxnLst/>
              <a:rect r="r" b="b" t="t" l="l"/>
              <a:pathLst>
                <a:path h="853440" w="2316480">
                  <a:moveTo>
                    <a:pt x="0" y="0"/>
                  </a:moveTo>
                  <a:lnTo>
                    <a:pt x="2316480" y="0"/>
                  </a:lnTo>
                  <a:lnTo>
                    <a:pt x="2316480" y="853440"/>
                  </a:lnTo>
                  <a:lnTo>
                    <a:pt x="0" y="853440"/>
                  </a:lnTo>
                  <a:close/>
                </a:path>
              </a:pathLst>
            </a:custGeom>
            <a:blipFill>
              <a:blip r:embed="rId2">
                <a:alphaModFix amt="0"/>
              </a:blip>
              <a:stretch>
                <a:fillRect l="0" t="-2887" r="0" b="-2887"/>
              </a:stretch>
            </a:blipFill>
          </p:spPr>
        </p:sp>
        <p:sp>
          <p:nvSpPr>
            <p:cNvPr name="TextBox 47" id="47"/>
            <p:cNvSpPr txBox="true"/>
            <p:nvPr/>
          </p:nvSpPr>
          <p:spPr>
            <a:xfrm>
              <a:off x="0" y="-66675"/>
              <a:ext cx="2316480" cy="920115"/>
            </a:xfrm>
            <a:prstGeom prst="rect">
              <a:avLst/>
            </a:prstGeom>
          </p:spPr>
          <p:txBody>
            <a:bodyPr anchor="ctr" rtlCol="false" tIns="0" lIns="0" bIns="0" rIns="0"/>
            <a:lstStyle/>
            <a:p>
              <a:pPr algn="l">
                <a:lnSpc>
                  <a:spcPts val="2639"/>
                </a:lnSpc>
              </a:pPr>
              <a:r>
                <a:rPr lang="en-US" sz="2199" b="true">
                  <a:solidFill>
                    <a:srgbClr val="EA580C"/>
                  </a:solidFill>
                  <a:latin typeface="Agrandir Narrow Bold"/>
                  <a:ea typeface="Agrandir Narrow Bold"/>
                  <a:cs typeface="Agrandir Narrow Bold"/>
                  <a:sym typeface="Agrandir Narrow Bold"/>
                </a:rPr>
                <a:t>450–549</a:t>
              </a:r>
            </a:p>
          </p:txBody>
        </p:sp>
      </p:grpSp>
      <p:grpSp>
        <p:nvGrpSpPr>
          <p:cNvPr name="Group 48" id="48"/>
          <p:cNvGrpSpPr/>
          <p:nvPr/>
        </p:nvGrpSpPr>
        <p:grpSpPr>
          <a:xfrm rot="0">
            <a:off x="12216384" y="7754112"/>
            <a:ext cx="1737360" cy="512064"/>
            <a:chOff x="0" y="0"/>
            <a:chExt cx="2316480" cy="682752"/>
          </a:xfrm>
        </p:grpSpPr>
        <p:sp>
          <p:nvSpPr>
            <p:cNvPr name="Freeform 49" id="49"/>
            <p:cNvSpPr/>
            <p:nvPr/>
          </p:nvSpPr>
          <p:spPr>
            <a:xfrm flipH="false" flipV="false" rot="0">
              <a:off x="0" y="0"/>
              <a:ext cx="2316480" cy="682752"/>
            </a:xfrm>
            <a:custGeom>
              <a:avLst/>
              <a:gdLst/>
              <a:ahLst/>
              <a:cxnLst/>
              <a:rect r="r" b="b" t="t" l="l"/>
              <a:pathLst>
                <a:path h="682752" w="2316480">
                  <a:moveTo>
                    <a:pt x="0" y="0"/>
                  </a:moveTo>
                  <a:lnTo>
                    <a:pt x="2316480" y="0"/>
                  </a:lnTo>
                  <a:lnTo>
                    <a:pt x="2316480" y="682752"/>
                  </a:lnTo>
                  <a:lnTo>
                    <a:pt x="0" y="682752"/>
                  </a:lnTo>
                  <a:close/>
                </a:path>
              </a:pathLst>
            </a:custGeom>
            <a:blipFill>
              <a:blip r:embed="rId2">
                <a:alphaModFix amt="0"/>
              </a:blip>
              <a:stretch>
                <a:fillRect l="0" t="-16109" r="0" b="-16109"/>
              </a:stretch>
            </a:blipFill>
          </p:spPr>
        </p:sp>
        <p:sp>
          <p:nvSpPr>
            <p:cNvPr name="TextBox 50" id="50"/>
            <p:cNvSpPr txBox="true"/>
            <p:nvPr/>
          </p:nvSpPr>
          <p:spPr>
            <a:xfrm>
              <a:off x="0" y="-47625"/>
              <a:ext cx="2316480" cy="730377"/>
            </a:xfrm>
            <a:prstGeom prst="rect">
              <a:avLst/>
            </a:prstGeom>
          </p:spPr>
          <p:txBody>
            <a:bodyPr anchor="ctr" rtlCol="false" tIns="0" lIns="0" bIns="0" rIns="0"/>
            <a:lstStyle/>
            <a:p>
              <a:pPr algn="l">
                <a:lnSpc>
                  <a:spcPts val="2039"/>
                </a:lnSpc>
              </a:pPr>
              <a:r>
                <a:rPr lang="en-US" sz="1700">
                  <a:solidFill>
                    <a:srgbClr val="64748B"/>
                  </a:solidFill>
                  <a:latin typeface="Agrandir Narrow"/>
                  <a:ea typeface="Agrandir Narrow"/>
                  <a:cs typeface="Agrandir Narrow"/>
                  <a:sym typeface="Agrandir Narrow"/>
                </a:rPr>
                <a:t>Poor</a:t>
              </a:r>
            </a:p>
          </p:txBody>
        </p:sp>
      </p:grpSp>
      <p:grpSp>
        <p:nvGrpSpPr>
          <p:cNvPr name="Group 51" id="51"/>
          <p:cNvGrpSpPr/>
          <p:nvPr/>
        </p:nvGrpSpPr>
        <p:grpSpPr>
          <a:xfrm rot="0">
            <a:off x="13990320" y="7370064"/>
            <a:ext cx="3566160" cy="822960"/>
            <a:chOff x="0" y="0"/>
            <a:chExt cx="4754880" cy="1097280"/>
          </a:xfrm>
        </p:grpSpPr>
        <p:sp>
          <p:nvSpPr>
            <p:cNvPr name="Freeform 52" id="52"/>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2">
                <a:alphaModFix amt="0"/>
              </a:blip>
              <a:stretch>
                <a:fillRect l="0" t="-34435" r="0" b="-34435"/>
              </a:stretch>
            </a:blipFill>
          </p:spPr>
        </p:sp>
        <p:sp>
          <p:nvSpPr>
            <p:cNvPr name="TextBox 53" id="53"/>
            <p:cNvSpPr txBox="true"/>
            <p:nvPr/>
          </p:nvSpPr>
          <p:spPr>
            <a:xfrm>
              <a:off x="0" y="-76200"/>
              <a:ext cx="4754880" cy="1173480"/>
            </a:xfrm>
            <a:prstGeom prst="rect">
              <a:avLst/>
            </a:prstGeom>
          </p:spPr>
          <p:txBody>
            <a:bodyPr anchor="ctr" rtlCol="false" tIns="0" lIns="0" bIns="0" rIns="0"/>
            <a:lstStyle/>
            <a:p>
              <a:pPr algn="l">
                <a:lnSpc>
                  <a:spcPts val="3239"/>
                </a:lnSpc>
              </a:pPr>
              <a:r>
                <a:rPr lang="en-US" sz="2699">
                  <a:solidFill>
                    <a:srgbClr val="1E293B"/>
                  </a:solidFill>
                  <a:latin typeface="Agrandir Narrow"/>
                  <a:ea typeface="Agrandir Narrow"/>
                  <a:cs typeface="Agrandir Narrow"/>
                  <a:sym typeface="Agrandir Narrow"/>
                </a:rPr>
                <a:t>Small loan only</a:t>
              </a:r>
            </a:p>
          </p:txBody>
        </p:sp>
      </p:grpSp>
      <p:grpSp>
        <p:nvGrpSpPr>
          <p:cNvPr name="Group 54" id="54"/>
          <p:cNvGrpSpPr/>
          <p:nvPr/>
        </p:nvGrpSpPr>
        <p:grpSpPr>
          <a:xfrm rot="0">
            <a:off x="11965943" y="8546087"/>
            <a:ext cx="5694683" cy="1268987"/>
            <a:chOff x="0" y="0"/>
            <a:chExt cx="7592911" cy="1691983"/>
          </a:xfrm>
        </p:grpSpPr>
        <p:sp>
          <p:nvSpPr>
            <p:cNvPr name="Freeform 55" id="55"/>
            <p:cNvSpPr/>
            <p:nvPr/>
          </p:nvSpPr>
          <p:spPr>
            <a:xfrm flipH="false" flipV="false" rot="0">
              <a:off x="16891" y="16891"/>
              <a:ext cx="7559040" cy="1658112"/>
            </a:xfrm>
            <a:custGeom>
              <a:avLst/>
              <a:gdLst/>
              <a:ahLst/>
              <a:cxnLst/>
              <a:rect r="r" b="b" t="t" l="l"/>
              <a:pathLst>
                <a:path h="1658112" w="7559040">
                  <a:moveTo>
                    <a:pt x="0" y="0"/>
                  </a:moveTo>
                  <a:lnTo>
                    <a:pt x="7559040" y="0"/>
                  </a:lnTo>
                  <a:lnTo>
                    <a:pt x="7559040" y="1658112"/>
                  </a:lnTo>
                  <a:lnTo>
                    <a:pt x="0" y="1658112"/>
                  </a:lnTo>
                  <a:close/>
                </a:path>
              </a:pathLst>
            </a:custGeom>
            <a:solidFill>
              <a:srgbClr val="F8FCFD"/>
            </a:solidFill>
          </p:spPr>
        </p:sp>
        <p:sp>
          <p:nvSpPr>
            <p:cNvPr name="Freeform 56" id="56"/>
            <p:cNvSpPr/>
            <p:nvPr/>
          </p:nvSpPr>
          <p:spPr>
            <a:xfrm flipH="false" flipV="false" rot="0">
              <a:off x="0" y="0"/>
              <a:ext cx="7592822" cy="1691894"/>
            </a:xfrm>
            <a:custGeom>
              <a:avLst/>
              <a:gdLst/>
              <a:ahLst/>
              <a:cxnLst/>
              <a:rect r="r" b="b" t="t" l="l"/>
              <a:pathLst>
                <a:path h="1691894" w="7592822">
                  <a:moveTo>
                    <a:pt x="16891" y="0"/>
                  </a:moveTo>
                  <a:lnTo>
                    <a:pt x="7575931" y="0"/>
                  </a:lnTo>
                  <a:cubicBezTo>
                    <a:pt x="7585329" y="0"/>
                    <a:pt x="7592822" y="7620"/>
                    <a:pt x="7592822" y="16891"/>
                  </a:cubicBezTo>
                  <a:lnTo>
                    <a:pt x="7592822" y="1675003"/>
                  </a:lnTo>
                  <a:cubicBezTo>
                    <a:pt x="7592822" y="1684401"/>
                    <a:pt x="7585202" y="1691894"/>
                    <a:pt x="7575931" y="1691894"/>
                  </a:cubicBezTo>
                  <a:lnTo>
                    <a:pt x="16891" y="1691894"/>
                  </a:lnTo>
                  <a:cubicBezTo>
                    <a:pt x="7493" y="1691894"/>
                    <a:pt x="0" y="1684274"/>
                    <a:pt x="0" y="1675003"/>
                  </a:cubicBezTo>
                  <a:lnTo>
                    <a:pt x="0" y="16891"/>
                  </a:lnTo>
                  <a:cubicBezTo>
                    <a:pt x="0" y="7620"/>
                    <a:pt x="7620" y="0"/>
                    <a:pt x="16891" y="0"/>
                  </a:cubicBezTo>
                  <a:moveTo>
                    <a:pt x="16891" y="33909"/>
                  </a:moveTo>
                  <a:lnTo>
                    <a:pt x="16891" y="16891"/>
                  </a:lnTo>
                  <a:lnTo>
                    <a:pt x="33909" y="16891"/>
                  </a:lnTo>
                  <a:lnTo>
                    <a:pt x="33909" y="1675003"/>
                  </a:lnTo>
                  <a:lnTo>
                    <a:pt x="16891" y="1675003"/>
                  </a:lnTo>
                  <a:lnTo>
                    <a:pt x="16891" y="1658112"/>
                  </a:lnTo>
                  <a:lnTo>
                    <a:pt x="7575931" y="1658112"/>
                  </a:lnTo>
                  <a:lnTo>
                    <a:pt x="7575931" y="1675003"/>
                  </a:lnTo>
                  <a:lnTo>
                    <a:pt x="7559040" y="1675003"/>
                  </a:lnTo>
                  <a:lnTo>
                    <a:pt x="7559040" y="16891"/>
                  </a:lnTo>
                  <a:lnTo>
                    <a:pt x="7575931" y="16891"/>
                  </a:lnTo>
                  <a:lnTo>
                    <a:pt x="7575931" y="33909"/>
                  </a:lnTo>
                  <a:lnTo>
                    <a:pt x="16891" y="33909"/>
                  </a:lnTo>
                  <a:close/>
                </a:path>
              </a:pathLst>
            </a:custGeom>
            <a:solidFill>
              <a:srgbClr val="B2EBF2"/>
            </a:solidFill>
          </p:spPr>
        </p:sp>
      </p:grpSp>
      <p:grpSp>
        <p:nvGrpSpPr>
          <p:cNvPr name="Group 57" id="57"/>
          <p:cNvGrpSpPr/>
          <p:nvPr/>
        </p:nvGrpSpPr>
        <p:grpSpPr>
          <a:xfrm rot="0">
            <a:off x="12216384" y="8595360"/>
            <a:ext cx="1737360" cy="640080"/>
            <a:chOff x="0" y="0"/>
            <a:chExt cx="2316480" cy="853440"/>
          </a:xfrm>
        </p:grpSpPr>
        <p:sp>
          <p:nvSpPr>
            <p:cNvPr name="Freeform 58" id="58"/>
            <p:cNvSpPr/>
            <p:nvPr/>
          </p:nvSpPr>
          <p:spPr>
            <a:xfrm flipH="false" flipV="false" rot="0">
              <a:off x="0" y="0"/>
              <a:ext cx="2316480" cy="853440"/>
            </a:xfrm>
            <a:custGeom>
              <a:avLst/>
              <a:gdLst/>
              <a:ahLst/>
              <a:cxnLst/>
              <a:rect r="r" b="b" t="t" l="l"/>
              <a:pathLst>
                <a:path h="853440" w="2316480">
                  <a:moveTo>
                    <a:pt x="0" y="0"/>
                  </a:moveTo>
                  <a:lnTo>
                    <a:pt x="2316480" y="0"/>
                  </a:lnTo>
                  <a:lnTo>
                    <a:pt x="2316480" y="853440"/>
                  </a:lnTo>
                  <a:lnTo>
                    <a:pt x="0" y="853440"/>
                  </a:lnTo>
                  <a:close/>
                </a:path>
              </a:pathLst>
            </a:custGeom>
            <a:blipFill>
              <a:blip r:embed="rId2">
                <a:alphaModFix amt="0"/>
              </a:blip>
              <a:stretch>
                <a:fillRect l="0" t="-2887" r="0" b="-2887"/>
              </a:stretch>
            </a:blipFill>
          </p:spPr>
        </p:sp>
        <p:sp>
          <p:nvSpPr>
            <p:cNvPr name="TextBox 59" id="59"/>
            <p:cNvSpPr txBox="true"/>
            <p:nvPr/>
          </p:nvSpPr>
          <p:spPr>
            <a:xfrm>
              <a:off x="0" y="-66675"/>
              <a:ext cx="2316480" cy="920115"/>
            </a:xfrm>
            <a:prstGeom prst="rect">
              <a:avLst/>
            </a:prstGeom>
          </p:spPr>
          <p:txBody>
            <a:bodyPr anchor="ctr" rtlCol="false" tIns="0" lIns="0" bIns="0" rIns="0"/>
            <a:lstStyle/>
            <a:p>
              <a:pPr algn="l">
                <a:lnSpc>
                  <a:spcPts val="2639"/>
                </a:lnSpc>
              </a:pPr>
              <a:r>
                <a:rPr lang="en-US" sz="2199" b="true">
                  <a:solidFill>
                    <a:srgbClr val="DC2626"/>
                  </a:solidFill>
                  <a:latin typeface="Agrandir Narrow Bold"/>
                  <a:ea typeface="Agrandir Narrow Bold"/>
                  <a:cs typeface="Agrandir Narrow Bold"/>
                  <a:sym typeface="Agrandir Narrow Bold"/>
                </a:rPr>
                <a:t>&lt; 450</a:t>
              </a:r>
            </a:p>
          </p:txBody>
        </p:sp>
      </p:grpSp>
      <p:grpSp>
        <p:nvGrpSpPr>
          <p:cNvPr name="Group 60" id="60"/>
          <p:cNvGrpSpPr/>
          <p:nvPr/>
        </p:nvGrpSpPr>
        <p:grpSpPr>
          <a:xfrm rot="0">
            <a:off x="12216384" y="9162288"/>
            <a:ext cx="1737360" cy="512064"/>
            <a:chOff x="0" y="0"/>
            <a:chExt cx="2316480" cy="682752"/>
          </a:xfrm>
        </p:grpSpPr>
        <p:sp>
          <p:nvSpPr>
            <p:cNvPr name="Freeform 61" id="61"/>
            <p:cNvSpPr/>
            <p:nvPr/>
          </p:nvSpPr>
          <p:spPr>
            <a:xfrm flipH="false" flipV="false" rot="0">
              <a:off x="0" y="0"/>
              <a:ext cx="2316480" cy="682752"/>
            </a:xfrm>
            <a:custGeom>
              <a:avLst/>
              <a:gdLst/>
              <a:ahLst/>
              <a:cxnLst/>
              <a:rect r="r" b="b" t="t" l="l"/>
              <a:pathLst>
                <a:path h="682752" w="2316480">
                  <a:moveTo>
                    <a:pt x="0" y="0"/>
                  </a:moveTo>
                  <a:lnTo>
                    <a:pt x="2316480" y="0"/>
                  </a:lnTo>
                  <a:lnTo>
                    <a:pt x="2316480" y="682752"/>
                  </a:lnTo>
                  <a:lnTo>
                    <a:pt x="0" y="682752"/>
                  </a:lnTo>
                  <a:close/>
                </a:path>
              </a:pathLst>
            </a:custGeom>
            <a:blipFill>
              <a:blip r:embed="rId2">
                <a:alphaModFix amt="0"/>
              </a:blip>
              <a:stretch>
                <a:fillRect l="0" t="-16109" r="0" b="-16109"/>
              </a:stretch>
            </a:blipFill>
          </p:spPr>
        </p:sp>
        <p:sp>
          <p:nvSpPr>
            <p:cNvPr name="TextBox 62" id="62"/>
            <p:cNvSpPr txBox="true"/>
            <p:nvPr/>
          </p:nvSpPr>
          <p:spPr>
            <a:xfrm>
              <a:off x="0" y="-47625"/>
              <a:ext cx="2316480" cy="730377"/>
            </a:xfrm>
            <a:prstGeom prst="rect">
              <a:avLst/>
            </a:prstGeom>
          </p:spPr>
          <p:txBody>
            <a:bodyPr anchor="ctr" rtlCol="false" tIns="0" lIns="0" bIns="0" rIns="0"/>
            <a:lstStyle/>
            <a:p>
              <a:pPr algn="l">
                <a:lnSpc>
                  <a:spcPts val="2039"/>
                </a:lnSpc>
              </a:pPr>
              <a:r>
                <a:rPr lang="en-US" sz="1700">
                  <a:solidFill>
                    <a:srgbClr val="64748B"/>
                  </a:solidFill>
                  <a:latin typeface="Agrandir Narrow"/>
                  <a:ea typeface="Agrandir Narrow"/>
                  <a:cs typeface="Agrandir Narrow"/>
                  <a:sym typeface="Agrandir Narrow"/>
                </a:rPr>
                <a:t>Not Eligible</a:t>
              </a:r>
            </a:p>
          </p:txBody>
        </p:sp>
      </p:grpSp>
      <p:grpSp>
        <p:nvGrpSpPr>
          <p:cNvPr name="Group 63" id="63"/>
          <p:cNvGrpSpPr/>
          <p:nvPr/>
        </p:nvGrpSpPr>
        <p:grpSpPr>
          <a:xfrm rot="0">
            <a:off x="13990320" y="8778240"/>
            <a:ext cx="3566160" cy="822960"/>
            <a:chOff x="0" y="0"/>
            <a:chExt cx="4754880" cy="1097280"/>
          </a:xfrm>
        </p:grpSpPr>
        <p:sp>
          <p:nvSpPr>
            <p:cNvPr name="Freeform 64" id="64"/>
            <p:cNvSpPr/>
            <p:nvPr/>
          </p:nvSpPr>
          <p:spPr>
            <a:xfrm flipH="false" flipV="false" rot="0">
              <a:off x="0" y="0"/>
              <a:ext cx="4754880" cy="1097280"/>
            </a:xfrm>
            <a:custGeom>
              <a:avLst/>
              <a:gdLst/>
              <a:ahLst/>
              <a:cxnLst/>
              <a:rect r="r" b="b" t="t" l="l"/>
              <a:pathLst>
                <a:path h="1097280" w="4754880">
                  <a:moveTo>
                    <a:pt x="0" y="0"/>
                  </a:moveTo>
                  <a:lnTo>
                    <a:pt x="4754880" y="0"/>
                  </a:lnTo>
                  <a:lnTo>
                    <a:pt x="4754880" y="1097280"/>
                  </a:lnTo>
                  <a:lnTo>
                    <a:pt x="0" y="1097280"/>
                  </a:lnTo>
                  <a:close/>
                </a:path>
              </a:pathLst>
            </a:custGeom>
            <a:blipFill>
              <a:blip r:embed="rId2">
                <a:alphaModFix amt="0"/>
              </a:blip>
              <a:stretch>
                <a:fillRect l="0" t="-34435" r="0" b="-34435"/>
              </a:stretch>
            </a:blipFill>
          </p:spPr>
        </p:sp>
        <p:sp>
          <p:nvSpPr>
            <p:cNvPr name="TextBox 65" id="65"/>
            <p:cNvSpPr txBox="true"/>
            <p:nvPr/>
          </p:nvSpPr>
          <p:spPr>
            <a:xfrm>
              <a:off x="0" y="-76200"/>
              <a:ext cx="4754880" cy="1173480"/>
            </a:xfrm>
            <a:prstGeom prst="rect">
              <a:avLst/>
            </a:prstGeom>
          </p:spPr>
          <p:txBody>
            <a:bodyPr anchor="ctr" rtlCol="false" tIns="0" lIns="0" bIns="0" rIns="0"/>
            <a:lstStyle/>
            <a:p>
              <a:pPr algn="l">
                <a:lnSpc>
                  <a:spcPts val="3239"/>
                </a:lnSpc>
              </a:pPr>
              <a:r>
                <a:rPr lang="en-US" sz="2699">
                  <a:solidFill>
                    <a:srgbClr val="1E293B"/>
                  </a:solidFill>
                  <a:latin typeface="Agrandir Narrow"/>
                  <a:ea typeface="Agrandir Narrow"/>
                  <a:cs typeface="Agrandir Narrow"/>
                  <a:sym typeface="Agrandir Narrow"/>
                </a:rPr>
                <a:t>Improvement plan</a:t>
              </a:r>
            </a:p>
          </p:txBody>
        </p:sp>
      </p:grpSp>
      <p:grpSp>
        <p:nvGrpSpPr>
          <p:cNvPr name="Group 66" id="66"/>
          <p:cNvGrpSpPr/>
          <p:nvPr/>
        </p:nvGrpSpPr>
        <p:grpSpPr>
          <a:xfrm rot="0">
            <a:off x="640080" y="7680960"/>
            <a:ext cx="6620369" cy="548640"/>
            <a:chOff x="0" y="0"/>
            <a:chExt cx="8827159" cy="731520"/>
          </a:xfrm>
        </p:grpSpPr>
        <p:sp>
          <p:nvSpPr>
            <p:cNvPr name="Freeform 67" id="67"/>
            <p:cNvSpPr/>
            <p:nvPr/>
          </p:nvSpPr>
          <p:spPr>
            <a:xfrm flipH="false" flipV="false" rot="0">
              <a:off x="0" y="0"/>
              <a:ext cx="8827159" cy="731520"/>
            </a:xfrm>
            <a:custGeom>
              <a:avLst/>
              <a:gdLst/>
              <a:ahLst/>
              <a:cxnLst/>
              <a:rect r="r" b="b" t="t" l="l"/>
              <a:pathLst>
                <a:path h="731520" w="8827159">
                  <a:moveTo>
                    <a:pt x="0" y="0"/>
                  </a:moveTo>
                  <a:lnTo>
                    <a:pt x="8827159" y="0"/>
                  </a:lnTo>
                  <a:lnTo>
                    <a:pt x="8827159" y="731520"/>
                  </a:lnTo>
                  <a:lnTo>
                    <a:pt x="0" y="731520"/>
                  </a:lnTo>
                  <a:close/>
                </a:path>
              </a:pathLst>
            </a:custGeom>
            <a:blipFill>
              <a:blip r:embed="rId2">
                <a:alphaModFix amt="0"/>
              </a:blip>
              <a:stretch>
                <a:fillRect l="0" t="-339700" r="-65743" b="-339700"/>
              </a:stretch>
            </a:blipFill>
          </p:spPr>
        </p:sp>
        <p:sp>
          <p:nvSpPr>
            <p:cNvPr name="TextBox 68" id="68"/>
            <p:cNvSpPr txBox="true"/>
            <p:nvPr/>
          </p:nvSpPr>
          <p:spPr>
            <a:xfrm>
              <a:off x="0" y="-19050"/>
              <a:ext cx="8827159" cy="750570"/>
            </a:xfrm>
            <a:prstGeom prst="rect">
              <a:avLst/>
            </a:prstGeom>
          </p:spPr>
          <p:txBody>
            <a:bodyPr anchor="ctr" rtlCol="false" tIns="0" lIns="0" bIns="0" rIns="0"/>
            <a:lstStyle/>
            <a:p>
              <a:pPr algn="l">
                <a:lnSpc>
                  <a:spcPts val="2400"/>
                </a:lnSpc>
              </a:pPr>
              <a:r>
                <a:rPr lang="en-US" sz="2000" b="true">
                  <a:solidFill>
                    <a:srgbClr val="D97706"/>
                  </a:solidFill>
                  <a:latin typeface="Trebuchet MS Bold"/>
                  <a:ea typeface="Trebuchet MS Bold"/>
                  <a:cs typeface="Trebuchet MS Bold"/>
                  <a:sym typeface="Trebuchet MS Bold"/>
                </a:rPr>
                <a:t>Signal Conflict Flags</a:t>
              </a:r>
            </a:p>
          </p:txBody>
        </p:sp>
      </p:grpSp>
      <p:grpSp>
        <p:nvGrpSpPr>
          <p:cNvPr name="Group 69" id="69"/>
          <p:cNvGrpSpPr/>
          <p:nvPr/>
        </p:nvGrpSpPr>
        <p:grpSpPr>
          <a:xfrm rot="0">
            <a:off x="695250" y="8229600"/>
            <a:ext cx="10151232" cy="457200"/>
            <a:chOff x="0" y="0"/>
            <a:chExt cx="13534977" cy="609600"/>
          </a:xfrm>
        </p:grpSpPr>
        <p:sp>
          <p:nvSpPr>
            <p:cNvPr name="Freeform 70" id="70"/>
            <p:cNvSpPr/>
            <p:nvPr/>
          </p:nvSpPr>
          <p:spPr>
            <a:xfrm flipH="false" flipV="false" rot="0">
              <a:off x="0" y="0"/>
              <a:ext cx="13534977" cy="609600"/>
            </a:xfrm>
            <a:custGeom>
              <a:avLst/>
              <a:gdLst/>
              <a:ahLst/>
              <a:cxnLst/>
              <a:rect r="r" b="b" t="t" l="l"/>
              <a:pathLst>
                <a:path h="609600" w="13534977">
                  <a:moveTo>
                    <a:pt x="0" y="0"/>
                  </a:moveTo>
                  <a:lnTo>
                    <a:pt x="13534977" y="0"/>
                  </a:lnTo>
                  <a:lnTo>
                    <a:pt x="13534977" y="609600"/>
                  </a:lnTo>
                  <a:lnTo>
                    <a:pt x="0" y="609600"/>
                  </a:lnTo>
                  <a:close/>
                </a:path>
              </a:pathLst>
            </a:custGeom>
            <a:blipFill>
              <a:blip r:embed="rId2">
                <a:alphaModFix amt="0"/>
              </a:blip>
              <a:stretch>
                <a:fillRect l="0" t="-667049" r="-65743" b="-667049"/>
              </a:stretch>
            </a:blipFill>
          </p:spPr>
        </p:sp>
        <p:sp>
          <p:nvSpPr>
            <p:cNvPr name="TextBox 71" id="71"/>
            <p:cNvSpPr txBox="true"/>
            <p:nvPr/>
          </p:nvSpPr>
          <p:spPr>
            <a:xfrm>
              <a:off x="0" y="-47625"/>
              <a:ext cx="13534977" cy="657225"/>
            </a:xfrm>
            <a:prstGeom prst="rect">
              <a:avLst/>
            </a:prstGeom>
          </p:spPr>
          <p:txBody>
            <a:bodyPr anchor="ctr" rtlCol="false" tIns="0" lIns="0" bIns="0" rIns="0"/>
            <a:lstStyle/>
            <a:p>
              <a:pPr algn="l">
                <a:lnSpc>
                  <a:spcPts val="2280"/>
                </a:lnSpc>
              </a:pPr>
              <a:r>
                <a:rPr lang="en-US" sz="1900">
                  <a:solidFill>
                    <a:srgbClr val="334155"/>
                  </a:solidFill>
                  <a:latin typeface="Agrandir Narrow"/>
                  <a:ea typeface="Agrandir Narrow"/>
                  <a:cs typeface="Agrandir Narrow"/>
                  <a:sym typeface="Agrandir Narrow"/>
                </a:rPr>
                <a:t>⚑ Stable UPI income + high e-commerce return rate → Consolidator flags contradiction</a:t>
              </a:r>
            </a:p>
          </p:txBody>
        </p:sp>
      </p:grpSp>
      <p:grpSp>
        <p:nvGrpSpPr>
          <p:cNvPr name="Group 72" id="72"/>
          <p:cNvGrpSpPr/>
          <p:nvPr/>
        </p:nvGrpSpPr>
        <p:grpSpPr>
          <a:xfrm rot="0">
            <a:off x="695250" y="8686800"/>
            <a:ext cx="10151232" cy="457200"/>
            <a:chOff x="0" y="0"/>
            <a:chExt cx="13534977" cy="609600"/>
          </a:xfrm>
        </p:grpSpPr>
        <p:sp>
          <p:nvSpPr>
            <p:cNvPr name="Freeform 73" id="73"/>
            <p:cNvSpPr/>
            <p:nvPr/>
          </p:nvSpPr>
          <p:spPr>
            <a:xfrm flipH="false" flipV="false" rot="0">
              <a:off x="0" y="0"/>
              <a:ext cx="13534977" cy="609600"/>
            </a:xfrm>
            <a:custGeom>
              <a:avLst/>
              <a:gdLst/>
              <a:ahLst/>
              <a:cxnLst/>
              <a:rect r="r" b="b" t="t" l="l"/>
              <a:pathLst>
                <a:path h="609600" w="13534977">
                  <a:moveTo>
                    <a:pt x="0" y="0"/>
                  </a:moveTo>
                  <a:lnTo>
                    <a:pt x="13534977" y="0"/>
                  </a:lnTo>
                  <a:lnTo>
                    <a:pt x="13534977" y="609600"/>
                  </a:lnTo>
                  <a:lnTo>
                    <a:pt x="0" y="609600"/>
                  </a:lnTo>
                  <a:close/>
                </a:path>
              </a:pathLst>
            </a:custGeom>
            <a:blipFill>
              <a:blip r:embed="rId2">
                <a:alphaModFix amt="0"/>
              </a:blip>
              <a:stretch>
                <a:fillRect l="0" t="-667049" r="-65743" b="-667049"/>
              </a:stretch>
            </a:blipFill>
          </p:spPr>
        </p:sp>
        <p:sp>
          <p:nvSpPr>
            <p:cNvPr name="TextBox 74" id="74"/>
            <p:cNvSpPr txBox="true"/>
            <p:nvPr/>
          </p:nvSpPr>
          <p:spPr>
            <a:xfrm>
              <a:off x="0" y="-47625"/>
              <a:ext cx="13534977" cy="657225"/>
            </a:xfrm>
            <a:prstGeom prst="rect">
              <a:avLst/>
            </a:prstGeom>
          </p:spPr>
          <p:txBody>
            <a:bodyPr anchor="ctr" rtlCol="false" tIns="0" lIns="0" bIns="0" rIns="0"/>
            <a:lstStyle/>
            <a:p>
              <a:pPr algn="l">
                <a:lnSpc>
                  <a:spcPts val="2280"/>
                </a:lnSpc>
              </a:pPr>
              <a:r>
                <a:rPr lang="en-US" sz="1900">
                  <a:solidFill>
                    <a:srgbClr val="334155"/>
                  </a:solidFill>
                  <a:latin typeface="Agrandir Narrow"/>
                  <a:ea typeface="Agrandir Narrow"/>
                  <a:cs typeface="Agrandir Narrow"/>
                  <a:sym typeface="Agrandir Narrow"/>
                </a:rPr>
                <a:t>⚑ Unstable location + high questionnaire responsibility score → Tier 1 adjusts weight</a:t>
              </a:r>
            </a:p>
          </p:txBody>
        </p:sp>
      </p:grpSp>
      <p:grpSp>
        <p:nvGrpSpPr>
          <p:cNvPr name="Group 75" id="75"/>
          <p:cNvGrpSpPr/>
          <p:nvPr/>
        </p:nvGrpSpPr>
        <p:grpSpPr>
          <a:xfrm rot="0">
            <a:off x="695250" y="9144000"/>
            <a:ext cx="10151232" cy="457200"/>
            <a:chOff x="0" y="0"/>
            <a:chExt cx="13534977" cy="609600"/>
          </a:xfrm>
        </p:grpSpPr>
        <p:sp>
          <p:nvSpPr>
            <p:cNvPr name="Freeform 76" id="76"/>
            <p:cNvSpPr/>
            <p:nvPr/>
          </p:nvSpPr>
          <p:spPr>
            <a:xfrm flipH="false" flipV="false" rot="0">
              <a:off x="0" y="0"/>
              <a:ext cx="13534977" cy="609600"/>
            </a:xfrm>
            <a:custGeom>
              <a:avLst/>
              <a:gdLst/>
              <a:ahLst/>
              <a:cxnLst/>
              <a:rect r="r" b="b" t="t" l="l"/>
              <a:pathLst>
                <a:path h="609600" w="13534977">
                  <a:moveTo>
                    <a:pt x="0" y="0"/>
                  </a:moveTo>
                  <a:lnTo>
                    <a:pt x="13534977" y="0"/>
                  </a:lnTo>
                  <a:lnTo>
                    <a:pt x="13534977" y="609600"/>
                  </a:lnTo>
                  <a:lnTo>
                    <a:pt x="0" y="609600"/>
                  </a:lnTo>
                  <a:close/>
                </a:path>
              </a:pathLst>
            </a:custGeom>
            <a:blipFill>
              <a:blip r:embed="rId2">
                <a:alphaModFix amt="0"/>
              </a:blip>
              <a:stretch>
                <a:fillRect l="0" t="-667049" r="-65743" b="-667049"/>
              </a:stretch>
            </a:blipFill>
          </p:spPr>
        </p:sp>
        <p:sp>
          <p:nvSpPr>
            <p:cNvPr name="TextBox 77" id="77"/>
            <p:cNvSpPr txBox="true"/>
            <p:nvPr/>
          </p:nvSpPr>
          <p:spPr>
            <a:xfrm>
              <a:off x="0" y="-47625"/>
              <a:ext cx="13534977" cy="657225"/>
            </a:xfrm>
            <a:prstGeom prst="rect">
              <a:avLst/>
            </a:prstGeom>
          </p:spPr>
          <p:txBody>
            <a:bodyPr anchor="ctr" rtlCol="false" tIns="0" lIns="0" bIns="0" rIns="0"/>
            <a:lstStyle/>
            <a:p>
              <a:pPr algn="l">
                <a:lnSpc>
                  <a:spcPts val="2280"/>
                </a:lnSpc>
              </a:pPr>
              <a:r>
                <a:rPr lang="en-US" sz="1900">
                  <a:solidFill>
                    <a:srgbClr val="334155"/>
                  </a:solidFill>
                  <a:latin typeface="Agrandir Narrow"/>
                  <a:ea typeface="Agrandir Narrow"/>
                  <a:cs typeface="Agrandir Narrow"/>
                  <a:sym typeface="Agrandir Narrow"/>
                </a:rPr>
                <a:t>⚑ RBI wilful defaulter → score hard-capped at 200, no override</a:t>
              </a:r>
            </a:p>
          </p:txBody>
        </p:sp>
      </p:grpSp>
      <p:grpSp>
        <p:nvGrpSpPr>
          <p:cNvPr name="Group 78" id="78"/>
          <p:cNvGrpSpPr/>
          <p:nvPr/>
        </p:nvGrpSpPr>
        <p:grpSpPr>
          <a:xfrm rot="0">
            <a:off x="4578800" y="343268"/>
            <a:ext cx="9130401" cy="859641"/>
            <a:chOff x="0" y="0"/>
            <a:chExt cx="2404715" cy="226407"/>
          </a:xfrm>
        </p:grpSpPr>
        <p:sp>
          <p:nvSpPr>
            <p:cNvPr name="Freeform 79" id="79"/>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80" id="80"/>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81" id="81"/>
          <p:cNvSpPr txBox="true"/>
          <p:nvPr/>
        </p:nvSpPr>
        <p:spPr>
          <a:xfrm rot="0">
            <a:off x="7441518" y="355575"/>
            <a:ext cx="3404964" cy="793751"/>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Agrandir Narrow Bold"/>
                <a:ea typeface="Agrandir Narrow Bold"/>
                <a:cs typeface="Agrandir Narrow Bold"/>
                <a:sym typeface="Agrandir Narrow Bold"/>
              </a:rPr>
              <a:t>DATA PIPELINE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7988089" y="355575"/>
            <a:ext cx="2311822" cy="793751"/>
          </a:xfrm>
          <a:prstGeom prst="rect">
            <a:avLst/>
          </a:prstGeom>
        </p:spPr>
        <p:txBody>
          <a:bodyPr anchor="t" rtlCol="false" tIns="0" lIns="0" bIns="0" rIns="0">
            <a:spAutoFit/>
          </a:bodyPr>
          <a:lstStyle/>
          <a:p>
            <a:pPr algn="ctr">
              <a:lnSpc>
                <a:spcPts val="5599"/>
              </a:lnSpc>
              <a:spcBef>
                <a:spcPct val="0"/>
              </a:spcBef>
            </a:pPr>
            <a:r>
              <a:rPr lang="en-US" b="true" sz="3999">
                <a:solidFill>
                  <a:srgbClr val="FFFFFF"/>
                </a:solidFill>
                <a:latin typeface="Agrandir Narrow Bold"/>
                <a:ea typeface="Agrandir Narrow Bold"/>
                <a:cs typeface="Agrandir Narrow Bold"/>
                <a:sym typeface="Agrandir Narrow Bold"/>
              </a:rPr>
              <a:t>ML Engine</a:t>
            </a:r>
          </a:p>
        </p:txBody>
      </p:sp>
      <p:sp>
        <p:nvSpPr>
          <p:cNvPr name="TextBox 6" id="6"/>
          <p:cNvSpPr txBox="true"/>
          <p:nvPr/>
        </p:nvSpPr>
        <p:spPr>
          <a:xfrm rot="0">
            <a:off x="5174977" y="1318804"/>
            <a:ext cx="7938046" cy="498475"/>
          </a:xfrm>
          <a:prstGeom prst="rect">
            <a:avLst/>
          </a:prstGeom>
        </p:spPr>
        <p:txBody>
          <a:bodyPr anchor="t" rtlCol="false" tIns="0" lIns="0" bIns="0" rIns="0">
            <a:spAutoFit/>
          </a:bodyPr>
          <a:lstStyle/>
          <a:p>
            <a:pPr algn="ctr">
              <a:lnSpc>
                <a:spcPts val="3500"/>
              </a:lnSpc>
              <a:spcBef>
                <a:spcPct val="0"/>
              </a:spcBef>
            </a:pPr>
            <a:r>
              <a:rPr lang="en-US" b="true" sz="2500">
                <a:solidFill>
                  <a:srgbClr val="000000"/>
                </a:solidFill>
                <a:latin typeface="Agrandir Narrow Bold"/>
                <a:ea typeface="Agrandir Narrow Bold"/>
                <a:cs typeface="Agrandir Narrow Bold"/>
                <a:sym typeface="Agrandir Narrow Bold"/>
              </a:rPr>
              <a:t>Every Score Is Auditable. Every Rejection Has a Reason.</a:t>
            </a:r>
          </a:p>
        </p:txBody>
      </p:sp>
      <p:grpSp>
        <p:nvGrpSpPr>
          <p:cNvPr name="Group 7" id="7"/>
          <p:cNvGrpSpPr/>
          <p:nvPr/>
        </p:nvGrpSpPr>
        <p:grpSpPr>
          <a:xfrm rot="0">
            <a:off x="499367" y="2090423"/>
            <a:ext cx="5603243" cy="3683003"/>
            <a:chOff x="0" y="0"/>
            <a:chExt cx="7470991" cy="4910671"/>
          </a:xfrm>
        </p:grpSpPr>
        <p:sp>
          <p:nvSpPr>
            <p:cNvPr name="Freeform 8" id="8"/>
            <p:cNvSpPr/>
            <p:nvPr/>
          </p:nvSpPr>
          <p:spPr>
            <a:xfrm flipH="false" flipV="false" rot="0">
              <a:off x="16891" y="16891"/>
              <a:ext cx="7437120" cy="4876800"/>
            </a:xfrm>
            <a:custGeom>
              <a:avLst/>
              <a:gdLst/>
              <a:ahLst/>
              <a:cxnLst/>
              <a:rect r="r" b="b" t="t" l="l"/>
              <a:pathLst>
                <a:path h="4876800" w="7437120">
                  <a:moveTo>
                    <a:pt x="0" y="0"/>
                  </a:moveTo>
                  <a:lnTo>
                    <a:pt x="7437120" y="0"/>
                  </a:lnTo>
                  <a:lnTo>
                    <a:pt x="7437120" y="4876800"/>
                  </a:lnTo>
                  <a:lnTo>
                    <a:pt x="0" y="4876800"/>
                  </a:lnTo>
                  <a:close/>
                </a:path>
              </a:pathLst>
            </a:custGeom>
            <a:solidFill>
              <a:srgbClr val="F8FCFD"/>
            </a:solidFill>
          </p:spPr>
        </p:sp>
        <p:sp>
          <p:nvSpPr>
            <p:cNvPr name="Freeform 9" id="9"/>
            <p:cNvSpPr/>
            <p:nvPr/>
          </p:nvSpPr>
          <p:spPr>
            <a:xfrm flipH="false" flipV="false" rot="0">
              <a:off x="0" y="0"/>
              <a:ext cx="7470901" cy="4910582"/>
            </a:xfrm>
            <a:custGeom>
              <a:avLst/>
              <a:gdLst/>
              <a:ahLst/>
              <a:cxnLst/>
              <a:rect r="r" b="b" t="t" l="l"/>
              <a:pathLst>
                <a:path h="4910582" w="7470901">
                  <a:moveTo>
                    <a:pt x="16891" y="0"/>
                  </a:moveTo>
                  <a:lnTo>
                    <a:pt x="7454011" y="0"/>
                  </a:lnTo>
                  <a:cubicBezTo>
                    <a:pt x="7463409" y="0"/>
                    <a:pt x="7470901" y="7620"/>
                    <a:pt x="7470901" y="16891"/>
                  </a:cubicBezTo>
                  <a:lnTo>
                    <a:pt x="7470901" y="4893691"/>
                  </a:lnTo>
                  <a:cubicBezTo>
                    <a:pt x="7470901" y="4903089"/>
                    <a:pt x="7463282" y="4910582"/>
                    <a:pt x="745401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454011" y="4876800"/>
                  </a:lnTo>
                  <a:lnTo>
                    <a:pt x="7454011" y="4893691"/>
                  </a:lnTo>
                  <a:lnTo>
                    <a:pt x="7437120" y="4893691"/>
                  </a:lnTo>
                  <a:lnTo>
                    <a:pt x="7437120" y="16891"/>
                  </a:lnTo>
                  <a:lnTo>
                    <a:pt x="7454011" y="16891"/>
                  </a:lnTo>
                  <a:lnTo>
                    <a:pt x="7454011" y="33909"/>
                  </a:lnTo>
                  <a:lnTo>
                    <a:pt x="16891" y="33909"/>
                  </a:lnTo>
                  <a:close/>
                </a:path>
              </a:pathLst>
            </a:custGeom>
            <a:solidFill>
              <a:srgbClr val="B2EBF2"/>
            </a:solidFill>
          </p:spPr>
        </p:sp>
      </p:grpSp>
      <p:grpSp>
        <p:nvGrpSpPr>
          <p:cNvPr name="Group 10" id="10"/>
          <p:cNvGrpSpPr/>
          <p:nvPr/>
        </p:nvGrpSpPr>
        <p:grpSpPr>
          <a:xfrm rot="0">
            <a:off x="731520" y="2286000"/>
            <a:ext cx="5212080" cy="694944"/>
            <a:chOff x="0" y="0"/>
            <a:chExt cx="6949440" cy="926592"/>
          </a:xfrm>
        </p:grpSpPr>
        <p:sp>
          <p:nvSpPr>
            <p:cNvPr name="Freeform 11" id="11"/>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2">
                <a:alphaModFix amt="0"/>
              </a:blip>
              <a:stretch>
                <a:fillRect l="0" t="-96137" r="0" b="-96137"/>
              </a:stretch>
            </a:blipFill>
          </p:spPr>
        </p:sp>
        <p:sp>
          <p:nvSpPr>
            <p:cNvPr name="TextBox 12" id="12"/>
            <p:cNvSpPr txBox="true"/>
            <p:nvPr/>
          </p:nvSpPr>
          <p:spPr>
            <a:xfrm>
              <a:off x="0" y="-76200"/>
              <a:ext cx="6949440" cy="1002792"/>
            </a:xfrm>
            <a:prstGeom prst="rect">
              <a:avLst/>
            </a:prstGeom>
          </p:spPr>
          <p:txBody>
            <a:bodyPr anchor="ctr" rtlCol="false" tIns="0" lIns="0" bIns="0" rIns="0"/>
            <a:lstStyle/>
            <a:p>
              <a:pPr algn="l">
                <a:lnSpc>
                  <a:spcPts val="2879"/>
                </a:lnSpc>
              </a:pPr>
              <a:r>
                <a:rPr lang="en-US" b="true" sz="2400">
                  <a:solidFill>
                    <a:srgbClr val="000000"/>
                  </a:solidFill>
                  <a:latin typeface="Agrandir Narrow Bold"/>
                  <a:ea typeface="Agrandir Narrow Bold"/>
                  <a:cs typeface="Agrandir Narrow Bold"/>
                  <a:sym typeface="Agrandir Narrow Bold"/>
                </a:rPr>
                <a:t>Tier 1 — Zero History</a:t>
              </a:r>
            </a:p>
          </p:txBody>
        </p:sp>
      </p:grpSp>
      <p:grpSp>
        <p:nvGrpSpPr>
          <p:cNvPr name="Group 13" id="13"/>
          <p:cNvGrpSpPr/>
          <p:nvPr/>
        </p:nvGrpSpPr>
        <p:grpSpPr>
          <a:xfrm rot="0">
            <a:off x="731520" y="2980944"/>
            <a:ext cx="5212080" cy="2523744"/>
            <a:chOff x="0" y="0"/>
            <a:chExt cx="6949440" cy="3364992"/>
          </a:xfrm>
        </p:grpSpPr>
        <p:sp>
          <p:nvSpPr>
            <p:cNvPr name="Freeform 14" id="14"/>
            <p:cNvSpPr/>
            <p:nvPr/>
          </p:nvSpPr>
          <p:spPr>
            <a:xfrm flipH="false" flipV="false" rot="0">
              <a:off x="0" y="0"/>
              <a:ext cx="6949440" cy="3364992"/>
            </a:xfrm>
            <a:custGeom>
              <a:avLst/>
              <a:gdLst/>
              <a:ahLst/>
              <a:cxnLst/>
              <a:rect r="r" b="b" t="t" l="l"/>
              <a:pathLst>
                <a:path h="3364992" w="6949440">
                  <a:moveTo>
                    <a:pt x="0" y="0"/>
                  </a:moveTo>
                  <a:lnTo>
                    <a:pt x="6949440" y="0"/>
                  </a:lnTo>
                  <a:lnTo>
                    <a:pt x="6949440" y="3364992"/>
                  </a:lnTo>
                  <a:lnTo>
                    <a:pt x="0" y="3364992"/>
                  </a:lnTo>
                  <a:close/>
                </a:path>
              </a:pathLst>
            </a:custGeom>
            <a:blipFill>
              <a:blip r:embed="rId2">
                <a:alphaModFix amt="0"/>
              </a:blip>
              <a:stretch>
                <a:fillRect l="-12125" t="0" r="-12125" b="0"/>
              </a:stretch>
            </a:blipFill>
          </p:spPr>
        </p:sp>
        <p:sp>
          <p:nvSpPr>
            <p:cNvPr name="TextBox 15" id="15"/>
            <p:cNvSpPr txBox="true"/>
            <p:nvPr/>
          </p:nvSpPr>
          <p:spPr>
            <a:xfrm>
              <a:off x="0" y="-66675"/>
              <a:ext cx="6949440" cy="3431667"/>
            </a:xfrm>
            <a:prstGeom prst="rect">
              <a:avLst/>
            </a:prstGeom>
          </p:spPr>
          <p:txBody>
            <a:bodyPr anchor="ctr" rtlCol="false" tIns="0" lIns="0" bIns="0" rIns="0"/>
            <a:lstStyle/>
            <a:p>
              <a:pPr algn="l" marL="496569" indent="-248284" lvl="1">
                <a:lnSpc>
                  <a:spcPts val="2759"/>
                </a:lnSpc>
                <a:buFont typeface="Arial"/>
                <a:buChar char="•"/>
              </a:pPr>
              <a:r>
                <a:rPr lang="en-US" b="true" sz="2299">
                  <a:solidFill>
                    <a:srgbClr val="334155"/>
                  </a:solidFill>
                  <a:latin typeface="Agrandir Narrow Bold"/>
                  <a:ea typeface="Agrandir Narrow Bold"/>
                  <a:cs typeface="Agrandir Narrow Bold"/>
                  <a:sym typeface="Agrandir Narrow Bold"/>
                </a:rPr>
                <a:t>Trigger</a:t>
              </a:r>
              <a:r>
                <a:rPr lang="en-US" sz="2299">
                  <a:solidFill>
                    <a:srgbClr val="334155"/>
                  </a:solidFill>
                  <a:latin typeface="Agrandir Narrow"/>
                  <a:ea typeface="Agrandir Narrow"/>
                  <a:cs typeface="Agrandir Narrow"/>
                  <a:sym typeface="Agrandir Narrow"/>
                </a:rPr>
                <a:t>: No bank/UPI data</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Uses Telecom + Location + Questionnaire</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Simpler XGBoost, capped ceiling</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First-time borrowers still scored fairly</a:t>
              </a:r>
            </a:p>
          </p:txBody>
        </p:sp>
      </p:grpSp>
      <p:grpSp>
        <p:nvGrpSpPr>
          <p:cNvPr name="Group 16" id="16"/>
          <p:cNvGrpSpPr/>
          <p:nvPr/>
        </p:nvGrpSpPr>
        <p:grpSpPr>
          <a:xfrm rot="0">
            <a:off x="6388103" y="2090423"/>
            <a:ext cx="5603243" cy="3683003"/>
            <a:chOff x="0" y="0"/>
            <a:chExt cx="7470991" cy="4910671"/>
          </a:xfrm>
        </p:grpSpPr>
        <p:sp>
          <p:nvSpPr>
            <p:cNvPr name="Freeform 17" id="17"/>
            <p:cNvSpPr/>
            <p:nvPr/>
          </p:nvSpPr>
          <p:spPr>
            <a:xfrm flipH="false" flipV="false" rot="0">
              <a:off x="16891" y="16891"/>
              <a:ext cx="7437120" cy="4876800"/>
            </a:xfrm>
            <a:custGeom>
              <a:avLst/>
              <a:gdLst/>
              <a:ahLst/>
              <a:cxnLst/>
              <a:rect r="r" b="b" t="t" l="l"/>
              <a:pathLst>
                <a:path h="4876800" w="7437120">
                  <a:moveTo>
                    <a:pt x="0" y="0"/>
                  </a:moveTo>
                  <a:lnTo>
                    <a:pt x="7437120" y="0"/>
                  </a:lnTo>
                  <a:lnTo>
                    <a:pt x="7437120" y="4876800"/>
                  </a:lnTo>
                  <a:lnTo>
                    <a:pt x="0" y="4876800"/>
                  </a:lnTo>
                  <a:close/>
                </a:path>
              </a:pathLst>
            </a:custGeom>
            <a:solidFill>
              <a:srgbClr val="F8FCFD"/>
            </a:solidFill>
          </p:spPr>
        </p:sp>
        <p:sp>
          <p:nvSpPr>
            <p:cNvPr name="Freeform 18" id="18"/>
            <p:cNvSpPr/>
            <p:nvPr/>
          </p:nvSpPr>
          <p:spPr>
            <a:xfrm flipH="false" flipV="false" rot="0">
              <a:off x="0" y="0"/>
              <a:ext cx="7470901" cy="4910582"/>
            </a:xfrm>
            <a:custGeom>
              <a:avLst/>
              <a:gdLst/>
              <a:ahLst/>
              <a:cxnLst/>
              <a:rect r="r" b="b" t="t" l="l"/>
              <a:pathLst>
                <a:path h="4910582" w="7470901">
                  <a:moveTo>
                    <a:pt x="16891" y="0"/>
                  </a:moveTo>
                  <a:lnTo>
                    <a:pt x="7454011" y="0"/>
                  </a:lnTo>
                  <a:cubicBezTo>
                    <a:pt x="7463409" y="0"/>
                    <a:pt x="7470901" y="7620"/>
                    <a:pt x="7470901" y="16891"/>
                  </a:cubicBezTo>
                  <a:lnTo>
                    <a:pt x="7470901" y="4893691"/>
                  </a:lnTo>
                  <a:cubicBezTo>
                    <a:pt x="7470901" y="4903089"/>
                    <a:pt x="7463282" y="4910582"/>
                    <a:pt x="745401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454011" y="4876800"/>
                  </a:lnTo>
                  <a:lnTo>
                    <a:pt x="7454011" y="4893691"/>
                  </a:lnTo>
                  <a:lnTo>
                    <a:pt x="7437120" y="4893691"/>
                  </a:lnTo>
                  <a:lnTo>
                    <a:pt x="7437120" y="16891"/>
                  </a:lnTo>
                  <a:lnTo>
                    <a:pt x="7454011" y="16891"/>
                  </a:lnTo>
                  <a:lnTo>
                    <a:pt x="7454011" y="33909"/>
                  </a:lnTo>
                  <a:lnTo>
                    <a:pt x="16891" y="33909"/>
                  </a:lnTo>
                  <a:close/>
                </a:path>
              </a:pathLst>
            </a:custGeom>
            <a:solidFill>
              <a:srgbClr val="B2EBF2"/>
            </a:solidFill>
          </p:spPr>
        </p:sp>
      </p:grpSp>
      <p:grpSp>
        <p:nvGrpSpPr>
          <p:cNvPr name="Group 19" id="19"/>
          <p:cNvGrpSpPr/>
          <p:nvPr/>
        </p:nvGrpSpPr>
        <p:grpSpPr>
          <a:xfrm rot="0">
            <a:off x="6620256" y="2286000"/>
            <a:ext cx="5212080" cy="694944"/>
            <a:chOff x="0" y="0"/>
            <a:chExt cx="6949440" cy="926592"/>
          </a:xfrm>
        </p:grpSpPr>
        <p:sp>
          <p:nvSpPr>
            <p:cNvPr name="Freeform 20" id="20"/>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2">
                <a:alphaModFix amt="0"/>
              </a:blip>
              <a:stretch>
                <a:fillRect l="0" t="-96137" r="0" b="-96137"/>
              </a:stretch>
            </a:blipFill>
          </p:spPr>
        </p:sp>
        <p:sp>
          <p:nvSpPr>
            <p:cNvPr name="TextBox 21" id="21"/>
            <p:cNvSpPr txBox="true"/>
            <p:nvPr/>
          </p:nvSpPr>
          <p:spPr>
            <a:xfrm>
              <a:off x="0" y="-76200"/>
              <a:ext cx="6949440" cy="1002792"/>
            </a:xfrm>
            <a:prstGeom prst="rect">
              <a:avLst/>
            </a:prstGeom>
          </p:spPr>
          <p:txBody>
            <a:bodyPr anchor="ctr" rtlCol="false" tIns="0" lIns="0" bIns="0" rIns="0"/>
            <a:lstStyle/>
            <a:p>
              <a:pPr algn="l">
                <a:lnSpc>
                  <a:spcPts val="2879"/>
                </a:lnSpc>
              </a:pPr>
              <a:r>
                <a:rPr lang="en-US" b="true" sz="2400">
                  <a:solidFill>
                    <a:srgbClr val="000000"/>
                  </a:solidFill>
                  <a:latin typeface="Agrandir Narrow Bold"/>
                  <a:ea typeface="Agrandir Narrow Bold"/>
                  <a:cs typeface="Agrandir Narrow Bold"/>
                  <a:sym typeface="Agrandir Narrow Bold"/>
                </a:rPr>
                <a:t>Tier 2 — Digital Footprint</a:t>
              </a:r>
            </a:p>
          </p:txBody>
        </p:sp>
      </p:grpSp>
      <p:grpSp>
        <p:nvGrpSpPr>
          <p:cNvPr name="Group 22" id="22"/>
          <p:cNvGrpSpPr/>
          <p:nvPr/>
        </p:nvGrpSpPr>
        <p:grpSpPr>
          <a:xfrm rot="0">
            <a:off x="6620256" y="2980944"/>
            <a:ext cx="5212080" cy="2523744"/>
            <a:chOff x="0" y="0"/>
            <a:chExt cx="6949440" cy="3364992"/>
          </a:xfrm>
        </p:grpSpPr>
        <p:sp>
          <p:nvSpPr>
            <p:cNvPr name="Freeform 23" id="23"/>
            <p:cNvSpPr/>
            <p:nvPr/>
          </p:nvSpPr>
          <p:spPr>
            <a:xfrm flipH="false" flipV="false" rot="0">
              <a:off x="0" y="0"/>
              <a:ext cx="6949440" cy="3364992"/>
            </a:xfrm>
            <a:custGeom>
              <a:avLst/>
              <a:gdLst/>
              <a:ahLst/>
              <a:cxnLst/>
              <a:rect r="r" b="b" t="t" l="l"/>
              <a:pathLst>
                <a:path h="3364992" w="6949440">
                  <a:moveTo>
                    <a:pt x="0" y="0"/>
                  </a:moveTo>
                  <a:lnTo>
                    <a:pt x="6949440" y="0"/>
                  </a:lnTo>
                  <a:lnTo>
                    <a:pt x="6949440" y="3364992"/>
                  </a:lnTo>
                  <a:lnTo>
                    <a:pt x="0" y="3364992"/>
                  </a:lnTo>
                  <a:close/>
                </a:path>
              </a:pathLst>
            </a:custGeom>
            <a:blipFill>
              <a:blip r:embed="rId2">
                <a:alphaModFix amt="0"/>
              </a:blip>
              <a:stretch>
                <a:fillRect l="-12125" t="0" r="-12125" b="0"/>
              </a:stretch>
            </a:blipFill>
          </p:spPr>
        </p:sp>
        <p:sp>
          <p:nvSpPr>
            <p:cNvPr name="TextBox 24" id="24"/>
            <p:cNvSpPr txBox="true"/>
            <p:nvPr/>
          </p:nvSpPr>
          <p:spPr>
            <a:xfrm>
              <a:off x="0" y="-66675"/>
              <a:ext cx="6949440" cy="3431667"/>
            </a:xfrm>
            <a:prstGeom prst="rect">
              <a:avLst/>
            </a:prstGeom>
          </p:spPr>
          <p:txBody>
            <a:bodyPr anchor="ctr" rtlCol="false" tIns="0" lIns="0" bIns="0" rIns="0"/>
            <a:lstStyle/>
            <a:p>
              <a:pPr algn="l" marL="496569" indent="-248284" lvl="1">
                <a:lnSpc>
                  <a:spcPts val="2759"/>
                </a:lnSpc>
                <a:buFont typeface="Arial"/>
                <a:buChar char="•"/>
              </a:pPr>
              <a:r>
                <a:rPr lang="en-US" b="true" sz="2299">
                  <a:solidFill>
                    <a:srgbClr val="334155"/>
                  </a:solidFill>
                  <a:latin typeface="Agrandir Narrow Bold"/>
                  <a:ea typeface="Agrandir Narrow Bold"/>
                  <a:cs typeface="Agrandir Narrow Bold"/>
                  <a:sym typeface="Agrandir Narrow Bold"/>
                </a:rPr>
                <a:t>Trigger</a:t>
              </a:r>
              <a:r>
                <a:rPr lang="en-US" sz="2299">
                  <a:solidFill>
                    <a:srgbClr val="334155"/>
                  </a:solidFill>
                  <a:latin typeface="Agrandir Narrow"/>
                  <a:ea typeface="Agrandir Narrow"/>
                  <a:cs typeface="Agrandir Narrow"/>
                  <a:sym typeface="Agrandir Narrow"/>
                </a:rPr>
                <a:t>: UPI/bank/merchant data available</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All 6 workers feed the engine</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XGBoost + LightGBM run independently</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Weighted blend for max accuracy</a:t>
              </a:r>
            </a:p>
          </p:txBody>
        </p:sp>
      </p:grpSp>
      <p:grpSp>
        <p:nvGrpSpPr>
          <p:cNvPr name="Group 25" id="25"/>
          <p:cNvGrpSpPr/>
          <p:nvPr/>
        </p:nvGrpSpPr>
        <p:grpSpPr>
          <a:xfrm rot="0">
            <a:off x="12276839" y="2090423"/>
            <a:ext cx="5603243" cy="3683003"/>
            <a:chOff x="0" y="0"/>
            <a:chExt cx="7470991" cy="4910671"/>
          </a:xfrm>
        </p:grpSpPr>
        <p:sp>
          <p:nvSpPr>
            <p:cNvPr name="Freeform 26" id="26"/>
            <p:cNvSpPr/>
            <p:nvPr/>
          </p:nvSpPr>
          <p:spPr>
            <a:xfrm flipH="false" flipV="false" rot="0">
              <a:off x="16891" y="16891"/>
              <a:ext cx="7437120" cy="4876800"/>
            </a:xfrm>
            <a:custGeom>
              <a:avLst/>
              <a:gdLst/>
              <a:ahLst/>
              <a:cxnLst/>
              <a:rect r="r" b="b" t="t" l="l"/>
              <a:pathLst>
                <a:path h="4876800" w="7437120">
                  <a:moveTo>
                    <a:pt x="0" y="0"/>
                  </a:moveTo>
                  <a:lnTo>
                    <a:pt x="7437120" y="0"/>
                  </a:lnTo>
                  <a:lnTo>
                    <a:pt x="7437120" y="4876800"/>
                  </a:lnTo>
                  <a:lnTo>
                    <a:pt x="0" y="4876800"/>
                  </a:lnTo>
                  <a:close/>
                </a:path>
              </a:pathLst>
            </a:custGeom>
            <a:solidFill>
              <a:srgbClr val="F8FCFD"/>
            </a:solidFill>
          </p:spPr>
        </p:sp>
        <p:sp>
          <p:nvSpPr>
            <p:cNvPr name="Freeform 27" id="27"/>
            <p:cNvSpPr/>
            <p:nvPr/>
          </p:nvSpPr>
          <p:spPr>
            <a:xfrm flipH="false" flipV="false" rot="0">
              <a:off x="0" y="0"/>
              <a:ext cx="7470901" cy="4910582"/>
            </a:xfrm>
            <a:custGeom>
              <a:avLst/>
              <a:gdLst/>
              <a:ahLst/>
              <a:cxnLst/>
              <a:rect r="r" b="b" t="t" l="l"/>
              <a:pathLst>
                <a:path h="4910582" w="7470901">
                  <a:moveTo>
                    <a:pt x="16891" y="0"/>
                  </a:moveTo>
                  <a:lnTo>
                    <a:pt x="7454011" y="0"/>
                  </a:lnTo>
                  <a:cubicBezTo>
                    <a:pt x="7463409" y="0"/>
                    <a:pt x="7470901" y="7620"/>
                    <a:pt x="7470901" y="16891"/>
                  </a:cubicBezTo>
                  <a:lnTo>
                    <a:pt x="7470901" y="4893691"/>
                  </a:lnTo>
                  <a:cubicBezTo>
                    <a:pt x="7470901" y="4903089"/>
                    <a:pt x="7463282" y="4910582"/>
                    <a:pt x="745401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454011" y="4876800"/>
                  </a:lnTo>
                  <a:lnTo>
                    <a:pt x="7454011" y="4893691"/>
                  </a:lnTo>
                  <a:lnTo>
                    <a:pt x="7437120" y="4893691"/>
                  </a:lnTo>
                  <a:lnTo>
                    <a:pt x="7437120" y="16891"/>
                  </a:lnTo>
                  <a:lnTo>
                    <a:pt x="7454011" y="16891"/>
                  </a:lnTo>
                  <a:lnTo>
                    <a:pt x="7454011" y="33909"/>
                  </a:lnTo>
                  <a:lnTo>
                    <a:pt x="16891" y="33909"/>
                  </a:lnTo>
                  <a:close/>
                </a:path>
              </a:pathLst>
            </a:custGeom>
            <a:solidFill>
              <a:srgbClr val="B2EBF2"/>
            </a:solidFill>
          </p:spPr>
        </p:sp>
      </p:grpSp>
      <p:grpSp>
        <p:nvGrpSpPr>
          <p:cNvPr name="Group 28" id="28"/>
          <p:cNvGrpSpPr/>
          <p:nvPr/>
        </p:nvGrpSpPr>
        <p:grpSpPr>
          <a:xfrm rot="0">
            <a:off x="12508992" y="2286000"/>
            <a:ext cx="5212080" cy="694944"/>
            <a:chOff x="0" y="0"/>
            <a:chExt cx="6949440" cy="926592"/>
          </a:xfrm>
        </p:grpSpPr>
        <p:sp>
          <p:nvSpPr>
            <p:cNvPr name="Freeform 29" id="29"/>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2">
                <a:alphaModFix amt="0"/>
              </a:blip>
              <a:stretch>
                <a:fillRect l="0" t="-96137" r="0" b="-96137"/>
              </a:stretch>
            </a:blipFill>
          </p:spPr>
        </p:sp>
        <p:sp>
          <p:nvSpPr>
            <p:cNvPr name="TextBox 30" id="30"/>
            <p:cNvSpPr txBox="true"/>
            <p:nvPr/>
          </p:nvSpPr>
          <p:spPr>
            <a:xfrm>
              <a:off x="0" y="-76200"/>
              <a:ext cx="6949440" cy="1002792"/>
            </a:xfrm>
            <a:prstGeom prst="rect">
              <a:avLst/>
            </a:prstGeom>
          </p:spPr>
          <p:txBody>
            <a:bodyPr anchor="ctr" rtlCol="false" tIns="0" lIns="0" bIns="0" rIns="0"/>
            <a:lstStyle/>
            <a:p>
              <a:pPr algn="l">
                <a:lnSpc>
                  <a:spcPts val="2879"/>
                </a:lnSpc>
              </a:pPr>
              <a:r>
                <a:rPr lang="en-US" b="true" sz="2400">
                  <a:solidFill>
                    <a:srgbClr val="000000"/>
                  </a:solidFill>
                  <a:latin typeface="Agrandir Narrow Bold"/>
                  <a:ea typeface="Agrandir Narrow Bold"/>
                  <a:cs typeface="Agrandir Narrow Bold"/>
                  <a:sym typeface="Agrandir Narrow Bold"/>
                </a:rPr>
                <a:t>Isotonic Calibration</a:t>
              </a:r>
            </a:p>
          </p:txBody>
        </p:sp>
      </p:grpSp>
      <p:grpSp>
        <p:nvGrpSpPr>
          <p:cNvPr name="Group 31" id="31"/>
          <p:cNvGrpSpPr/>
          <p:nvPr/>
        </p:nvGrpSpPr>
        <p:grpSpPr>
          <a:xfrm rot="0">
            <a:off x="12508992" y="2980944"/>
            <a:ext cx="5212080" cy="2523744"/>
            <a:chOff x="0" y="0"/>
            <a:chExt cx="6949440" cy="3364992"/>
          </a:xfrm>
        </p:grpSpPr>
        <p:sp>
          <p:nvSpPr>
            <p:cNvPr name="Freeform 32" id="32"/>
            <p:cNvSpPr/>
            <p:nvPr/>
          </p:nvSpPr>
          <p:spPr>
            <a:xfrm flipH="false" flipV="false" rot="0">
              <a:off x="0" y="0"/>
              <a:ext cx="6949440" cy="3364992"/>
            </a:xfrm>
            <a:custGeom>
              <a:avLst/>
              <a:gdLst/>
              <a:ahLst/>
              <a:cxnLst/>
              <a:rect r="r" b="b" t="t" l="l"/>
              <a:pathLst>
                <a:path h="3364992" w="6949440">
                  <a:moveTo>
                    <a:pt x="0" y="0"/>
                  </a:moveTo>
                  <a:lnTo>
                    <a:pt x="6949440" y="0"/>
                  </a:lnTo>
                  <a:lnTo>
                    <a:pt x="6949440" y="3364992"/>
                  </a:lnTo>
                  <a:lnTo>
                    <a:pt x="0" y="3364992"/>
                  </a:lnTo>
                  <a:close/>
                </a:path>
              </a:pathLst>
            </a:custGeom>
            <a:blipFill>
              <a:blip r:embed="rId2">
                <a:alphaModFix amt="0"/>
              </a:blip>
              <a:stretch>
                <a:fillRect l="-12125" t="0" r="-12125" b="0"/>
              </a:stretch>
            </a:blipFill>
          </p:spPr>
        </p:sp>
        <p:sp>
          <p:nvSpPr>
            <p:cNvPr name="TextBox 33" id="33"/>
            <p:cNvSpPr txBox="true"/>
            <p:nvPr/>
          </p:nvSpPr>
          <p:spPr>
            <a:xfrm>
              <a:off x="0" y="-66675"/>
              <a:ext cx="6949440" cy="3431667"/>
            </a:xfrm>
            <a:prstGeom prst="rect">
              <a:avLst/>
            </a:prstGeom>
          </p:spPr>
          <p:txBody>
            <a:bodyPr anchor="ctr" rtlCol="false" tIns="0" lIns="0" bIns="0" rIns="0"/>
            <a:lstStyle/>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Converts raw output to true probability</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70% default risk = 70% historically</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Prevents over/underconfident predictions</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Score is trustworthy, not just a ranking</a:t>
              </a:r>
            </a:p>
          </p:txBody>
        </p:sp>
      </p:grpSp>
      <p:grpSp>
        <p:nvGrpSpPr>
          <p:cNvPr name="Group 34" id="34"/>
          <p:cNvGrpSpPr/>
          <p:nvPr/>
        </p:nvGrpSpPr>
        <p:grpSpPr>
          <a:xfrm rot="0">
            <a:off x="499367" y="6022343"/>
            <a:ext cx="5603243" cy="3683003"/>
            <a:chOff x="0" y="0"/>
            <a:chExt cx="7470991" cy="4910671"/>
          </a:xfrm>
        </p:grpSpPr>
        <p:sp>
          <p:nvSpPr>
            <p:cNvPr name="Freeform 35" id="35"/>
            <p:cNvSpPr/>
            <p:nvPr/>
          </p:nvSpPr>
          <p:spPr>
            <a:xfrm flipH="false" flipV="false" rot="0">
              <a:off x="16891" y="16891"/>
              <a:ext cx="7437120" cy="4876800"/>
            </a:xfrm>
            <a:custGeom>
              <a:avLst/>
              <a:gdLst/>
              <a:ahLst/>
              <a:cxnLst/>
              <a:rect r="r" b="b" t="t" l="l"/>
              <a:pathLst>
                <a:path h="4876800" w="7437120">
                  <a:moveTo>
                    <a:pt x="0" y="0"/>
                  </a:moveTo>
                  <a:lnTo>
                    <a:pt x="7437120" y="0"/>
                  </a:lnTo>
                  <a:lnTo>
                    <a:pt x="7437120" y="4876800"/>
                  </a:lnTo>
                  <a:lnTo>
                    <a:pt x="0" y="4876800"/>
                  </a:lnTo>
                  <a:close/>
                </a:path>
              </a:pathLst>
            </a:custGeom>
            <a:solidFill>
              <a:srgbClr val="F8FCFD"/>
            </a:solidFill>
          </p:spPr>
        </p:sp>
        <p:sp>
          <p:nvSpPr>
            <p:cNvPr name="Freeform 36" id="36"/>
            <p:cNvSpPr/>
            <p:nvPr/>
          </p:nvSpPr>
          <p:spPr>
            <a:xfrm flipH="false" flipV="false" rot="0">
              <a:off x="0" y="0"/>
              <a:ext cx="7470901" cy="4910582"/>
            </a:xfrm>
            <a:custGeom>
              <a:avLst/>
              <a:gdLst/>
              <a:ahLst/>
              <a:cxnLst/>
              <a:rect r="r" b="b" t="t" l="l"/>
              <a:pathLst>
                <a:path h="4910582" w="7470901">
                  <a:moveTo>
                    <a:pt x="16891" y="0"/>
                  </a:moveTo>
                  <a:lnTo>
                    <a:pt x="7454011" y="0"/>
                  </a:lnTo>
                  <a:cubicBezTo>
                    <a:pt x="7463409" y="0"/>
                    <a:pt x="7470901" y="7620"/>
                    <a:pt x="7470901" y="16891"/>
                  </a:cubicBezTo>
                  <a:lnTo>
                    <a:pt x="7470901" y="4893691"/>
                  </a:lnTo>
                  <a:cubicBezTo>
                    <a:pt x="7470901" y="4903089"/>
                    <a:pt x="7463282" y="4910582"/>
                    <a:pt x="745401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454011" y="4876800"/>
                  </a:lnTo>
                  <a:lnTo>
                    <a:pt x="7454011" y="4893691"/>
                  </a:lnTo>
                  <a:lnTo>
                    <a:pt x="7437120" y="4893691"/>
                  </a:lnTo>
                  <a:lnTo>
                    <a:pt x="7437120" y="16891"/>
                  </a:lnTo>
                  <a:lnTo>
                    <a:pt x="7454011" y="16891"/>
                  </a:lnTo>
                  <a:lnTo>
                    <a:pt x="7454011" y="33909"/>
                  </a:lnTo>
                  <a:lnTo>
                    <a:pt x="16891" y="33909"/>
                  </a:lnTo>
                  <a:close/>
                </a:path>
              </a:pathLst>
            </a:custGeom>
            <a:solidFill>
              <a:srgbClr val="B2EBF2"/>
            </a:solidFill>
          </p:spPr>
        </p:sp>
      </p:grpSp>
      <p:grpSp>
        <p:nvGrpSpPr>
          <p:cNvPr name="Group 37" id="37"/>
          <p:cNvGrpSpPr/>
          <p:nvPr/>
        </p:nvGrpSpPr>
        <p:grpSpPr>
          <a:xfrm rot="0">
            <a:off x="731520" y="6217920"/>
            <a:ext cx="5212080" cy="694944"/>
            <a:chOff x="0" y="0"/>
            <a:chExt cx="6949440" cy="926592"/>
          </a:xfrm>
        </p:grpSpPr>
        <p:sp>
          <p:nvSpPr>
            <p:cNvPr name="Freeform 38" id="38"/>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2">
                <a:alphaModFix amt="0"/>
              </a:blip>
              <a:stretch>
                <a:fillRect l="0" t="-96137" r="0" b="-96137"/>
              </a:stretch>
            </a:blipFill>
          </p:spPr>
        </p:sp>
        <p:sp>
          <p:nvSpPr>
            <p:cNvPr name="TextBox 39" id="39"/>
            <p:cNvSpPr txBox="true"/>
            <p:nvPr/>
          </p:nvSpPr>
          <p:spPr>
            <a:xfrm>
              <a:off x="0" y="-76200"/>
              <a:ext cx="6949440" cy="1002792"/>
            </a:xfrm>
            <a:prstGeom prst="rect">
              <a:avLst/>
            </a:prstGeom>
          </p:spPr>
          <p:txBody>
            <a:bodyPr anchor="ctr" rtlCol="false" tIns="0" lIns="0" bIns="0" rIns="0"/>
            <a:lstStyle/>
            <a:p>
              <a:pPr algn="l">
                <a:lnSpc>
                  <a:spcPts val="2879"/>
                </a:lnSpc>
              </a:pPr>
              <a:r>
                <a:rPr lang="en-US" b="true" sz="2400">
                  <a:solidFill>
                    <a:srgbClr val="000000"/>
                  </a:solidFill>
                  <a:latin typeface="Agrandir Narrow Bold"/>
                  <a:ea typeface="Agrandir Narrow Bold"/>
                  <a:cs typeface="Agrandir Narrow Bold"/>
                  <a:sym typeface="Agrandir Narrow Bold"/>
                </a:rPr>
                <a:t>Fairness Filter</a:t>
              </a:r>
            </a:p>
          </p:txBody>
        </p:sp>
      </p:grpSp>
      <p:grpSp>
        <p:nvGrpSpPr>
          <p:cNvPr name="Group 40" id="40"/>
          <p:cNvGrpSpPr/>
          <p:nvPr/>
        </p:nvGrpSpPr>
        <p:grpSpPr>
          <a:xfrm rot="0">
            <a:off x="731520" y="6912864"/>
            <a:ext cx="5212080" cy="2523744"/>
            <a:chOff x="0" y="0"/>
            <a:chExt cx="6949440" cy="3364992"/>
          </a:xfrm>
        </p:grpSpPr>
        <p:sp>
          <p:nvSpPr>
            <p:cNvPr name="Freeform 41" id="41"/>
            <p:cNvSpPr/>
            <p:nvPr/>
          </p:nvSpPr>
          <p:spPr>
            <a:xfrm flipH="false" flipV="false" rot="0">
              <a:off x="0" y="0"/>
              <a:ext cx="6949440" cy="3364992"/>
            </a:xfrm>
            <a:custGeom>
              <a:avLst/>
              <a:gdLst/>
              <a:ahLst/>
              <a:cxnLst/>
              <a:rect r="r" b="b" t="t" l="l"/>
              <a:pathLst>
                <a:path h="3364992" w="6949440">
                  <a:moveTo>
                    <a:pt x="0" y="0"/>
                  </a:moveTo>
                  <a:lnTo>
                    <a:pt x="6949440" y="0"/>
                  </a:lnTo>
                  <a:lnTo>
                    <a:pt x="6949440" y="3364992"/>
                  </a:lnTo>
                  <a:lnTo>
                    <a:pt x="0" y="3364992"/>
                  </a:lnTo>
                  <a:close/>
                </a:path>
              </a:pathLst>
            </a:custGeom>
            <a:blipFill>
              <a:blip r:embed="rId2">
                <a:alphaModFix amt="0"/>
              </a:blip>
              <a:stretch>
                <a:fillRect l="-12125" t="0" r="-12125" b="0"/>
              </a:stretch>
            </a:blipFill>
          </p:spPr>
        </p:sp>
        <p:sp>
          <p:nvSpPr>
            <p:cNvPr name="TextBox 42" id="42"/>
            <p:cNvSpPr txBox="true"/>
            <p:nvPr/>
          </p:nvSpPr>
          <p:spPr>
            <a:xfrm>
              <a:off x="0" y="-66675"/>
              <a:ext cx="6949440" cy="3431667"/>
            </a:xfrm>
            <a:prstGeom prst="rect">
              <a:avLst/>
            </a:prstGeom>
          </p:spPr>
          <p:txBody>
            <a:bodyPr anchor="ctr" rtlCol="false" tIns="0" lIns="0" bIns="0" rIns="0"/>
            <a:lstStyle/>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Remove gender, religion, caste pre-model</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Balanced training across demographics</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Post-score DIR audit: &lt;80% → red flag</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Score reflects behavior, not identity</a:t>
              </a:r>
            </a:p>
          </p:txBody>
        </p:sp>
      </p:grpSp>
      <p:grpSp>
        <p:nvGrpSpPr>
          <p:cNvPr name="Group 43" id="43"/>
          <p:cNvGrpSpPr/>
          <p:nvPr/>
        </p:nvGrpSpPr>
        <p:grpSpPr>
          <a:xfrm rot="0">
            <a:off x="6388103" y="6022343"/>
            <a:ext cx="5603243" cy="3683003"/>
            <a:chOff x="0" y="0"/>
            <a:chExt cx="7470991" cy="4910671"/>
          </a:xfrm>
        </p:grpSpPr>
        <p:sp>
          <p:nvSpPr>
            <p:cNvPr name="Freeform 44" id="44"/>
            <p:cNvSpPr/>
            <p:nvPr/>
          </p:nvSpPr>
          <p:spPr>
            <a:xfrm flipH="false" flipV="false" rot="0">
              <a:off x="16891" y="16891"/>
              <a:ext cx="7437120" cy="4876800"/>
            </a:xfrm>
            <a:custGeom>
              <a:avLst/>
              <a:gdLst/>
              <a:ahLst/>
              <a:cxnLst/>
              <a:rect r="r" b="b" t="t" l="l"/>
              <a:pathLst>
                <a:path h="4876800" w="7437120">
                  <a:moveTo>
                    <a:pt x="0" y="0"/>
                  </a:moveTo>
                  <a:lnTo>
                    <a:pt x="7437120" y="0"/>
                  </a:lnTo>
                  <a:lnTo>
                    <a:pt x="7437120" y="4876800"/>
                  </a:lnTo>
                  <a:lnTo>
                    <a:pt x="0" y="4876800"/>
                  </a:lnTo>
                  <a:close/>
                </a:path>
              </a:pathLst>
            </a:custGeom>
            <a:solidFill>
              <a:srgbClr val="F8FCFD"/>
            </a:solidFill>
          </p:spPr>
        </p:sp>
        <p:sp>
          <p:nvSpPr>
            <p:cNvPr name="Freeform 45" id="45"/>
            <p:cNvSpPr/>
            <p:nvPr/>
          </p:nvSpPr>
          <p:spPr>
            <a:xfrm flipH="false" flipV="false" rot="0">
              <a:off x="0" y="0"/>
              <a:ext cx="7470901" cy="4910582"/>
            </a:xfrm>
            <a:custGeom>
              <a:avLst/>
              <a:gdLst/>
              <a:ahLst/>
              <a:cxnLst/>
              <a:rect r="r" b="b" t="t" l="l"/>
              <a:pathLst>
                <a:path h="4910582" w="7470901">
                  <a:moveTo>
                    <a:pt x="16891" y="0"/>
                  </a:moveTo>
                  <a:lnTo>
                    <a:pt x="7454011" y="0"/>
                  </a:lnTo>
                  <a:cubicBezTo>
                    <a:pt x="7463409" y="0"/>
                    <a:pt x="7470901" y="7620"/>
                    <a:pt x="7470901" y="16891"/>
                  </a:cubicBezTo>
                  <a:lnTo>
                    <a:pt x="7470901" y="4893691"/>
                  </a:lnTo>
                  <a:cubicBezTo>
                    <a:pt x="7470901" y="4903089"/>
                    <a:pt x="7463282" y="4910582"/>
                    <a:pt x="7454011"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454011" y="4876800"/>
                  </a:lnTo>
                  <a:lnTo>
                    <a:pt x="7454011" y="4893691"/>
                  </a:lnTo>
                  <a:lnTo>
                    <a:pt x="7437120" y="4893691"/>
                  </a:lnTo>
                  <a:lnTo>
                    <a:pt x="7437120" y="16891"/>
                  </a:lnTo>
                  <a:lnTo>
                    <a:pt x="7454011" y="16891"/>
                  </a:lnTo>
                  <a:lnTo>
                    <a:pt x="7454011" y="33909"/>
                  </a:lnTo>
                  <a:lnTo>
                    <a:pt x="16891" y="33909"/>
                  </a:lnTo>
                  <a:close/>
                </a:path>
              </a:pathLst>
            </a:custGeom>
            <a:solidFill>
              <a:srgbClr val="B2EBF2"/>
            </a:solidFill>
          </p:spPr>
        </p:sp>
      </p:grpSp>
      <p:grpSp>
        <p:nvGrpSpPr>
          <p:cNvPr name="Group 46" id="46"/>
          <p:cNvGrpSpPr/>
          <p:nvPr/>
        </p:nvGrpSpPr>
        <p:grpSpPr>
          <a:xfrm rot="0">
            <a:off x="6620256" y="6217920"/>
            <a:ext cx="5212080" cy="694944"/>
            <a:chOff x="0" y="0"/>
            <a:chExt cx="6949440" cy="926592"/>
          </a:xfrm>
        </p:grpSpPr>
        <p:sp>
          <p:nvSpPr>
            <p:cNvPr name="Freeform 47" id="47"/>
            <p:cNvSpPr/>
            <p:nvPr/>
          </p:nvSpPr>
          <p:spPr>
            <a:xfrm flipH="false" flipV="false" rot="0">
              <a:off x="0" y="0"/>
              <a:ext cx="6949440" cy="926592"/>
            </a:xfrm>
            <a:custGeom>
              <a:avLst/>
              <a:gdLst/>
              <a:ahLst/>
              <a:cxnLst/>
              <a:rect r="r" b="b" t="t" l="l"/>
              <a:pathLst>
                <a:path h="926592" w="6949440">
                  <a:moveTo>
                    <a:pt x="0" y="0"/>
                  </a:moveTo>
                  <a:lnTo>
                    <a:pt x="6949440" y="0"/>
                  </a:lnTo>
                  <a:lnTo>
                    <a:pt x="6949440" y="926592"/>
                  </a:lnTo>
                  <a:lnTo>
                    <a:pt x="0" y="926592"/>
                  </a:lnTo>
                  <a:close/>
                </a:path>
              </a:pathLst>
            </a:custGeom>
            <a:blipFill>
              <a:blip r:embed="rId2">
                <a:alphaModFix amt="0"/>
              </a:blip>
              <a:stretch>
                <a:fillRect l="0" t="-96137" r="0" b="-96137"/>
              </a:stretch>
            </a:blipFill>
          </p:spPr>
        </p:sp>
        <p:sp>
          <p:nvSpPr>
            <p:cNvPr name="TextBox 48" id="48"/>
            <p:cNvSpPr txBox="true"/>
            <p:nvPr/>
          </p:nvSpPr>
          <p:spPr>
            <a:xfrm>
              <a:off x="0" y="-76200"/>
              <a:ext cx="6949440" cy="1002792"/>
            </a:xfrm>
            <a:prstGeom prst="rect">
              <a:avLst/>
            </a:prstGeom>
          </p:spPr>
          <p:txBody>
            <a:bodyPr anchor="ctr" rtlCol="false" tIns="0" lIns="0" bIns="0" rIns="0"/>
            <a:lstStyle/>
            <a:p>
              <a:pPr algn="l">
                <a:lnSpc>
                  <a:spcPts val="2879"/>
                </a:lnSpc>
              </a:pPr>
              <a:r>
                <a:rPr lang="en-US" b="true" sz="2400">
                  <a:solidFill>
                    <a:srgbClr val="000000"/>
                  </a:solidFill>
                  <a:latin typeface="Agrandir Narrow Bold"/>
                  <a:ea typeface="Agrandir Narrow Bold"/>
                  <a:cs typeface="Agrandir Narrow Bold"/>
                  <a:sym typeface="Agrandir Narrow Bold"/>
                </a:rPr>
                <a:t>Validation &amp; Rollback</a:t>
              </a:r>
            </a:p>
          </p:txBody>
        </p:sp>
      </p:grpSp>
      <p:grpSp>
        <p:nvGrpSpPr>
          <p:cNvPr name="Group 49" id="49"/>
          <p:cNvGrpSpPr/>
          <p:nvPr/>
        </p:nvGrpSpPr>
        <p:grpSpPr>
          <a:xfrm rot="0">
            <a:off x="6620256" y="6912864"/>
            <a:ext cx="5212080" cy="2523744"/>
            <a:chOff x="0" y="0"/>
            <a:chExt cx="6949440" cy="3364992"/>
          </a:xfrm>
        </p:grpSpPr>
        <p:sp>
          <p:nvSpPr>
            <p:cNvPr name="Freeform 50" id="50"/>
            <p:cNvSpPr/>
            <p:nvPr/>
          </p:nvSpPr>
          <p:spPr>
            <a:xfrm flipH="false" flipV="false" rot="0">
              <a:off x="0" y="0"/>
              <a:ext cx="6949440" cy="3364992"/>
            </a:xfrm>
            <a:custGeom>
              <a:avLst/>
              <a:gdLst/>
              <a:ahLst/>
              <a:cxnLst/>
              <a:rect r="r" b="b" t="t" l="l"/>
              <a:pathLst>
                <a:path h="3364992" w="6949440">
                  <a:moveTo>
                    <a:pt x="0" y="0"/>
                  </a:moveTo>
                  <a:lnTo>
                    <a:pt x="6949440" y="0"/>
                  </a:lnTo>
                  <a:lnTo>
                    <a:pt x="6949440" y="3364992"/>
                  </a:lnTo>
                  <a:lnTo>
                    <a:pt x="0" y="3364992"/>
                  </a:lnTo>
                  <a:close/>
                </a:path>
              </a:pathLst>
            </a:custGeom>
            <a:blipFill>
              <a:blip r:embed="rId2">
                <a:alphaModFix amt="0"/>
              </a:blip>
              <a:stretch>
                <a:fillRect l="-12125" t="0" r="-12125" b="0"/>
              </a:stretch>
            </a:blipFill>
          </p:spPr>
        </p:sp>
        <p:sp>
          <p:nvSpPr>
            <p:cNvPr name="TextBox 51" id="51"/>
            <p:cNvSpPr txBox="true"/>
            <p:nvPr/>
          </p:nvSpPr>
          <p:spPr>
            <a:xfrm>
              <a:off x="0" y="-66675"/>
              <a:ext cx="6949440" cy="3431667"/>
            </a:xfrm>
            <a:prstGeom prst="rect">
              <a:avLst/>
            </a:prstGeom>
          </p:spPr>
          <p:txBody>
            <a:bodyPr anchor="ctr" rtlCol="false" tIns="0" lIns="0" bIns="0" rIns="0"/>
            <a:lstStyle/>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Every model version tested on held-out data</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Deployed only if accuracy improves</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Previous version restored instantly if worse</a:t>
              </a:r>
            </a:p>
            <a:p>
              <a:pPr algn="l" marL="496569" indent="-248284" lvl="1">
                <a:lnSpc>
                  <a:spcPts val="2759"/>
                </a:lnSpc>
                <a:buFont typeface="Arial"/>
                <a:buChar char="•"/>
              </a:pPr>
              <a:r>
                <a:rPr lang="en-US" sz="2299">
                  <a:solidFill>
                    <a:srgbClr val="334155"/>
                  </a:solidFill>
                  <a:latin typeface="Agrandir Narrow"/>
                  <a:ea typeface="Agrandir Narrow"/>
                  <a:cs typeface="Agrandir Narrow"/>
                  <a:sym typeface="Agrandir Narrow"/>
                </a:rPr>
                <a:t>Model improves safely over time</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7003331" y="384150"/>
            <a:ext cx="4281339" cy="69215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Agrandir Narrow Bold"/>
                <a:ea typeface="Agrandir Narrow Bold"/>
                <a:cs typeface="Agrandir Narrow Bold"/>
                <a:sym typeface="Agrandir Narrow Bold"/>
              </a:rPr>
              <a:t>SHAP + Fairness Loop</a:t>
            </a:r>
          </a:p>
        </p:txBody>
      </p:sp>
      <p:grpSp>
        <p:nvGrpSpPr>
          <p:cNvPr name="Group 6" id="6"/>
          <p:cNvGrpSpPr/>
          <p:nvPr/>
        </p:nvGrpSpPr>
        <p:grpSpPr>
          <a:xfrm rot="0">
            <a:off x="640080" y="1371600"/>
            <a:ext cx="17007840" cy="822960"/>
            <a:chOff x="0" y="0"/>
            <a:chExt cx="22677120" cy="1097280"/>
          </a:xfrm>
        </p:grpSpPr>
        <p:sp>
          <p:nvSpPr>
            <p:cNvPr name="Freeform 7" id="7"/>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2">
                <a:alphaModFix amt="0"/>
              </a:blip>
              <a:stretch>
                <a:fillRect l="0" t="-352690" r="0" b="-352690"/>
              </a:stretch>
            </a:blipFill>
          </p:spPr>
        </p:sp>
        <p:sp>
          <p:nvSpPr>
            <p:cNvPr name="TextBox 8" id="8"/>
            <p:cNvSpPr txBox="true"/>
            <p:nvPr/>
          </p:nvSpPr>
          <p:spPr>
            <a:xfrm>
              <a:off x="0" y="-76200"/>
              <a:ext cx="22677120" cy="1173480"/>
            </a:xfrm>
            <a:prstGeom prst="rect">
              <a:avLst/>
            </a:prstGeom>
          </p:spPr>
          <p:txBody>
            <a:bodyPr anchor="ctr" rtlCol="false" tIns="0" lIns="0" bIns="0" rIns="0"/>
            <a:lstStyle/>
            <a:p>
              <a:pPr algn="l">
                <a:lnSpc>
                  <a:spcPts val="2879"/>
                </a:lnSpc>
              </a:pPr>
              <a:r>
                <a:rPr lang="en-US" b="true" sz="2400" i="true">
                  <a:solidFill>
                    <a:srgbClr val="015F6B"/>
                  </a:solidFill>
                  <a:latin typeface="Agrandir Narrow Bold Italics"/>
                  <a:ea typeface="Agrandir Narrow Bold Italics"/>
                  <a:cs typeface="Agrandir Narrow Bold Italics"/>
                  <a:sym typeface="Agrandir Narrow Bold Italics"/>
                </a:rPr>
                <a:t>Every decision is auditable, explainable, and RBI-compliant</a:t>
              </a:r>
            </a:p>
          </p:txBody>
        </p:sp>
      </p:grpSp>
      <p:grpSp>
        <p:nvGrpSpPr>
          <p:cNvPr name="Group 9" id="9"/>
          <p:cNvGrpSpPr/>
          <p:nvPr/>
        </p:nvGrpSpPr>
        <p:grpSpPr>
          <a:xfrm rot="0">
            <a:off x="640080" y="2157984"/>
            <a:ext cx="9509760" cy="640080"/>
            <a:chOff x="0" y="0"/>
            <a:chExt cx="12679680" cy="853440"/>
          </a:xfrm>
        </p:grpSpPr>
        <p:sp>
          <p:nvSpPr>
            <p:cNvPr name="Freeform 10" id="10"/>
            <p:cNvSpPr/>
            <p:nvPr/>
          </p:nvSpPr>
          <p:spPr>
            <a:xfrm flipH="false" flipV="false" rot="0">
              <a:off x="0" y="0"/>
              <a:ext cx="12679680" cy="853440"/>
            </a:xfrm>
            <a:custGeom>
              <a:avLst/>
              <a:gdLst/>
              <a:ahLst/>
              <a:cxnLst/>
              <a:rect r="r" b="b" t="t" l="l"/>
              <a:pathLst>
                <a:path h="853440" w="12679680">
                  <a:moveTo>
                    <a:pt x="0" y="0"/>
                  </a:moveTo>
                  <a:lnTo>
                    <a:pt x="12679680" y="0"/>
                  </a:lnTo>
                  <a:lnTo>
                    <a:pt x="12679680" y="853440"/>
                  </a:lnTo>
                  <a:lnTo>
                    <a:pt x="0" y="853440"/>
                  </a:lnTo>
                  <a:close/>
                </a:path>
              </a:pathLst>
            </a:custGeom>
            <a:blipFill>
              <a:blip r:embed="rId2">
                <a:alphaModFix amt="0"/>
              </a:blip>
              <a:stretch>
                <a:fillRect l="0" t="-239491" r="0" b="-239491"/>
              </a:stretch>
            </a:blipFill>
          </p:spPr>
        </p:sp>
        <p:sp>
          <p:nvSpPr>
            <p:cNvPr name="TextBox 11" id="11"/>
            <p:cNvSpPr txBox="true"/>
            <p:nvPr/>
          </p:nvSpPr>
          <p:spPr>
            <a:xfrm>
              <a:off x="0" y="-76200"/>
              <a:ext cx="12679680" cy="929640"/>
            </a:xfrm>
            <a:prstGeom prst="rect">
              <a:avLst/>
            </a:prstGeom>
          </p:spPr>
          <p:txBody>
            <a:bodyPr anchor="ctr" rtlCol="false" tIns="0" lIns="0" bIns="0" rIns="0"/>
            <a:lstStyle/>
            <a:p>
              <a:pPr algn="ctr">
                <a:lnSpc>
                  <a:spcPts val="2879"/>
                </a:lnSpc>
              </a:pPr>
              <a:r>
                <a:rPr lang="en-US" sz="2400" b="true">
                  <a:solidFill>
                    <a:srgbClr val="1E293B"/>
                  </a:solidFill>
                  <a:latin typeface="Agrandir Narrow Bold"/>
                  <a:ea typeface="Agrandir Narrow Bold"/>
                  <a:cs typeface="Agrandir Narrow Bold"/>
                  <a:sym typeface="Agrandir Narrow Bold"/>
                </a:rPr>
                <a:t>4 Score Outcomes</a:t>
              </a:r>
            </a:p>
          </p:txBody>
        </p:sp>
      </p:grpSp>
      <p:grpSp>
        <p:nvGrpSpPr>
          <p:cNvPr name="Group 12" id="12"/>
          <p:cNvGrpSpPr/>
          <p:nvPr/>
        </p:nvGrpSpPr>
        <p:grpSpPr>
          <a:xfrm rot="0">
            <a:off x="627383" y="2639063"/>
            <a:ext cx="9535163" cy="1525019"/>
            <a:chOff x="0" y="0"/>
            <a:chExt cx="12713551" cy="2033359"/>
          </a:xfrm>
        </p:grpSpPr>
        <p:sp>
          <p:nvSpPr>
            <p:cNvPr name="Freeform 13" id="13"/>
            <p:cNvSpPr/>
            <p:nvPr/>
          </p:nvSpPr>
          <p:spPr>
            <a:xfrm flipH="false" flipV="false" rot="0">
              <a:off x="16891" y="16891"/>
              <a:ext cx="12679681" cy="1999488"/>
            </a:xfrm>
            <a:custGeom>
              <a:avLst/>
              <a:gdLst/>
              <a:ahLst/>
              <a:cxnLst/>
              <a:rect r="r" b="b" t="t" l="l"/>
              <a:pathLst>
                <a:path h="1999488" w="12679681">
                  <a:moveTo>
                    <a:pt x="0" y="0"/>
                  </a:moveTo>
                  <a:lnTo>
                    <a:pt x="12679681" y="0"/>
                  </a:lnTo>
                  <a:lnTo>
                    <a:pt x="12679681" y="1999488"/>
                  </a:lnTo>
                  <a:lnTo>
                    <a:pt x="0" y="1999488"/>
                  </a:lnTo>
                  <a:close/>
                </a:path>
              </a:pathLst>
            </a:custGeom>
            <a:solidFill>
              <a:srgbClr val="F8FCFD"/>
            </a:solidFill>
          </p:spPr>
        </p:sp>
        <p:sp>
          <p:nvSpPr>
            <p:cNvPr name="Freeform 14" id="14"/>
            <p:cNvSpPr/>
            <p:nvPr/>
          </p:nvSpPr>
          <p:spPr>
            <a:xfrm flipH="false" flipV="false" rot="0">
              <a:off x="0" y="0"/>
              <a:ext cx="12713463" cy="2033270"/>
            </a:xfrm>
            <a:custGeom>
              <a:avLst/>
              <a:gdLst/>
              <a:ahLst/>
              <a:cxnLst/>
              <a:rect r="r" b="b" t="t" l="l"/>
              <a:pathLst>
                <a:path h="2033270" w="12713463">
                  <a:moveTo>
                    <a:pt x="16891" y="0"/>
                  </a:moveTo>
                  <a:lnTo>
                    <a:pt x="12696572" y="0"/>
                  </a:lnTo>
                  <a:cubicBezTo>
                    <a:pt x="12705969" y="0"/>
                    <a:pt x="12713463" y="7620"/>
                    <a:pt x="12713463" y="16891"/>
                  </a:cubicBezTo>
                  <a:lnTo>
                    <a:pt x="12713463" y="2016379"/>
                  </a:lnTo>
                  <a:cubicBezTo>
                    <a:pt x="12713463" y="2025777"/>
                    <a:pt x="12705842" y="2033270"/>
                    <a:pt x="126965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2696572" y="1999488"/>
                  </a:lnTo>
                  <a:lnTo>
                    <a:pt x="12696572" y="2016379"/>
                  </a:lnTo>
                  <a:lnTo>
                    <a:pt x="12679680" y="2016379"/>
                  </a:lnTo>
                  <a:lnTo>
                    <a:pt x="12679680" y="16891"/>
                  </a:lnTo>
                  <a:lnTo>
                    <a:pt x="12696572" y="16891"/>
                  </a:lnTo>
                  <a:lnTo>
                    <a:pt x="12696572" y="33909"/>
                  </a:lnTo>
                  <a:lnTo>
                    <a:pt x="16891" y="33909"/>
                  </a:lnTo>
                  <a:close/>
                </a:path>
              </a:pathLst>
            </a:custGeom>
            <a:solidFill>
              <a:srgbClr val="B2EBF2"/>
            </a:solidFill>
          </p:spPr>
        </p:sp>
      </p:grpSp>
      <p:grpSp>
        <p:nvGrpSpPr>
          <p:cNvPr name="Group 15" id="15"/>
          <p:cNvGrpSpPr/>
          <p:nvPr/>
        </p:nvGrpSpPr>
        <p:grpSpPr>
          <a:xfrm rot="0">
            <a:off x="914400" y="2706624"/>
            <a:ext cx="1828800" cy="585216"/>
            <a:chOff x="0" y="0"/>
            <a:chExt cx="2438400" cy="780288"/>
          </a:xfrm>
        </p:grpSpPr>
        <p:sp>
          <p:nvSpPr>
            <p:cNvPr name="Freeform 16" id="16"/>
            <p:cNvSpPr/>
            <p:nvPr/>
          </p:nvSpPr>
          <p:spPr>
            <a:xfrm flipH="false" flipV="false" rot="0">
              <a:off x="0" y="0"/>
              <a:ext cx="2438400" cy="780288"/>
            </a:xfrm>
            <a:custGeom>
              <a:avLst/>
              <a:gdLst/>
              <a:ahLst/>
              <a:cxnLst/>
              <a:rect r="r" b="b" t="t" l="l"/>
              <a:pathLst>
                <a:path h="780288" w="2438400">
                  <a:moveTo>
                    <a:pt x="0" y="0"/>
                  </a:moveTo>
                  <a:lnTo>
                    <a:pt x="2438400" y="0"/>
                  </a:lnTo>
                  <a:lnTo>
                    <a:pt x="2438400" y="780288"/>
                  </a:lnTo>
                  <a:lnTo>
                    <a:pt x="0" y="780288"/>
                  </a:lnTo>
                  <a:close/>
                </a:path>
              </a:pathLst>
            </a:custGeom>
            <a:blipFill>
              <a:blip r:embed="rId2">
                <a:alphaModFix amt="0"/>
              </a:blip>
              <a:stretch>
                <a:fillRect l="0" t="-10890" r="0" b="-10890"/>
              </a:stretch>
            </a:blipFill>
          </p:spPr>
        </p:sp>
        <p:sp>
          <p:nvSpPr>
            <p:cNvPr name="TextBox 17" id="17"/>
            <p:cNvSpPr txBox="true"/>
            <p:nvPr/>
          </p:nvSpPr>
          <p:spPr>
            <a:xfrm>
              <a:off x="0" y="-66675"/>
              <a:ext cx="2438400" cy="846963"/>
            </a:xfrm>
            <a:prstGeom prst="rect">
              <a:avLst/>
            </a:prstGeom>
          </p:spPr>
          <p:txBody>
            <a:bodyPr anchor="ctr" rtlCol="false" tIns="0" lIns="0" bIns="0" rIns="0"/>
            <a:lstStyle/>
            <a:p>
              <a:pPr algn="l">
                <a:lnSpc>
                  <a:spcPts val="2640"/>
                </a:lnSpc>
              </a:pPr>
              <a:r>
                <a:rPr lang="en-US" sz="2200" b="true">
                  <a:solidFill>
                    <a:srgbClr val="16A34A"/>
                  </a:solidFill>
                  <a:latin typeface="Agrandir Narrow Bold"/>
                  <a:ea typeface="Agrandir Narrow Bold"/>
                  <a:cs typeface="Agrandir Narrow Bold"/>
                  <a:sym typeface="Agrandir Narrow Bold"/>
                </a:rPr>
                <a:t>750–850</a:t>
              </a:r>
            </a:p>
          </p:txBody>
        </p:sp>
      </p:grpSp>
      <p:grpSp>
        <p:nvGrpSpPr>
          <p:cNvPr name="Group 18" id="18"/>
          <p:cNvGrpSpPr/>
          <p:nvPr/>
        </p:nvGrpSpPr>
        <p:grpSpPr>
          <a:xfrm rot="0">
            <a:off x="914400" y="3255264"/>
            <a:ext cx="1828800" cy="512064"/>
            <a:chOff x="0" y="0"/>
            <a:chExt cx="2438400" cy="682752"/>
          </a:xfrm>
        </p:grpSpPr>
        <p:sp>
          <p:nvSpPr>
            <p:cNvPr name="Freeform 19" id="19"/>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2">
                <a:alphaModFix amt="0"/>
              </a:blip>
              <a:stretch>
                <a:fillRect l="0" t="-19589" r="0" b="-19589"/>
              </a:stretch>
            </a:blipFill>
          </p:spPr>
        </p:sp>
        <p:sp>
          <p:nvSpPr>
            <p:cNvPr name="TextBox 20" id="20"/>
            <p:cNvSpPr txBox="true"/>
            <p:nvPr/>
          </p:nvSpPr>
          <p:spPr>
            <a:xfrm>
              <a:off x="0" y="-66675"/>
              <a:ext cx="2438400" cy="749427"/>
            </a:xfrm>
            <a:prstGeom prst="rect">
              <a:avLst/>
            </a:prstGeom>
          </p:spPr>
          <p:txBody>
            <a:bodyPr anchor="ctr" rtlCol="false" tIns="0" lIns="0" bIns="0" rIns="0"/>
            <a:lstStyle/>
            <a:p>
              <a:pPr algn="l">
                <a:lnSpc>
                  <a:spcPts val="2519"/>
                </a:lnSpc>
              </a:pPr>
              <a:r>
                <a:rPr lang="en-US" sz="2099">
                  <a:solidFill>
                    <a:srgbClr val="64748B"/>
                  </a:solidFill>
                  <a:latin typeface="Agrandir Narrow"/>
                  <a:ea typeface="Agrandir Narrow"/>
                  <a:cs typeface="Agrandir Narrow"/>
                  <a:sym typeface="Agrandir Narrow"/>
                </a:rPr>
                <a:t>Excellent</a:t>
              </a:r>
            </a:p>
          </p:txBody>
        </p:sp>
      </p:grpSp>
      <p:grpSp>
        <p:nvGrpSpPr>
          <p:cNvPr name="Group 21" id="21"/>
          <p:cNvGrpSpPr/>
          <p:nvPr/>
        </p:nvGrpSpPr>
        <p:grpSpPr>
          <a:xfrm rot="0">
            <a:off x="2834640" y="2743200"/>
            <a:ext cx="7040880" cy="1097280"/>
            <a:chOff x="0" y="0"/>
            <a:chExt cx="9387840" cy="1463040"/>
          </a:xfrm>
        </p:grpSpPr>
        <p:sp>
          <p:nvSpPr>
            <p:cNvPr name="Freeform 22" id="22"/>
            <p:cNvSpPr/>
            <p:nvPr/>
          </p:nvSpPr>
          <p:spPr>
            <a:xfrm flipH="false" flipV="false" rot="0">
              <a:off x="0" y="0"/>
              <a:ext cx="9387840" cy="1463040"/>
            </a:xfrm>
            <a:custGeom>
              <a:avLst/>
              <a:gdLst/>
              <a:ahLst/>
              <a:cxnLst/>
              <a:rect r="r" b="b" t="t" l="l"/>
              <a:pathLst>
                <a:path h="1463040" w="9387840">
                  <a:moveTo>
                    <a:pt x="0" y="0"/>
                  </a:moveTo>
                  <a:lnTo>
                    <a:pt x="9387840" y="0"/>
                  </a:lnTo>
                  <a:lnTo>
                    <a:pt x="9387840" y="1463040"/>
                  </a:lnTo>
                  <a:lnTo>
                    <a:pt x="0" y="1463040"/>
                  </a:lnTo>
                  <a:close/>
                </a:path>
              </a:pathLst>
            </a:custGeom>
            <a:blipFill>
              <a:blip r:embed="rId2">
                <a:alphaModFix amt="0"/>
              </a:blip>
              <a:stretch>
                <a:fillRect l="0" t="-75028" r="0" b="-75028"/>
              </a:stretch>
            </a:blipFill>
          </p:spPr>
        </p:sp>
        <p:sp>
          <p:nvSpPr>
            <p:cNvPr name="TextBox 23" id="23"/>
            <p:cNvSpPr txBox="true"/>
            <p:nvPr/>
          </p:nvSpPr>
          <p:spPr>
            <a:xfrm>
              <a:off x="0" y="-66675"/>
              <a:ext cx="9387840" cy="1529715"/>
            </a:xfrm>
            <a:prstGeom prst="rect">
              <a:avLst/>
            </a:prstGeom>
          </p:spPr>
          <p:txBody>
            <a:bodyPr anchor="ctr" rtlCol="false" tIns="0" lIns="0" bIns="0" rIns="0"/>
            <a:lstStyle/>
            <a:p>
              <a:pPr algn="l">
                <a:lnSpc>
                  <a:spcPts val="2999"/>
                </a:lnSpc>
              </a:pPr>
              <a:r>
                <a:rPr lang="en-US" sz="2499">
                  <a:solidFill>
                    <a:srgbClr val="334155"/>
                  </a:solidFill>
                  <a:latin typeface="Agrandir Narrow"/>
                  <a:ea typeface="Agrandir Narrow"/>
                  <a:cs typeface="Agrandir Narrow"/>
                  <a:sym typeface="Agrandir Narrow"/>
                </a:rPr>
                <a:t>Loan approved, best terms shown</a:t>
              </a:r>
            </a:p>
          </p:txBody>
        </p:sp>
      </p:grpSp>
      <p:grpSp>
        <p:nvGrpSpPr>
          <p:cNvPr name="Group 24" id="24"/>
          <p:cNvGrpSpPr/>
          <p:nvPr/>
        </p:nvGrpSpPr>
        <p:grpSpPr>
          <a:xfrm rot="0">
            <a:off x="627383" y="4376423"/>
            <a:ext cx="9535163" cy="1525019"/>
            <a:chOff x="0" y="0"/>
            <a:chExt cx="12713551" cy="2033359"/>
          </a:xfrm>
        </p:grpSpPr>
        <p:sp>
          <p:nvSpPr>
            <p:cNvPr name="Freeform 25" id="25"/>
            <p:cNvSpPr/>
            <p:nvPr/>
          </p:nvSpPr>
          <p:spPr>
            <a:xfrm flipH="false" flipV="false" rot="0">
              <a:off x="16891" y="16891"/>
              <a:ext cx="12679681" cy="1999488"/>
            </a:xfrm>
            <a:custGeom>
              <a:avLst/>
              <a:gdLst/>
              <a:ahLst/>
              <a:cxnLst/>
              <a:rect r="r" b="b" t="t" l="l"/>
              <a:pathLst>
                <a:path h="1999488" w="12679681">
                  <a:moveTo>
                    <a:pt x="0" y="0"/>
                  </a:moveTo>
                  <a:lnTo>
                    <a:pt x="12679681" y="0"/>
                  </a:lnTo>
                  <a:lnTo>
                    <a:pt x="12679681" y="1999488"/>
                  </a:lnTo>
                  <a:lnTo>
                    <a:pt x="0" y="1999488"/>
                  </a:lnTo>
                  <a:close/>
                </a:path>
              </a:pathLst>
            </a:custGeom>
            <a:solidFill>
              <a:srgbClr val="F8FCFD"/>
            </a:solidFill>
          </p:spPr>
        </p:sp>
        <p:sp>
          <p:nvSpPr>
            <p:cNvPr name="Freeform 26" id="26"/>
            <p:cNvSpPr/>
            <p:nvPr/>
          </p:nvSpPr>
          <p:spPr>
            <a:xfrm flipH="false" flipV="false" rot="0">
              <a:off x="0" y="0"/>
              <a:ext cx="12713463" cy="2033270"/>
            </a:xfrm>
            <a:custGeom>
              <a:avLst/>
              <a:gdLst/>
              <a:ahLst/>
              <a:cxnLst/>
              <a:rect r="r" b="b" t="t" l="l"/>
              <a:pathLst>
                <a:path h="2033270" w="12713463">
                  <a:moveTo>
                    <a:pt x="16891" y="0"/>
                  </a:moveTo>
                  <a:lnTo>
                    <a:pt x="12696572" y="0"/>
                  </a:lnTo>
                  <a:cubicBezTo>
                    <a:pt x="12705969" y="0"/>
                    <a:pt x="12713463" y="7620"/>
                    <a:pt x="12713463" y="16891"/>
                  </a:cubicBezTo>
                  <a:lnTo>
                    <a:pt x="12713463" y="2016379"/>
                  </a:lnTo>
                  <a:cubicBezTo>
                    <a:pt x="12713463" y="2025777"/>
                    <a:pt x="12705842" y="2033270"/>
                    <a:pt x="126965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2696572" y="1999488"/>
                  </a:lnTo>
                  <a:lnTo>
                    <a:pt x="12696572" y="2016379"/>
                  </a:lnTo>
                  <a:lnTo>
                    <a:pt x="12679680" y="2016379"/>
                  </a:lnTo>
                  <a:lnTo>
                    <a:pt x="12679680" y="16891"/>
                  </a:lnTo>
                  <a:lnTo>
                    <a:pt x="12696572" y="16891"/>
                  </a:lnTo>
                  <a:lnTo>
                    <a:pt x="12696572" y="33909"/>
                  </a:lnTo>
                  <a:lnTo>
                    <a:pt x="16891" y="33909"/>
                  </a:lnTo>
                  <a:close/>
                </a:path>
              </a:pathLst>
            </a:custGeom>
            <a:solidFill>
              <a:srgbClr val="B2EBF2"/>
            </a:solidFill>
          </p:spPr>
        </p:sp>
      </p:grpSp>
      <p:grpSp>
        <p:nvGrpSpPr>
          <p:cNvPr name="Group 27" id="27"/>
          <p:cNvGrpSpPr/>
          <p:nvPr/>
        </p:nvGrpSpPr>
        <p:grpSpPr>
          <a:xfrm rot="0">
            <a:off x="914400" y="4443984"/>
            <a:ext cx="1828800" cy="585216"/>
            <a:chOff x="0" y="0"/>
            <a:chExt cx="2438400" cy="780288"/>
          </a:xfrm>
        </p:grpSpPr>
        <p:sp>
          <p:nvSpPr>
            <p:cNvPr name="Freeform 28" id="28"/>
            <p:cNvSpPr/>
            <p:nvPr/>
          </p:nvSpPr>
          <p:spPr>
            <a:xfrm flipH="false" flipV="false" rot="0">
              <a:off x="0" y="0"/>
              <a:ext cx="2438400" cy="780288"/>
            </a:xfrm>
            <a:custGeom>
              <a:avLst/>
              <a:gdLst/>
              <a:ahLst/>
              <a:cxnLst/>
              <a:rect r="r" b="b" t="t" l="l"/>
              <a:pathLst>
                <a:path h="780288" w="2438400">
                  <a:moveTo>
                    <a:pt x="0" y="0"/>
                  </a:moveTo>
                  <a:lnTo>
                    <a:pt x="2438400" y="0"/>
                  </a:lnTo>
                  <a:lnTo>
                    <a:pt x="2438400" y="780288"/>
                  </a:lnTo>
                  <a:lnTo>
                    <a:pt x="0" y="780288"/>
                  </a:lnTo>
                  <a:close/>
                </a:path>
              </a:pathLst>
            </a:custGeom>
            <a:blipFill>
              <a:blip r:embed="rId2">
                <a:alphaModFix amt="0"/>
              </a:blip>
              <a:stretch>
                <a:fillRect l="0" t="-10890" r="0" b="-10890"/>
              </a:stretch>
            </a:blipFill>
          </p:spPr>
        </p:sp>
        <p:sp>
          <p:nvSpPr>
            <p:cNvPr name="TextBox 29" id="29"/>
            <p:cNvSpPr txBox="true"/>
            <p:nvPr/>
          </p:nvSpPr>
          <p:spPr>
            <a:xfrm>
              <a:off x="0" y="-66675"/>
              <a:ext cx="2438400" cy="846963"/>
            </a:xfrm>
            <a:prstGeom prst="rect">
              <a:avLst/>
            </a:prstGeom>
          </p:spPr>
          <p:txBody>
            <a:bodyPr anchor="ctr" rtlCol="false" tIns="0" lIns="0" bIns="0" rIns="0"/>
            <a:lstStyle/>
            <a:p>
              <a:pPr algn="l">
                <a:lnSpc>
                  <a:spcPts val="2640"/>
                </a:lnSpc>
              </a:pPr>
              <a:r>
                <a:rPr lang="en-US" sz="2200" b="true">
                  <a:solidFill>
                    <a:srgbClr val="2563EB"/>
                  </a:solidFill>
                  <a:latin typeface="Agrandir Narrow Bold"/>
                  <a:ea typeface="Agrandir Narrow Bold"/>
                  <a:cs typeface="Agrandir Narrow Bold"/>
                  <a:sym typeface="Agrandir Narrow Bold"/>
                </a:rPr>
                <a:t>650–749</a:t>
              </a:r>
            </a:p>
          </p:txBody>
        </p:sp>
      </p:grpSp>
      <p:grpSp>
        <p:nvGrpSpPr>
          <p:cNvPr name="Group 30" id="30"/>
          <p:cNvGrpSpPr/>
          <p:nvPr/>
        </p:nvGrpSpPr>
        <p:grpSpPr>
          <a:xfrm rot="0">
            <a:off x="914400" y="4992624"/>
            <a:ext cx="1828800" cy="512064"/>
            <a:chOff x="0" y="0"/>
            <a:chExt cx="2438400" cy="682752"/>
          </a:xfrm>
        </p:grpSpPr>
        <p:sp>
          <p:nvSpPr>
            <p:cNvPr name="Freeform 31" id="31"/>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2">
                <a:alphaModFix amt="0"/>
              </a:blip>
              <a:stretch>
                <a:fillRect l="0" t="-19589" r="0" b="-19589"/>
              </a:stretch>
            </a:blipFill>
          </p:spPr>
        </p:sp>
        <p:sp>
          <p:nvSpPr>
            <p:cNvPr name="TextBox 32" id="32"/>
            <p:cNvSpPr txBox="true"/>
            <p:nvPr/>
          </p:nvSpPr>
          <p:spPr>
            <a:xfrm>
              <a:off x="0" y="-66675"/>
              <a:ext cx="2438400" cy="749427"/>
            </a:xfrm>
            <a:prstGeom prst="rect">
              <a:avLst/>
            </a:prstGeom>
          </p:spPr>
          <p:txBody>
            <a:bodyPr anchor="ctr" rtlCol="false" tIns="0" lIns="0" bIns="0" rIns="0"/>
            <a:lstStyle/>
            <a:p>
              <a:pPr algn="l">
                <a:lnSpc>
                  <a:spcPts val="2519"/>
                </a:lnSpc>
              </a:pPr>
              <a:r>
                <a:rPr lang="en-US" sz="2099">
                  <a:solidFill>
                    <a:srgbClr val="64748B"/>
                  </a:solidFill>
                  <a:latin typeface="Agrandir Narrow"/>
                  <a:ea typeface="Agrandir Narrow"/>
                  <a:cs typeface="Agrandir Narrow"/>
                  <a:sym typeface="Agrandir Narrow"/>
                </a:rPr>
                <a:t>Good</a:t>
              </a:r>
            </a:p>
          </p:txBody>
        </p:sp>
      </p:grpSp>
      <p:grpSp>
        <p:nvGrpSpPr>
          <p:cNvPr name="Group 33" id="33"/>
          <p:cNvGrpSpPr/>
          <p:nvPr/>
        </p:nvGrpSpPr>
        <p:grpSpPr>
          <a:xfrm rot="0">
            <a:off x="2834640" y="4480560"/>
            <a:ext cx="7040880" cy="1097280"/>
            <a:chOff x="0" y="0"/>
            <a:chExt cx="9387840" cy="1463040"/>
          </a:xfrm>
        </p:grpSpPr>
        <p:sp>
          <p:nvSpPr>
            <p:cNvPr name="Freeform 34" id="34"/>
            <p:cNvSpPr/>
            <p:nvPr/>
          </p:nvSpPr>
          <p:spPr>
            <a:xfrm flipH="false" flipV="false" rot="0">
              <a:off x="0" y="0"/>
              <a:ext cx="9387840" cy="1463040"/>
            </a:xfrm>
            <a:custGeom>
              <a:avLst/>
              <a:gdLst/>
              <a:ahLst/>
              <a:cxnLst/>
              <a:rect r="r" b="b" t="t" l="l"/>
              <a:pathLst>
                <a:path h="1463040" w="9387840">
                  <a:moveTo>
                    <a:pt x="0" y="0"/>
                  </a:moveTo>
                  <a:lnTo>
                    <a:pt x="9387840" y="0"/>
                  </a:lnTo>
                  <a:lnTo>
                    <a:pt x="9387840" y="1463040"/>
                  </a:lnTo>
                  <a:lnTo>
                    <a:pt x="0" y="1463040"/>
                  </a:lnTo>
                  <a:close/>
                </a:path>
              </a:pathLst>
            </a:custGeom>
            <a:blipFill>
              <a:blip r:embed="rId2">
                <a:alphaModFix amt="0"/>
              </a:blip>
              <a:stretch>
                <a:fillRect l="0" t="-75028" r="0" b="-75028"/>
              </a:stretch>
            </a:blipFill>
          </p:spPr>
        </p:sp>
        <p:sp>
          <p:nvSpPr>
            <p:cNvPr name="TextBox 35" id="35"/>
            <p:cNvSpPr txBox="true"/>
            <p:nvPr/>
          </p:nvSpPr>
          <p:spPr>
            <a:xfrm>
              <a:off x="0" y="-66675"/>
              <a:ext cx="9387840" cy="1529715"/>
            </a:xfrm>
            <a:prstGeom prst="rect">
              <a:avLst/>
            </a:prstGeom>
          </p:spPr>
          <p:txBody>
            <a:bodyPr anchor="ctr" rtlCol="false" tIns="0" lIns="0" bIns="0" rIns="0"/>
            <a:lstStyle/>
            <a:p>
              <a:pPr algn="l">
                <a:lnSpc>
                  <a:spcPts val="2999"/>
                </a:lnSpc>
              </a:pPr>
              <a:r>
                <a:rPr lang="en-US" sz="2499">
                  <a:solidFill>
                    <a:srgbClr val="334155"/>
                  </a:solidFill>
                  <a:latin typeface="Agrandir Narrow"/>
                  <a:ea typeface="Agrandir Narrow"/>
                  <a:cs typeface="Agrandir Narrow"/>
                  <a:sym typeface="Agrandir Narrow"/>
                </a:rPr>
                <a:t>Standard loan offer presented</a:t>
              </a:r>
            </a:p>
          </p:txBody>
        </p:sp>
      </p:grpSp>
      <p:grpSp>
        <p:nvGrpSpPr>
          <p:cNvPr name="Group 36" id="36"/>
          <p:cNvGrpSpPr/>
          <p:nvPr/>
        </p:nvGrpSpPr>
        <p:grpSpPr>
          <a:xfrm rot="0">
            <a:off x="627383" y="6113783"/>
            <a:ext cx="9535163" cy="1525019"/>
            <a:chOff x="0" y="0"/>
            <a:chExt cx="12713551" cy="2033359"/>
          </a:xfrm>
        </p:grpSpPr>
        <p:sp>
          <p:nvSpPr>
            <p:cNvPr name="Freeform 37" id="37"/>
            <p:cNvSpPr/>
            <p:nvPr/>
          </p:nvSpPr>
          <p:spPr>
            <a:xfrm flipH="false" flipV="false" rot="0">
              <a:off x="16891" y="16891"/>
              <a:ext cx="12679681" cy="1999488"/>
            </a:xfrm>
            <a:custGeom>
              <a:avLst/>
              <a:gdLst/>
              <a:ahLst/>
              <a:cxnLst/>
              <a:rect r="r" b="b" t="t" l="l"/>
              <a:pathLst>
                <a:path h="1999488" w="12679681">
                  <a:moveTo>
                    <a:pt x="0" y="0"/>
                  </a:moveTo>
                  <a:lnTo>
                    <a:pt x="12679681" y="0"/>
                  </a:lnTo>
                  <a:lnTo>
                    <a:pt x="12679681" y="1999488"/>
                  </a:lnTo>
                  <a:lnTo>
                    <a:pt x="0" y="1999488"/>
                  </a:lnTo>
                  <a:close/>
                </a:path>
              </a:pathLst>
            </a:custGeom>
            <a:solidFill>
              <a:srgbClr val="F8FCFD"/>
            </a:solidFill>
          </p:spPr>
        </p:sp>
        <p:sp>
          <p:nvSpPr>
            <p:cNvPr name="Freeform 38" id="38"/>
            <p:cNvSpPr/>
            <p:nvPr/>
          </p:nvSpPr>
          <p:spPr>
            <a:xfrm flipH="false" flipV="false" rot="0">
              <a:off x="0" y="0"/>
              <a:ext cx="12713463" cy="2033270"/>
            </a:xfrm>
            <a:custGeom>
              <a:avLst/>
              <a:gdLst/>
              <a:ahLst/>
              <a:cxnLst/>
              <a:rect r="r" b="b" t="t" l="l"/>
              <a:pathLst>
                <a:path h="2033270" w="12713463">
                  <a:moveTo>
                    <a:pt x="16891" y="0"/>
                  </a:moveTo>
                  <a:lnTo>
                    <a:pt x="12696572" y="0"/>
                  </a:lnTo>
                  <a:cubicBezTo>
                    <a:pt x="12705969" y="0"/>
                    <a:pt x="12713463" y="7620"/>
                    <a:pt x="12713463" y="16891"/>
                  </a:cubicBezTo>
                  <a:lnTo>
                    <a:pt x="12713463" y="2016379"/>
                  </a:lnTo>
                  <a:cubicBezTo>
                    <a:pt x="12713463" y="2025777"/>
                    <a:pt x="12705842" y="2033270"/>
                    <a:pt x="126965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2696572" y="1999488"/>
                  </a:lnTo>
                  <a:lnTo>
                    <a:pt x="12696572" y="2016379"/>
                  </a:lnTo>
                  <a:lnTo>
                    <a:pt x="12679680" y="2016379"/>
                  </a:lnTo>
                  <a:lnTo>
                    <a:pt x="12679680" y="16891"/>
                  </a:lnTo>
                  <a:lnTo>
                    <a:pt x="12696572" y="16891"/>
                  </a:lnTo>
                  <a:lnTo>
                    <a:pt x="12696572" y="33909"/>
                  </a:lnTo>
                  <a:lnTo>
                    <a:pt x="16891" y="33909"/>
                  </a:lnTo>
                  <a:close/>
                </a:path>
              </a:pathLst>
            </a:custGeom>
            <a:solidFill>
              <a:srgbClr val="B2EBF2"/>
            </a:solidFill>
          </p:spPr>
        </p:sp>
      </p:grpSp>
      <p:grpSp>
        <p:nvGrpSpPr>
          <p:cNvPr name="Group 39" id="39"/>
          <p:cNvGrpSpPr/>
          <p:nvPr/>
        </p:nvGrpSpPr>
        <p:grpSpPr>
          <a:xfrm rot="0">
            <a:off x="914400" y="6181344"/>
            <a:ext cx="1828800" cy="585216"/>
            <a:chOff x="0" y="0"/>
            <a:chExt cx="2438400" cy="780288"/>
          </a:xfrm>
        </p:grpSpPr>
        <p:sp>
          <p:nvSpPr>
            <p:cNvPr name="Freeform 40" id="40"/>
            <p:cNvSpPr/>
            <p:nvPr/>
          </p:nvSpPr>
          <p:spPr>
            <a:xfrm flipH="false" flipV="false" rot="0">
              <a:off x="0" y="0"/>
              <a:ext cx="2438400" cy="780288"/>
            </a:xfrm>
            <a:custGeom>
              <a:avLst/>
              <a:gdLst/>
              <a:ahLst/>
              <a:cxnLst/>
              <a:rect r="r" b="b" t="t" l="l"/>
              <a:pathLst>
                <a:path h="780288" w="2438400">
                  <a:moveTo>
                    <a:pt x="0" y="0"/>
                  </a:moveTo>
                  <a:lnTo>
                    <a:pt x="2438400" y="0"/>
                  </a:lnTo>
                  <a:lnTo>
                    <a:pt x="2438400" y="780288"/>
                  </a:lnTo>
                  <a:lnTo>
                    <a:pt x="0" y="780288"/>
                  </a:lnTo>
                  <a:close/>
                </a:path>
              </a:pathLst>
            </a:custGeom>
            <a:blipFill>
              <a:blip r:embed="rId2">
                <a:alphaModFix amt="0"/>
              </a:blip>
              <a:stretch>
                <a:fillRect l="0" t="-10890" r="0" b="-10890"/>
              </a:stretch>
            </a:blipFill>
          </p:spPr>
        </p:sp>
        <p:sp>
          <p:nvSpPr>
            <p:cNvPr name="TextBox 41" id="41"/>
            <p:cNvSpPr txBox="true"/>
            <p:nvPr/>
          </p:nvSpPr>
          <p:spPr>
            <a:xfrm>
              <a:off x="0" y="-66675"/>
              <a:ext cx="2438400" cy="846963"/>
            </a:xfrm>
            <a:prstGeom prst="rect">
              <a:avLst/>
            </a:prstGeom>
          </p:spPr>
          <p:txBody>
            <a:bodyPr anchor="ctr" rtlCol="false" tIns="0" lIns="0" bIns="0" rIns="0"/>
            <a:lstStyle/>
            <a:p>
              <a:pPr algn="l">
                <a:lnSpc>
                  <a:spcPts val="2640"/>
                </a:lnSpc>
              </a:pPr>
              <a:r>
                <a:rPr lang="en-US" sz="2200" b="true">
                  <a:solidFill>
                    <a:srgbClr val="D97706"/>
                  </a:solidFill>
                  <a:latin typeface="Agrandir Narrow Bold"/>
                  <a:ea typeface="Agrandir Narrow Bold"/>
                  <a:cs typeface="Agrandir Narrow Bold"/>
                  <a:sym typeface="Agrandir Narrow Bold"/>
                </a:rPr>
                <a:t>550–649</a:t>
              </a:r>
            </a:p>
          </p:txBody>
        </p:sp>
      </p:grpSp>
      <p:grpSp>
        <p:nvGrpSpPr>
          <p:cNvPr name="Group 42" id="42"/>
          <p:cNvGrpSpPr/>
          <p:nvPr/>
        </p:nvGrpSpPr>
        <p:grpSpPr>
          <a:xfrm rot="0">
            <a:off x="914400" y="6729984"/>
            <a:ext cx="1828800" cy="512064"/>
            <a:chOff x="0" y="0"/>
            <a:chExt cx="2438400" cy="682752"/>
          </a:xfrm>
        </p:grpSpPr>
        <p:sp>
          <p:nvSpPr>
            <p:cNvPr name="Freeform 43" id="43"/>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2">
                <a:alphaModFix amt="0"/>
              </a:blip>
              <a:stretch>
                <a:fillRect l="0" t="-19589" r="0" b="-19589"/>
              </a:stretch>
            </a:blipFill>
          </p:spPr>
        </p:sp>
        <p:sp>
          <p:nvSpPr>
            <p:cNvPr name="TextBox 44" id="44"/>
            <p:cNvSpPr txBox="true"/>
            <p:nvPr/>
          </p:nvSpPr>
          <p:spPr>
            <a:xfrm>
              <a:off x="0" y="-66675"/>
              <a:ext cx="2438400" cy="749427"/>
            </a:xfrm>
            <a:prstGeom prst="rect">
              <a:avLst/>
            </a:prstGeom>
          </p:spPr>
          <p:txBody>
            <a:bodyPr anchor="ctr" rtlCol="false" tIns="0" lIns="0" bIns="0" rIns="0"/>
            <a:lstStyle/>
            <a:p>
              <a:pPr algn="l">
                <a:lnSpc>
                  <a:spcPts val="2519"/>
                </a:lnSpc>
              </a:pPr>
              <a:r>
                <a:rPr lang="en-US" sz="2099">
                  <a:solidFill>
                    <a:srgbClr val="64748B"/>
                  </a:solidFill>
                  <a:latin typeface="Agrandir Narrow"/>
                  <a:ea typeface="Agrandir Narrow"/>
                  <a:cs typeface="Agrandir Narrow"/>
                  <a:sym typeface="Agrandir Narrow"/>
                </a:rPr>
                <a:t>Fair</a:t>
              </a:r>
            </a:p>
          </p:txBody>
        </p:sp>
      </p:grpSp>
      <p:grpSp>
        <p:nvGrpSpPr>
          <p:cNvPr name="Group 45" id="45"/>
          <p:cNvGrpSpPr/>
          <p:nvPr/>
        </p:nvGrpSpPr>
        <p:grpSpPr>
          <a:xfrm rot="0">
            <a:off x="2834640" y="6217920"/>
            <a:ext cx="7040880" cy="1097280"/>
            <a:chOff x="0" y="0"/>
            <a:chExt cx="9387840" cy="1463040"/>
          </a:xfrm>
        </p:grpSpPr>
        <p:sp>
          <p:nvSpPr>
            <p:cNvPr name="Freeform 46" id="46"/>
            <p:cNvSpPr/>
            <p:nvPr/>
          </p:nvSpPr>
          <p:spPr>
            <a:xfrm flipH="false" flipV="false" rot="0">
              <a:off x="0" y="0"/>
              <a:ext cx="9387840" cy="1463040"/>
            </a:xfrm>
            <a:custGeom>
              <a:avLst/>
              <a:gdLst/>
              <a:ahLst/>
              <a:cxnLst/>
              <a:rect r="r" b="b" t="t" l="l"/>
              <a:pathLst>
                <a:path h="1463040" w="9387840">
                  <a:moveTo>
                    <a:pt x="0" y="0"/>
                  </a:moveTo>
                  <a:lnTo>
                    <a:pt x="9387840" y="0"/>
                  </a:lnTo>
                  <a:lnTo>
                    <a:pt x="9387840" y="1463040"/>
                  </a:lnTo>
                  <a:lnTo>
                    <a:pt x="0" y="1463040"/>
                  </a:lnTo>
                  <a:close/>
                </a:path>
              </a:pathLst>
            </a:custGeom>
            <a:blipFill>
              <a:blip r:embed="rId2">
                <a:alphaModFix amt="0"/>
              </a:blip>
              <a:stretch>
                <a:fillRect l="0" t="-75028" r="0" b="-75028"/>
              </a:stretch>
            </a:blipFill>
          </p:spPr>
        </p:sp>
        <p:sp>
          <p:nvSpPr>
            <p:cNvPr name="TextBox 47" id="47"/>
            <p:cNvSpPr txBox="true"/>
            <p:nvPr/>
          </p:nvSpPr>
          <p:spPr>
            <a:xfrm>
              <a:off x="0" y="-66675"/>
              <a:ext cx="9387840" cy="1529715"/>
            </a:xfrm>
            <a:prstGeom prst="rect">
              <a:avLst/>
            </a:prstGeom>
          </p:spPr>
          <p:txBody>
            <a:bodyPr anchor="ctr" rtlCol="false" tIns="0" lIns="0" bIns="0" rIns="0"/>
            <a:lstStyle/>
            <a:p>
              <a:pPr algn="l">
                <a:lnSpc>
                  <a:spcPts val="2999"/>
                </a:lnSpc>
              </a:pPr>
              <a:r>
                <a:rPr lang="en-US" sz="2499">
                  <a:solidFill>
                    <a:srgbClr val="334155"/>
                  </a:solidFill>
                  <a:latin typeface="Agrandir Narrow"/>
                  <a:ea typeface="Agrandir Narrow"/>
                  <a:cs typeface="Agrandir Narrow"/>
                  <a:sym typeface="Agrandir Narrow"/>
                </a:rPr>
                <a:t>Smaller loan, higher interest explained</a:t>
              </a:r>
            </a:p>
          </p:txBody>
        </p:sp>
      </p:grpSp>
      <p:grpSp>
        <p:nvGrpSpPr>
          <p:cNvPr name="Group 48" id="48"/>
          <p:cNvGrpSpPr/>
          <p:nvPr/>
        </p:nvGrpSpPr>
        <p:grpSpPr>
          <a:xfrm rot="0">
            <a:off x="627383" y="7851143"/>
            <a:ext cx="9535163" cy="1525019"/>
            <a:chOff x="0" y="0"/>
            <a:chExt cx="12713551" cy="2033359"/>
          </a:xfrm>
        </p:grpSpPr>
        <p:sp>
          <p:nvSpPr>
            <p:cNvPr name="Freeform 49" id="49"/>
            <p:cNvSpPr/>
            <p:nvPr/>
          </p:nvSpPr>
          <p:spPr>
            <a:xfrm flipH="false" flipV="false" rot="0">
              <a:off x="16891" y="16891"/>
              <a:ext cx="12679681" cy="1999488"/>
            </a:xfrm>
            <a:custGeom>
              <a:avLst/>
              <a:gdLst/>
              <a:ahLst/>
              <a:cxnLst/>
              <a:rect r="r" b="b" t="t" l="l"/>
              <a:pathLst>
                <a:path h="1999488" w="12679681">
                  <a:moveTo>
                    <a:pt x="0" y="0"/>
                  </a:moveTo>
                  <a:lnTo>
                    <a:pt x="12679681" y="0"/>
                  </a:lnTo>
                  <a:lnTo>
                    <a:pt x="12679681" y="1999488"/>
                  </a:lnTo>
                  <a:lnTo>
                    <a:pt x="0" y="1999488"/>
                  </a:lnTo>
                  <a:close/>
                </a:path>
              </a:pathLst>
            </a:custGeom>
            <a:solidFill>
              <a:srgbClr val="F8FCFD"/>
            </a:solidFill>
          </p:spPr>
        </p:sp>
        <p:sp>
          <p:nvSpPr>
            <p:cNvPr name="Freeform 50" id="50"/>
            <p:cNvSpPr/>
            <p:nvPr/>
          </p:nvSpPr>
          <p:spPr>
            <a:xfrm flipH="false" flipV="false" rot="0">
              <a:off x="0" y="0"/>
              <a:ext cx="12713463" cy="2033270"/>
            </a:xfrm>
            <a:custGeom>
              <a:avLst/>
              <a:gdLst/>
              <a:ahLst/>
              <a:cxnLst/>
              <a:rect r="r" b="b" t="t" l="l"/>
              <a:pathLst>
                <a:path h="2033270" w="12713463">
                  <a:moveTo>
                    <a:pt x="16891" y="0"/>
                  </a:moveTo>
                  <a:lnTo>
                    <a:pt x="12696572" y="0"/>
                  </a:lnTo>
                  <a:cubicBezTo>
                    <a:pt x="12705969" y="0"/>
                    <a:pt x="12713463" y="7620"/>
                    <a:pt x="12713463" y="16891"/>
                  </a:cubicBezTo>
                  <a:lnTo>
                    <a:pt x="12713463" y="2016379"/>
                  </a:lnTo>
                  <a:cubicBezTo>
                    <a:pt x="12713463" y="2025777"/>
                    <a:pt x="12705842" y="2033270"/>
                    <a:pt x="12696572" y="2033270"/>
                  </a:cubicBezTo>
                  <a:lnTo>
                    <a:pt x="16891" y="2033270"/>
                  </a:lnTo>
                  <a:cubicBezTo>
                    <a:pt x="7493" y="2033270"/>
                    <a:pt x="0" y="2025650"/>
                    <a:pt x="0" y="2016379"/>
                  </a:cubicBezTo>
                  <a:lnTo>
                    <a:pt x="0" y="16891"/>
                  </a:lnTo>
                  <a:cubicBezTo>
                    <a:pt x="0" y="7620"/>
                    <a:pt x="7620" y="0"/>
                    <a:pt x="16891" y="0"/>
                  </a:cubicBezTo>
                  <a:moveTo>
                    <a:pt x="16891" y="33909"/>
                  </a:moveTo>
                  <a:lnTo>
                    <a:pt x="16891" y="16891"/>
                  </a:lnTo>
                  <a:lnTo>
                    <a:pt x="33909" y="16891"/>
                  </a:lnTo>
                  <a:lnTo>
                    <a:pt x="33909" y="2016379"/>
                  </a:lnTo>
                  <a:lnTo>
                    <a:pt x="16891" y="2016379"/>
                  </a:lnTo>
                  <a:lnTo>
                    <a:pt x="16891" y="1999488"/>
                  </a:lnTo>
                  <a:lnTo>
                    <a:pt x="12696572" y="1999488"/>
                  </a:lnTo>
                  <a:lnTo>
                    <a:pt x="12696572" y="2016379"/>
                  </a:lnTo>
                  <a:lnTo>
                    <a:pt x="12679680" y="2016379"/>
                  </a:lnTo>
                  <a:lnTo>
                    <a:pt x="12679680" y="16891"/>
                  </a:lnTo>
                  <a:lnTo>
                    <a:pt x="12696572" y="16891"/>
                  </a:lnTo>
                  <a:lnTo>
                    <a:pt x="12696572" y="33909"/>
                  </a:lnTo>
                  <a:lnTo>
                    <a:pt x="16891" y="33909"/>
                  </a:lnTo>
                  <a:close/>
                </a:path>
              </a:pathLst>
            </a:custGeom>
            <a:solidFill>
              <a:srgbClr val="B2EBF2"/>
            </a:solidFill>
          </p:spPr>
        </p:sp>
      </p:grpSp>
      <p:grpSp>
        <p:nvGrpSpPr>
          <p:cNvPr name="Group 51" id="51"/>
          <p:cNvGrpSpPr/>
          <p:nvPr/>
        </p:nvGrpSpPr>
        <p:grpSpPr>
          <a:xfrm rot="0">
            <a:off x="914400" y="7918704"/>
            <a:ext cx="1828800" cy="585216"/>
            <a:chOff x="0" y="0"/>
            <a:chExt cx="2438400" cy="780288"/>
          </a:xfrm>
        </p:grpSpPr>
        <p:sp>
          <p:nvSpPr>
            <p:cNvPr name="Freeform 52" id="52"/>
            <p:cNvSpPr/>
            <p:nvPr/>
          </p:nvSpPr>
          <p:spPr>
            <a:xfrm flipH="false" flipV="false" rot="0">
              <a:off x="0" y="0"/>
              <a:ext cx="2438400" cy="780288"/>
            </a:xfrm>
            <a:custGeom>
              <a:avLst/>
              <a:gdLst/>
              <a:ahLst/>
              <a:cxnLst/>
              <a:rect r="r" b="b" t="t" l="l"/>
              <a:pathLst>
                <a:path h="780288" w="2438400">
                  <a:moveTo>
                    <a:pt x="0" y="0"/>
                  </a:moveTo>
                  <a:lnTo>
                    <a:pt x="2438400" y="0"/>
                  </a:lnTo>
                  <a:lnTo>
                    <a:pt x="2438400" y="780288"/>
                  </a:lnTo>
                  <a:lnTo>
                    <a:pt x="0" y="780288"/>
                  </a:lnTo>
                  <a:close/>
                </a:path>
              </a:pathLst>
            </a:custGeom>
            <a:blipFill>
              <a:blip r:embed="rId2">
                <a:alphaModFix amt="0"/>
              </a:blip>
              <a:stretch>
                <a:fillRect l="0" t="-10890" r="0" b="-10890"/>
              </a:stretch>
            </a:blipFill>
          </p:spPr>
        </p:sp>
        <p:sp>
          <p:nvSpPr>
            <p:cNvPr name="TextBox 53" id="53"/>
            <p:cNvSpPr txBox="true"/>
            <p:nvPr/>
          </p:nvSpPr>
          <p:spPr>
            <a:xfrm>
              <a:off x="0" y="-66675"/>
              <a:ext cx="2438400" cy="846963"/>
            </a:xfrm>
            <a:prstGeom prst="rect">
              <a:avLst/>
            </a:prstGeom>
          </p:spPr>
          <p:txBody>
            <a:bodyPr anchor="ctr" rtlCol="false" tIns="0" lIns="0" bIns="0" rIns="0"/>
            <a:lstStyle/>
            <a:p>
              <a:pPr algn="l">
                <a:lnSpc>
                  <a:spcPts val="2640"/>
                </a:lnSpc>
              </a:pPr>
              <a:r>
                <a:rPr lang="en-US" sz="2200" b="true">
                  <a:solidFill>
                    <a:srgbClr val="DC2626"/>
                  </a:solidFill>
                  <a:latin typeface="Agrandir Narrow Bold"/>
                  <a:ea typeface="Agrandir Narrow Bold"/>
                  <a:cs typeface="Agrandir Narrow Bold"/>
                  <a:sym typeface="Agrandir Narrow Bold"/>
                </a:rPr>
                <a:t>&lt; 550</a:t>
              </a:r>
            </a:p>
          </p:txBody>
        </p:sp>
      </p:grpSp>
      <p:grpSp>
        <p:nvGrpSpPr>
          <p:cNvPr name="Group 54" id="54"/>
          <p:cNvGrpSpPr/>
          <p:nvPr/>
        </p:nvGrpSpPr>
        <p:grpSpPr>
          <a:xfrm rot="0">
            <a:off x="914400" y="8467344"/>
            <a:ext cx="1828800" cy="512064"/>
            <a:chOff x="0" y="0"/>
            <a:chExt cx="2438400" cy="682752"/>
          </a:xfrm>
        </p:grpSpPr>
        <p:sp>
          <p:nvSpPr>
            <p:cNvPr name="Freeform 55" id="55"/>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2">
                <a:alphaModFix amt="0"/>
              </a:blip>
              <a:stretch>
                <a:fillRect l="0" t="-19589" r="0" b="-19589"/>
              </a:stretch>
            </a:blipFill>
          </p:spPr>
        </p:sp>
        <p:sp>
          <p:nvSpPr>
            <p:cNvPr name="TextBox 56" id="56"/>
            <p:cNvSpPr txBox="true"/>
            <p:nvPr/>
          </p:nvSpPr>
          <p:spPr>
            <a:xfrm>
              <a:off x="0" y="-47625"/>
              <a:ext cx="2438400" cy="730377"/>
            </a:xfrm>
            <a:prstGeom prst="rect">
              <a:avLst/>
            </a:prstGeom>
          </p:spPr>
          <p:txBody>
            <a:bodyPr anchor="ctr" rtlCol="false" tIns="0" lIns="0" bIns="0" rIns="0"/>
            <a:lstStyle/>
            <a:p>
              <a:pPr algn="l">
                <a:lnSpc>
                  <a:spcPts val="2039"/>
                </a:lnSpc>
              </a:pPr>
              <a:r>
                <a:rPr lang="en-US" sz="1700">
                  <a:solidFill>
                    <a:srgbClr val="64748B"/>
                  </a:solidFill>
                  <a:latin typeface="Agrandir Narrow"/>
                  <a:ea typeface="Agrandir Narrow"/>
                  <a:cs typeface="Agrandir Narrow"/>
                  <a:sym typeface="Agrandir Narrow"/>
                </a:rPr>
                <a:t>Poor / Not Eligible</a:t>
              </a:r>
            </a:p>
          </p:txBody>
        </p:sp>
      </p:grpSp>
      <p:grpSp>
        <p:nvGrpSpPr>
          <p:cNvPr name="Group 57" id="57"/>
          <p:cNvGrpSpPr/>
          <p:nvPr/>
        </p:nvGrpSpPr>
        <p:grpSpPr>
          <a:xfrm rot="0">
            <a:off x="2834640" y="7955280"/>
            <a:ext cx="7040880" cy="1097280"/>
            <a:chOff x="0" y="0"/>
            <a:chExt cx="9387840" cy="1463040"/>
          </a:xfrm>
        </p:grpSpPr>
        <p:sp>
          <p:nvSpPr>
            <p:cNvPr name="Freeform 58" id="58"/>
            <p:cNvSpPr/>
            <p:nvPr/>
          </p:nvSpPr>
          <p:spPr>
            <a:xfrm flipH="false" flipV="false" rot="0">
              <a:off x="0" y="0"/>
              <a:ext cx="9387840" cy="1463040"/>
            </a:xfrm>
            <a:custGeom>
              <a:avLst/>
              <a:gdLst/>
              <a:ahLst/>
              <a:cxnLst/>
              <a:rect r="r" b="b" t="t" l="l"/>
              <a:pathLst>
                <a:path h="1463040" w="9387840">
                  <a:moveTo>
                    <a:pt x="0" y="0"/>
                  </a:moveTo>
                  <a:lnTo>
                    <a:pt x="9387840" y="0"/>
                  </a:lnTo>
                  <a:lnTo>
                    <a:pt x="9387840" y="1463040"/>
                  </a:lnTo>
                  <a:lnTo>
                    <a:pt x="0" y="1463040"/>
                  </a:lnTo>
                  <a:close/>
                </a:path>
              </a:pathLst>
            </a:custGeom>
            <a:blipFill>
              <a:blip r:embed="rId2">
                <a:alphaModFix amt="0"/>
              </a:blip>
              <a:stretch>
                <a:fillRect l="0" t="-75028" r="0" b="-75028"/>
              </a:stretch>
            </a:blipFill>
          </p:spPr>
        </p:sp>
        <p:sp>
          <p:nvSpPr>
            <p:cNvPr name="TextBox 59" id="59"/>
            <p:cNvSpPr txBox="true"/>
            <p:nvPr/>
          </p:nvSpPr>
          <p:spPr>
            <a:xfrm>
              <a:off x="0" y="-66675"/>
              <a:ext cx="9387840" cy="1529715"/>
            </a:xfrm>
            <a:prstGeom prst="rect">
              <a:avLst/>
            </a:prstGeom>
          </p:spPr>
          <p:txBody>
            <a:bodyPr anchor="ctr" rtlCol="false" tIns="0" lIns="0" bIns="0" rIns="0"/>
            <a:lstStyle/>
            <a:p>
              <a:pPr algn="l">
                <a:lnSpc>
                  <a:spcPts val="2999"/>
                </a:lnSpc>
              </a:pPr>
              <a:r>
                <a:rPr lang="en-US" sz="2499">
                  <a:solidFill>
                    <a:srgbClr val="334155"/>
                  </a:solidFill>
                  <a:latin typeface="Agrandir Narrow"/>
                  <a:ea typeface="Agrandir Narrow"/>
                  <a:cs typeface="Agrandir Narrow"/>
                  <a:sym typeface="Agrandir Narrow"/>
                </a:rPr>
                <a:t>SHAP breakdown + 6-month improvement plan</a:t>
              </a:r>
            </a:p>
          </p:txBody>
        </p:sp>
      </p:grpSp>
      <p:grpSp>
        <p:nvGrpSpPr>
          <p:cNvPr name="Group 60" id="60"/>
          <p:cNvGrpSpPr/>
          <p:nvPr/>
        </p:nvGrpSpPr>
        <p:grpSpPr>
          <a:xfrm rot="0">
            <a:off x="10509252" y="1371600"/>
            <a:ext cx="25831" cy="8393944"/>
            <a:chOff x="0" y="0"/>
            <a:chExt cx="33871" cy="11006671"/>
          </a:xfrm>
        </p:grpSpPr>
        <p:sp>
          <p:nvSpPr>
            <p:cNvPr name="Freeform 61" id="61"/>
            <p:cNvSpPr/>
            <p:nvPr/>
          </p:nvSpPr>
          <p:spPr>
            <a:xfrm flipH="false" flipV="false" rot="0">
              <a:off x="0" y="16891"/>
              <a:ext cx="33909" cy="10972800"/>
            </a:xfrm>
            <a:custGeom>
              <a:avLst/>
              <a:gdLst/>
              <a:ahLst/>
              <a:cxnLst/>
              <a:rect r="r" b="b" t="t" l="l"/>
              <a:pathLst>
                <a:path h="10972800" w="33909">
                  <a:moveTo>
                    <a:pt x="33909" y="0"/>
                  </a:moveTo>
                  <a:lnTo>
                    <a:pt x="33909" y="10972800"/>
                  </a:lnTo>
                  <a:lnTo>
                    <a:pt x="0" y="10972800"/>
                  </a:lnTo>
                  <a:lnTo>
                    <a:pt x="0" y="0"/>
                  </a:lnTo>
                  <a:close/>
                </a:path>
              </a:pathLst>
            </a:custGeom>
            <a:solidFill>
              <a:srgbClr val="B2EBF2"/>
            </a:solidFill>
          </p:spPr>
        </p:sp>
      </p:grpSp>
      <p:grpSp>
        <p:nvGrpSpPr>
          <p:cNvPr name="Group 62" id="62"/>
          <p:cNvGrpSpPr/>
          <p:nvPr/>
        </p:nvGrpSpPr>
        <p:grpSpPr>
          <a:xfrm rot="0">
            <a:off x="10881360" y="1920240"/>
            <a:ext cx="6766560" cy="640080"/>
            <a:chOff x="0" y="0"/>
            <a:chExt cx="9022080" cy="853440"/>
          </a:xfrm>
        </p:grpSpPr>
        <p:sp>
          <p:nvSpPr>
            <p:cNvPr name="Freeform 63" id="63"/>
            <p:cNvSpPr/>
            <p:nvPr/>
          </p:nvSpPr>
          <p:spPr>
            <a:xfrm flipH="false" flipV="false" rot="0">
              <a:off x="0" y="0"/>
              <a:ext cx="9022080" cy="853440"/>
            </a:xfrm>
            <a:custGeom>
              <a:avLst/>
              <a:gdLst/>
              <a:ahLst/>
              <a:cxnLst/>
              <a:rect r="r" b="b" t="t" l="l"/>
              <a:pathLst>
                <a:path h="853440" w="9022080">
                  <a:moveTo>
                    <a:pt x="0" y="0"/>
                  </a:moveTo>
                  <a:lnTo>
                    <a:pt x="9022080" y="0"/>
                  </a:lnTo>
                  <a:lnTo>
                    <a:pt x="9022080" y="853440"/>
                  </a:lnTo>
                  <a:lnTo>
                    <a:pt x="0" y="853440"/>
                  </a:lnTo>
                  <a:close/>
                </a:path>
              </a:pathLst>
            </a:custGeom>
            <a:blipFill>
              <a:blip r:embed="rId2">
                <a:alphaModFix amt="0"/>
              </a:blip>
              <a:stretch>
                <a:fillRect l="0" t="-155984" r="0" b="-155984"/>
              </a:stretch>
            </a:blipFill>
          </p:spPr>
        </p:sp>
        <p:sp>
          <p:nvSpPr>
            <p:cNvPr name="TextBox 64" id="64"/>
            <p:cNvSpPr txBox="true"/>
            <p:nvPr/>
          </p:nvSpPr>
          <p:spPr>
            <a:xfrm>
              <a:off x="0" y="-76200"/>
              <a:ext cx="9022080" cy="929640"/>
            </a:xfrm>
            <a:prstGeom prst="rect">
              <a:avLst/>
            </a:prstGeom>
          </p:spPr>
          <p:txBody>
            <a:bodyPr anchor="ctr" rtlCol="false" tIns="0" lIns="0" bIns="0" rIns="0"/>
            <a:lstStyle/>
            <a:p>
              <a:pPr algn="ctr">
                <a:lnSpc>
                  <a:spcPts val="2879"/>
                </a:lnSpc>
              </a:pPr>
              <a:r>
                <a:rPr lang="en-US" sz="2400" b="true">
                  <a:solidFill>
                    <a:srgbClr val="1E293B"/>
                  </a:solidFill>
                  <a:latin typeface="Agrandir Narrow Bold"/>
                  <a:ea typeface="Agrandir Narrow Bold"/>
                  <a:cs typeface="Agrandir Narrow Bold"/>
                  <a:sym typeface="Agrandir Narrow Bold"/>
                </a:rPr>
                <a:t>Core Philosophy</a:t>
              </a:r>
            </a:p>
          </p:txBody>
        </p:sp>
      </p:grpSp>
      <p:grpSp>
        <p:nvGrpSpPr>
          <p:cNvPr name="Group 65" id="65"/>
          <p:cNvGrpSpPr/>
          <p:nvPr/>
        </p:nvGrpSpPr>
        <p:grpSpPr>
          <a:xfrm rot="0">
            <a:off x="11155680" y="2743200"/>
            <a:ext cx="6492240" cy="548640"/>
            <a:chOff x="0" y="0"/>
            <a:chExt cx="8656320" cy="731520"/>
          </a:xfrm>
        </p:grpSpPr>
        <p:sp>
          <p:nvSpPr>
            <p:cNvPr name="Freeform 66" id="66"/>
            <p:cNvSpPr/>
            <p:nvPr/>
          </p:nvSpPr>
          <p:spPr>
            <a:xfrm flipH="false" flipV="false" rot="0">
              <a:off x="0" y="0"/>
              <a:ext cx="8656320" cy="731520"/>
            </a:xfrm>
            <a:custGeom>
              <a:avLst/>
              <a:gdLst/>
              <a:ahLst/>
              <a:cxnLst/>
              <a:rect r="r" b="b" t="t" l="l"/>
              <a:pathLst>
                <a:path h="731520" w="8656320">
                  <a:moveTo>
                    <a:pt x="0" y="0"/>
                  </a:moveTo>
                  <a:lnTo>
                    <a:pt x="8656320" y="0"/>
                  </a:lnTo>
                  <a:lnTo>
                    <a:pt x="8656320" y="731520"/>
                  </a:lnTo>
                  <a:lnTo>
                    <a:pt x="0" y="731520"/>
                  </a:lnTo>
                  <a:close/>
                </a:path>
              </a:pathLst>
            </a:custGeom>
            <a:blipFill>
              <a:blip r:embed="rId2">
                <a:alphaModFix amt="0"/>
              </a:blip>
              <a:stretch>
                <a:fillRect l="0" t="-180572" r="0" b="-180572"/>
              </a:stretch>
            </a:blipFill>
          </p:spPr>
        </p:sp>
        <p:sp>
          <p:nvSpPr>
            <p:cNvPr name="TextBox 67" id="67"/>
            <p:cNvSpPr txBox="true"/>
            <p:nvPr/>
          </p:nvSpPr>
          <p:spPr>
            <a:xfrm>
              <a:off x="0" y="-66675"/>
              <a:ext cx="8656320" cy="798195"/>
            </a:xfrm>
            <a:prstGeom prst="rect">
              <a:avLst/>
            </a:prstGeom>
          </p:spPr>
          <p:txBody>
            <a:bodyPr anchor="ctr" rtlCol="false" tIns="0" lIns="0" bIns="0" rIns="0"/>
            <a:lstStyle/>
            <a:p>
              <a:pPr algn="l">
                <a:lnSpc>
                  <a:spcPts val="2520"/>
                </a:lnSpc>
              </a:pPr>
              <a:r>
                <a:rPr lang="en-US" sz="2100" b="true">
                  <a:solidFill>
                    <a:srgbClr val="028090"/>
                  </a:solidFill>
                  <a:latin typeface="Agrandir Narrow Bold"/>
                  <a:ea typeface="Agrandir Narrow Bold"/>
                  <a:cs typeface="Agrandir Narrow Bold"/>
                  <a:sym typeface="Agrandir Narrow Bold"/>
                </a:rPr>
                <a:t>SHAP Transparency</a:t>
              </a:r>
            </a:p>
          </p:txBody>
        </p:sp>
      </p:grpSp>
      <p:grpSp>
        <p:nvGrpSpPr>
          <p:cNvPr name="Group 68" id="68"/>
          <p:cNvGrpSpPr/>
          <p:nvPr/>
        </p:nvGrpSpPr>
        <p:grpSpPr>
          <a:xfrm rot="0">
            <a:off x="11155680" y="3102483"/>
            <a:ext cx="6492240" cy="950976"/>
            <a:chOff x="0" y="0"/>
            <a:chExt cx="8656320" cy="1267968"/>
          </a:xfrm>
        </p:grpSpPr>
        <p:sp>
          <p:nvSpPr>
            <p:cNvPr name="Freeform 69" id="69"/>
            <p:cNvSpPr/>
            <p:nvPr/>
          </p:nvSpPr>
          <p:spPr>
            <a:xfrm flipH="false" flipV="false" rot="0">
              <a:off x="0" y="0"/>
              <a:ext cx="8656320" cy="1267968"/>
            </a:xfrm>
            <a:custGeom>
              <a:avLst/>
              <a:gdLst/>
              <a:ahLst/>
              <a:cxnLst/>
              <a:rect r="r" b="b" t="t" l="l"/>
              <a:pathLst>
                <a:path h="1267968" w="8656320">
                  <a:moveTo>
                    <a:pt x="0" y="0"/>
                  </a:moveTo>
                  <a:lnTo>
                    <a:pt x="8656320" y="0"/>
                  </a:lnTo>
                  <a:lnTo>
                    <a:pt x="8656320" y="1267968"/>
                  </a:lnTo>
                  <a:lnTo>
                    <a:pt x="0" y="1267968"/>
                  </a:lnTo>
                  <a:close/>
                </a:path>
              </a:pathLst>
            </a:custGeom>
            <a:blipFill>
              <a:blip r:embed="rId2">
                <a:alphaModFix amt="0"/>
              </a:blip>
              <a:stretch>
                <a:fillRect l="0" t="-83022" r="0" b="-83022"/>
              </a:stretch>
            </a:blipFill>
          </p:spPr>
        </p:sp>
        <p:sp>
          <p:nvSpPr>
            <p:cNvPr name="TextBox 70" id="70"/>
            <p:cNvSpPr txBox="true"/>
            <p:nvPr/>
          </p:nvSpPr>
          <p:spPr>
            <a:xfrm>
              <a:off x="0" y="-66675"/>
              <a:ext cx="8656320" cy="1334643"/>
            </a:xfrm>
            <a:prstGeom prst="rect">
              <a:avLst/>
            </a:prstGeom>
          </p:spPr>
          <p:txBody>
            <a:bodyPr anchor="ctr" rtlCol="false" tIns="0" lIns="0" bIns="0" rIns="0"/>
            <a:lstStyle/>
            <a:p>
              <a:pPr algn="l">
                <a:lnSpc>
                  <a:spcPts val="2520"/>
                </a:lnSpc>
              </a:pPr>
              <a:r>
                <a:rPr lang="en-US" sz="2100">
                  <a:solidFill>
                    <a:srgbClr val="334155"/>
                  </a:solidFill>
                  <a:latin typeface="Agrandir Narrow"/>
                  <a:ea typeface="Agrandir Narrow"/>
                  <a:cs typeface="Agrandir Narrow"/>
                  <a:sym typeface="Agrandir Narrow"/>
                </a:rPr>
                <a:t>Every signal's contribution is shown in plain language — positive and negative.</a:t>
              </a:r>
            </a:p>
          </p:txBody>
        </p:sp>
      </p:grpSp>
      <p:grpSp>
        <p:nvGrpSpPr>
          <p:cNvPr name="Group 71" id="71"/>
          <p:cNvGrpSpPr/>
          <p:nvPr/>
        </p:nvGrpSpPr>
        <p:grpSpPr>
          <a:xfrm rot="0">
            <a:off x="11155680" y="4100703"/>
            <a:ext cx="6492240" cy="548640"/>
            <a:chOff x="0" y="0"/>
            <a:chExt cx="8656320" cy="731520"/>
          </a:xfrm>
        </p:grpSpPr>
        <p:sp>
          <p:nvSpPr>
            <p:cNvPr name="Freeform 72" id="72"/>
            <p:cNvSpPr/>
            <p:nvPr/>
          </p:nvSpPr>
          <p:spPr>
            <a:xfrm flipH="false" flipV="false" rot="0">
              <a:off x="0" y="0"/>
              <a:ext cx="8656320" cy="731520"/>
            </a:xfrm>
            <a:custGeom>
              <a:avLst/>
              <a:gdLst/>
              <a:ahLst/>
              <a:cxnLst/>
              <a:rect r="r" b="b" t="t" l="l"/>
              <a:pathLst>
                <a:path h="731520" w="8656320">
                  <a:moveTo>
                    <a:pt x="0" y="0"/>
                  </a:moveTo>
                  <a:lnTo>
                    <a:pt x="8656320" y="0"/>
                  </a:lnTo>
                  <a:lnTo>
                    <a:pt x="8656320" y="731520"/>
                  </a:lnTo>
                  <a:lnTo>
                    <a:pt x="0" y="731520"/>
                  </a:lnTo>
                  <a:close/>
                </a:path>
              </a:pathLst>
            </a:custGeom>
            <a:blipFill>
              <a:blip r:embed="rId2">
                <a:alphaModFix amt="0"/>
              </a:blip>
              <a:stretch>
                <a:fillRect l="0" t="-180572" r="0" b="-180572"/>
              </a:stretch>
            </a:blipFill>
          </p:spPr>
        </p:sp>
        <p:sp>
          <p:nvSpPr>
            <p:cNvPr name="TextBox 73" id="73"/>
            <p:cNvSpPr txBox="true"/>
            <p:nvPr/>
          </p:nvSpPr>
          <p:spPr>
            <a:xfrm>
              <a:off x="0" y="-66675"/>
              <a:ext cx="8656320" cy="798195"/>
            </a:xfrm>
            <a:prstGeom prst="rect">
              <a:avLst/>
            </a:prstGeom>
          </p:spPr>
          <p:txBody>
            <a:bodyPr anchor="ctr" rtlCol="false" tIns="0" lIns="0" bIns="0" rIns="0"/>
            <a:lstStyle/>
            <a:p>
              <a:pPr algn="l">
                <a:lnSpc>
                  <a:spcPts val="2520"/>
                </a:lnSpc>
              </a:pPr>
              <a:r>
                <a:rPr lang="en-US" sz="2100" b="true">
                  <a:solidFill>
                    <a:srgbClr val="028090"/>
                  </a:solidFill>
                  <a:latin typeface="Agrandir Narrow Bold"/>
                  <a:ea typeface="Agrandir Narrow Bold"/>
                  <a:cs typeface="Agrandir Narrow Bold"/>
                  <a:sym typeface="Agrandir Narrow Bold"/>
                </a:rPr>
                <a:t>RBI Fair Practices</a:t>
              </a:r>
            </a:p>
          </p:txBody>
        </p:sp>
      </p:grpSp>
      <p:grpSp>
        <p:nvGrpSpPr>
          <p:cNvPr name="Group 74" id="74"/>
          <p:cNvGrpSpPr/>
          <p:nvPr/>
        </p:nvGrpSpPr>
        <p:grpSpPr>
          <a:xfrm rot="0">
            <a:off x="11155680" y="4517136"/>
            <a:ext cx="6492240" cy="950976"/>
            <a:chOff x="0" y="0"/>
            <a:chExt cx="8656320" cy="1267968"/>
          </a:xfrm>
        </p:grpSpPr>
        <p:sp>
          <p:nvSpPr>
            <p:cNvPr name="Freeform 75" id="75"/>
            <p:cNvSpPr/>
            <p:nvPr/>
          </p:nvSpPr>
          <p:spPr>
            <a:xfrm flipH="false" flipV="false" rot="0">
              <a:off x="0" y="0"/>
              <a:ext cx="8656320" cy="1267968"/>
            </a:xfrm>
            <a:custGeom>
              <a:avLst/>
              <a:gdLst/>
              <a:ahLst/>
              <a:cxnLst/>
              <a:rect r="r" b="b" t="t" l="l"/>
              <a:pathLst>
                <a:path h="1267968" w="8656320">
                  <a:moveTo>
                    <a:pt x="0" y="0"/>
                  </a:moveTo>
                  <a:lnTo>
                    <a:pt x="8656320" y="0"/>
                  </a:lnTo>
                  <a:lnTo>
                    <a:pt x="8656320" y="1267968"/>
                  </a:lnTo>
                  <a:lnTo>
                    <a:pt x="0" y="1267968"/>
                  </a:lnTo>
                  <a:close/>
                </a:path>
              </a:pathLst>
            </a:custGeom>
            <a:blipFill>
              <a:blip r:embed="rId2">
                <a:alphaModFix amt="0"/>
              </a:blip>
              <a:stretch>
                <a:fillRect l="0" t="-83022" r="0" b="-83022"/>
              </a:stretch>
            </a:blipFill>
          </p:spPr>
        </p:sp>
        <p:sp>
          <p:nvSpPr>
            <p:cNvPr name="TextBox 76" id="76"/>
            <p:cNvSpPr txBox="true"/>
            <p:nvPr/>
          </p:nvSpPr>
          <p:spPr>
            <a:xfrm>
              <a:off x="0" y="-66675"/>
              <a:ext cx="8656320" cy="1334643"/>
            </a:xfrm>
            <a:prstGeom prst="rect">
              <a:avLst/>
            </a:prstGeom>
          </p:spPr>
          <p:txBody>
            <a:bodyPr anchor="ctr" rtlCol="false" tIns="0" lIns="0" bIns="0" rIns="0"/>
            <a:lstStyle/>
            <a:p>
              <a:pPr algn="l">
                <a:lnSpc>
                  <a:spcPts val="2520"/>
                </a:lnSpc>
              </a:pPr>
              <a:r>
                <a:rPr lang="en-US" sz="2100">
                  <a:solidFill>
                    <a:srgbClr val="334155"/>
                  </a:solidFill>
                  <a:latin typeface="Agrandir Narrow"/>
                  <a:ea typeface="Agrandir Narrow"/>
                  <a:cs typeface="Agrandir Narrow"/>
                  <a:sym typeface="Agrandir Narrow"/>
                </a:rPr>
                <a:t>Every rejection legally requires a reason. We show exactly what to improve.</a:t>
              </a:r>
            </a:p>
          </p:txBody>
        </p:sp>
      </p:grpSp>
      <p:grpSp>
        <p:nvGrpSpPr>
          <p:cNvPr name="Group 77" id="77"/>
          <p:cNvGrpSpPr/>
          <p:nvPr/>
        </p:nvGrpSpPr>
        <p:grpSpPr>
          <a:xfrm rot="0">
            <a:off x="11155680" y="5649087"/>
            <a:ext cx="6492240" cy="548640"/>
            <a:chOff x="0" y="0"/>
            <a:chExt cx="8656320" cy="731520"/>
          </a:xfrm>
        </p:grpSpPr>
        <p:sp>
          <p:nvSpPr>
            <p:cNvPr name="Freeform 78" id="78"/>
            <p:cNvSpPr/>
            <p:nvPr/>
          </p:nvSpPr>
          <p:spPr>
            <a:xfrm flipH="false" flipV="false" rot="0">
              <a:off x="0" y="0"/>
              <a:ext cx="8656320" cy="731520"/>
            </a:xfrm>
            <a:custGeom>
              <a:avLst/>
              <a:gdLst/>
              <a:ahLst/>
              <a:cxnLst/>
              <a:rect r="r" b="b" t="t" l="l"/>
              <a:pathLst>
                <a:path h="731520" w="8656320">
                  <a:moveTo>
                    <a:pt x="0" y="0"/>
                  </a:moveTo>
                  <a:lnTo>
                    <a:pt x="8656320" y="0"/>
                  </a:lnTo>
                  <a:lnTo>
                    <a:pt x="8656320" y="731520"/>
                  </a:lnTo>
                  <a:lnTo>
                    <a:pt x="0" y="731520"/>
                  </a:lnTo>
                  <a:close/>
                </a:path>
              </a:pathLst>
            </a:custGeom>
            <a:blipFill>
              <a:blip r:embed="rId2">
                <a:alphaModFix amt="0"/>
              </a:blip>
              <a:stretch>
                <a:fillRect l="0" t="-180572" r="0" b="-180572"/>
              </a:stretch>
            </a:blipFill>
          </p:spPr>
        </p:sp>
        <p:sp>
          <p:nvSpPr>
            <p:cNvPr name="TextBox 79" id="79"/>
            <p:cNvSpPr txBox="true"/>
            <p:nvPr/>
          </p:nvSpPr>
          <p:spPr>
            <a:xfrm>
              <a:off x="0" y="-66675"/>
              <a:ext cx="8656320" cy="798195"/>
            </a:xfrm>
            <a:prstGeom prst="rect">
              <a:avLst/>
            </a:prstGeom>
          </p:spPr>
          <p:txBody>
            <a:bodyPr anchor="ctr" rtlCol="false" tIns="0" lIns="0" bIns="0" rIns="0"/>
            <a:lstStyle/>
            <a:p>
              <a:pPr algn="l">
                <a:lnSpc>
                  <a:spcPts val="2520"/>
                </a:lnSpc>
              </a:pPr>
              <a:r>
                <a:rPr lang="en-US" sz="2100" b="true">
                  <a:solidFill>
                    <a:srgbClr val="028090"/>
                  </a:solidFill>
                  <a:latin typeface="Agrandir Narrow Bold"/>
                  <a:ea typeface="Agrandir Narrow Bold"/>
                  <a:cs typeface="Agrandir Narrow Bold"/>
                  <a:sym typeface="Agrandir Narrow Bold"/>
                </a:rPr>
                <a:t>RAG Advisor</a:t>
              </a:r>
            </a:p>
          </p:txBody>
        </p:sp>
      </p:grpSp>
      <p:grpSp>
        <p:nvGrpSpPr>
          <p:cNvPr name="Group 80" id="80"/>
          <p:cNvGrpSpPr/>
          <p:nvPr/>
        </p:nvGrpSpPr>
        <p:grpSpPr>
          <a:xfrm rot="0">
            <a:off x="11168386" y="6035040"/>
            <a:ext cx="6492240" cy="950976"/>
            <a:chOff x="0" y="0"/>
            <a:chExt cx="8656320" cy="1267968"/>
          </a:xfrm>
        </p:grpSpPr>
        <p:sp>
          <p:nvSpPr>
            <p:cNvPr name="Freeform 81" id="81"/>
            <p:cNvSpPr/>
            <p:nvPr/>
          </p:nvSpPr>
          <p:spPr>
            <a:xfrm flipH="false" flipV="false" rot="0">
              <a:off x="0" y="0"/>
              <a:ext cx="8656320" cy="1267968"/>
            </a:xfrm>
            <a:custGeom>
              <a:avLst/>
              <a:gdLst/>
              <a:ahLst/>
              <a:cxnLst/>
              <a:rect r="r" b="b" t="t" l="l"/>
              <a:pathLst>
                <a:path h="1267968" w="8656320">
                  <a:moveTo>
                    <a:pt x="0" y="0"/>
                  </a:moveTo>
                  <a:lnTo>
                    <a:pt x="8656320" y="0"/>
                  </a:lnTo>
                  <a:lnTo>
                    <a:pt x="8656320" y="1267968"/>
                  </a:lnTo>
                  <a:lnTo>
                    <a:pt x="0" y="1267968"/>
                  </a:lnTo>
                  <a:close/>
                </a:path>
              </a:pathLst>
            </a:custGeom>
            <a:blipFill>
              <a:blip r:embed="rId2">
                <a:alphaModFix amt="0"/>
              </a:blip>
              <a:stretch>
                <a:fillRect l="0" t="-83022" r="0" b="-83022"/>
              </a:stretch>
            </a:blipFill>
          </p:spPr>
        </p:sp>
        <p:sp>
          <p:nvSpPr>
            <p:cNvPr name="TextBox 82" id="82"/>
            <p:cNvSpPr txBox="true"/>
            <p:nvPr/>
          </p:nvSpPr>
          <p:spPr>
            <a:xfrm>
              <a:off x="0" y="-66675"/>
              <a:ext cx="8656320" cy="1334643"/>
            </a:xfrm>
            <a:prstGeom prst="rect">
              <a:avLst/>
            </a:prstGeom>
          </p:spPr>
          <p:txBody>
            <a:bodyPr anchor="ctr" rtlCol="false" tIns="0" lIns="0" bIns="0" rIns="0"/>
            <a:lstStyle/>
            <a:p>
              <a:pPr algn="l">
                <a:lnSpc>
                  <a:spcPts val="2520"/>
                </a:lnSpc>
              </a:pPr>
              <a:r>
                <a:rPr lang="en-US" sz="2100">
                  <a:solidFill>
                    <a:srgbClr val="334155"/>
                  </a:solidFill>
                  <a:latin typeface="Agrandir Narrow"/>
                  <a:ea typeface="Agrandir Narrow"/>
                  <a:cs typeface="Agrandir Narrow"/>
                  <a:sym typeface="Agrandir Narrow"/>
                </a:rPr>
                <a:t>Natural language Q&amp;A grounded in real RBI guidelines. No hallucinations.</a:t>
              </a:r>
            </a:p>
          </p:txBody>
        </p:sp>
      </p:grpSp>
      <p:grpSp>
        <p:nvGrpSpPr>
          <p:cNvPr name="Group 83" id="83"/>
          <p:cNvGrpSpPr/>
          <p:nvPr/>
        </p:nvGrpSpPr>
        <p:grpSpPr>
          <a:xfrm rot="0">
            <a:off x="11155680" y="7033641"/>
            <a:ext cx="6492240" cy="548640"/>
            <a:chOff x="0" y="0"/>
            <a:chExt cx="8656320" cy="731520"/>
          </a:xfrm>
        </p:grpSpPr>
        <p:sp>
          <p:nvSpPr>
            <p:cNvPr name="Freeform 84" id="84"/>
            <p:cNvSpPr/>
            <p:nvPr/>
          </p:nvSpPr>
          <p:spPr>
            <a:xfrm flipH="false" flipV="false" rot="0">
              <a:off x="0" y="0"/>
              <a:ext cx="8656320" cy="731520"/>
            </a:xfrm>
            <a:custGeom>
              <a:avLst/>
              <a:gdLst/>
              <a:ahLst/>
              <a:cxnLst/>
              <a:rect r="r" b="b" t="t" l="l"/>
              <a:pathLst>
                <a:path h="731520" w="8656320">
                  <a:moveTo>
                    <a:pt x="0" y="0"/>
                  </a:moveTo>
                  <a:lnTo>
                    <a:pt x="8656320" y="0"/>
                  </a:lnTo>
                  <a:lnTo>
                    <a:pt x="8656320" y="731520"/>
                  </a:lnTo>
                  <a:lnTo>
                    <a:pt x="0" y="731520"/>
                  </a:lnTo>
                  <a:close/>
                </a:path>
              </a:pathLst>
            </a:custGeom>
            <a:blipFill>
              <a:blip r:embed="rId2">
                <a:alphaModFix amt="0"/>
              </a:blip>
              <a:stretch>
                <a:fillRect l="0" t="-180572" r="0" b="-180572"/>
              </a:stretch>
            </a:blipFill>
          </p:spPr>
        </p:sp>
        <p:sp>
          <p:nvSpPr>
            <p:cNvPr name="TextBox 85" id="85"/>
            <p:cNvSpPr txBox="true"/>
            <p:nvPr/>
          </p:nvSpPr>
          <p:spPr>
            <a:xfrm>
              <a:off x="0" y="-66675"/>
              <a:ext cx="8656320" cy="798195"/>
            </a:xfrm>
            <a:prstGeom prst="rect">
              <a:avLst/>
            </a:prstGeom>
          </p:spPr>
          <p:txBody>
            <a:bodyPr anchor="ctr" rtlCol="false" tIns="0" lIns="0" bIns="0" rIns="0"/>
            <a:lstStyle/>
            <a:p>
              <a:pPr algn="l">
                <a:lnSpc>
                  <a:spcPts val="2520"/>
                </a:lnSpc>
              </a:pPr>
              <a:r>
                <a:rPr lang="en-US" sz="2100" b="true">
                  <a:solidFill>
                    <a:srgbClr val="028090"/>
                  </a:solidFill>
                  <a:latin typeface="Agrandir Narrow Bold"/>
                  <a:ea typeface="Agrandir Narrow Bold"/>
                  <a:cs typeface="Agrandir Narrow Bold"/>
                  <a:sym typeface="Agrandir Narrow Bold"/>
                </a:rPr>
                <a:t>3-Layer Fairness</a:t>
              </a:r>
            </a:p>
          </p:txBody>
        </p:sp>
      </p:grpSp>
      <p:grpSp>
        <p:nvGrpSpPr>
          <p:cNvPr name="Group 86" id="86"/>
          <p:cNvGrpSpPr/>
          <p:nvPr/>
        </p:nvGrpSpPr>
        <p:grpSpPr>
          <a:xfrm rot="0">
            <a:off x="11155680" y="7315200"/>
            <a:ext cx="6492240" cy="950976"/>
            <a:chOff x="0" y="0"/>
            <a:chExt cx="8656320" cy="1267968"/>
          </a:xfrm>
        </p:grpSpPr>
        <p:sp>
          <p:nvSpPr>
            <p:cNvPr name="Freeform 87" id="87"/>
            <p:cNvSpPr/>
            <p:nvPr/>
          </p:nvSpPr>
          <p:spPr>
            <a:xfrm flipH="false" flipV="false" rot="0">
              <a:off x="0" y="0"/>
              <a:ext cx="8656320" cy="1267968"/>
            </a:xfrm>
            <a:custGeom>
              <a:avLst/>
              <a:gdLst/>
              <a:ahLst/>
              <a:cxnLst/>
              <a:rect r="r" b="b" t="t" l="l"/>
              <a:pathLst>
                <a:path h="1267968" w="8656320">
                  <a:moveTo>
                    <a:pt x="0" y="0"/>
                  </a:moveTo>
                  <a:lnTo>
                    <a:pt x="8656320" y="0"/>
                  </a:lnTo>
                  <a:lnTo>
                    <a:pt x="8656320" y="1267968"/>
                  </a:lnTo>
                  <a:lnTo>
                    <a:pt x="0" y="1267968"/>
                  </a:lnTo>
                  <a:close/>
                </a:path>
              </a:pathLst>
            </a:custGeom>
            <a:blipFill>
              <a:blip r:embed="rId2">
                <a:alphaModFix amt="0"/>
              </a:blip>
              <a:stretch>
                <a:fillRect l="0" t="-83022" r="0" b="-83022"/>
              </a:stretch>
            </a:blipFill>
          </p:spPr>
        </p:sp>
        <p:sp>
          <p:nvSpPr>
            <p:cNvPr name="TextBox 88" id="88"/>
            <p:cNvSpPr txBox="true"/>
            <p:nvPr/>
          </p:nvSpPr>
          <p:spPr>
            <a:xfrm>
              <a:off x="0" y="-66675"/>
              <a:ext cx="8656320" cy="1334643"/>
            </a:xfrm>
            <a:prstGeom prst="rect">
              <a:avLst/>
            </a:prstGeom>
          </p:spPr>
          <p:txBody>
            <a:bodyPr anchor="ctr" rtlCol="false" tIns="0" lIns="0" bIns="0" rIns="0"/>
            <a:lstStyle/>
            <a:p>
              <a:pPr algn="l">
                <a:lnSpc>
                  <a:spcPts val="2520"/>
                </a:lnSpc>
              </a:pPr>
              <a:r>
                <a:rPr lang="en-US" sz="2100">
                  <a:solidFill>
                    <a:srgbClr val="334155"/>
                  </a:solidFill>
                  <a:latin typeface="Agrandir Narrow"/>
                  <a:ea typeface="Agrandir Narrow"/>
                  <a:cs typeface="Agrandir Narrow"/>
                  <a:sym typeface="Agrandir Narrow"/>
                </a:rPr>
                <a:t>Pre-processing, in-processing, and post-processing bias controls enforce equity.</a:t>
              </a:r>
            </a:p>
          </p:txBody>
        </p:sp>
      </p:grpSp>
      <p:grpSp>
        <p:nvGrpSpPr>
          <p:cNvPr name="Group 89" id="89"/>
          <p:cNvGrpSpPr/>
          <p:nvPr/>
        </p:nvGrpSpPr>
        <p:grpSpPr>
          <a:xfrm rot="0">
            <a:off x="627383" y="9708394"/>
            <a:ext cx="17033243" cy="537467"/>
            <a:chOff x="0" y="0"/>
            <a:chExt cx="22710991" cy="716623"/>
          </a:xfrm>
        </p:grpSpPr>
        <p:sp>
          <p:nvSpPr>
            <p:cNvPr name="Freeform 90" id="90"/>
            <p:cNvSpPr/>
            <p:nvPr/>
          </p:nvSpPr>
          <p:spPr>
            <a:xfrm flipH="false" flipV="false" rot="0">
              <a:off x="16891" y="16891"/>
              <a:ext cx="22677119" cy="682752"/>
            </a:xfrm>
            <a:custGeom>
              <a:avLst/>
              <a:gdLst/>
              <a:ahLst/>
              <a:cxnLst/>
              <a:rect r="r" b="b" t="t" l="l"/>
              <a:pathLst>
                <a:path h="682752" w="22677119">
                  <a:moveTo>
                    <a:pt x="0" y="0"/>
                  </a:moveTo>
                  <a:lnTo>
                    <a:pt x="22677119" y="0"/>
                  </a:lnTo>
                  <a:lnTo>
                    <a:pt x="22677119" y="682752"/>
                  </a:lnTo>
                  <a:lnTo>
                    <a:pt x="0" y="682752"/>
                  </a:lnTo>
                  <a:close/>
                </a:path>
              </a:pathLst>
            </a:custGeom>
            <a:solidFill>
              <a:srgbClr val="E0F7FA"/>
            </a:solidFill>
          </p:spPr>
        </p:sp>
        <p:sp>
          <p:nvSpPr>
            <p:cNvPr name="Freeform 91" id="91"/>
            <p:cNvSpPr/>
            <p:nvPr/>
          </p:nvSpPr>
          <p:spPr>
            <a:xfrm flipH="false" flipV="false" rot="0">
              <a:off x="0" y="0"/>
              <a:ext cx="22710902" cy="716536"/>
            </a:xfrm>
            <a:custGeom>
              <a:avLst/>
              <a:gdLst/>
              <a:ahLst/>
              <a:cxnLst/>
              <a:rect r="r" b="b" t="t" l="l"/>
              <a:pathLst>
                <a:path h="716536" w="22710902">
                  <a:moveTo>
                    <a:pt x="16891" y="0"/>
                  </a:moveTo>
                  <a:lnTo>
                    <a:pt x="22694010" y="0"/>
                  </a:lnTo>
                  <a:cubicBezTo>
                    <a:pt x="22703408" y="0"/>
                    <a:pt x="22710902" y="7620"/>
                    <a:pt x="22710902" y="16891"/>
                  </a:cubicBezTo>
                  <a:lnTo>
                    <a:pt x="22710902" y="699643"/>
                  </a:lnTo>
                  <a:cubicBezTo>
                    <a:pt x="22710902" y="709041"/>
                    <a:pt x="22703282" y="716534"/>
                    <a:pt x="22694010" y="716534"/>
                  </a:cubicBezTo>
                  <a:lnTo>
                    <a:pt x="16891" y="716534"/>
                  </a:lnTo>
                  <a:cubicBezTo>
                    <a:pt x="7620" y="716661"/>
                    <a:pt x="0" y="709041"/>
                    <a:pt x="0" y="699643"/>
                  </a:cubicBezTo>
                  <a:lnTo>
                    <a:pt x="0" y="16891"/>
                  </a:lnTo>
                  <a:cubicBezTo>
                    <a:pt x="0" y="7620"/>
                    <a:pt x="7620" y="0"/>
                    <a:pt x="16891" y="0"/>
                  </a:cubicBezTo>
                  <a:moveTo>
                    <a:pt x="16891" y="33909"/>
                  </a:moveTo>
                  <a:lnTo>
                    <a:pt x="16891" y="16891"/>
                  </a:lnTo>
                  <a:lnTo>
                    <a:pt x="33909" y="16891"/>
                  </a:lnTo>
                  <a:lnTo>
                    <a:pt x="33909" y="699643"/>
                  </a:lnTo>
                  <a:lnTo>
                    <a:pt x="16891" y="699643"/>
                  </a:lnTo>
                  <a:lnTo>
                    <a:pt x="16891" y="682752"/>
                  </a:lnTo>
                  <a:lnTo>
                    <a:pt x="22694010" y="682752"/>
                  </a:lnTo>
                  <a:lnTo>
                    <a:pt x="22694010" y="699643"/>
                  </a:lnTo>
                  <a:lnTo>
                    <a:pt x="22677120" y="699643"/>
                  </a:lnTo>
                  <a:lnTo>
                    <a:pt x="22677120" y="16891"/>
                  </a:lnTo>
                  <a:lnTo>
                    <a:pt x="22694010" y="16891"/>
                  </a:lnTo>
                  <a:lnTo>
                    <a:pt x="22694010" y="33909"/>
                  </a:lnTo>
                  <a:lnTo>
                    <a:pt x="16891" y="33909"/>
                  </a:lnTo>
                  <a:close/>
                </a:path>
              </a:pathLst>
            </a:custGeom>
            <a:solidFill>
              <a:srgbClr val="B2EBF2"/>
            </a:solidFill>
          </p:spPr>
        </p:sp>
      </p:grpSp>
      <p:grpSp>
        <p:nvGrpSpPr>
          <p:cNvPr name="Group 92" id="92"/>
          <p:cNvGrpSpPr/>
          <p:nvPr/>
        </p:nvGrpSpPr>
        <p:grpSpPr>
          <a:xfrm rot="0">
            <a:off x="640080" y="9765544"/>
            <a:ext cx="17007840" cy="512064"/>
            <a:chOff x="0" y="0"/>
            <a:chExt cx="22677120" cy="682752"/>
          </a:xfrm>
        </p:grpSpPr>
        <p:sp>
          <p:nvSpPr>
            <p:cNvPr name="Freeform 93" id="93"/>
            <p:cNvSpPr/>
            <p:nvPr/>
          </p:nvSpPr>
          <p:spPr>
            <a:xfrm flipH="false" flipV="false" rot="0">
              <a:off x="0" y="0"/>
              <a:ext cx="22677120" cy="682752"/>
            </a:xfrm>
            <a:custGeom>
              <a:avLst/>
              <a:gdLst/>
              <a:ahLst/>
              <a:cxnLst/>
              <a:rect r="r" b="b" t="t" l="l"/>
              <a:pathLst>
                <a:path h="682752" w="22677120">
                  <a:moveTo>
                    <a:pt x="0" y="0"/>
                  </a:moveTo>
                  <a:lnTo>
                    <a:pt x="22677120" y="0"/>
                  </a:lnTo>
                  <a:lnTo>
                    <a:pt x="22677120" y="682752"/>
                  </a:lnTo>
                  <a:lnTo>
                    <a:pt x="0" y="682752"/>
                  </a:lnTo>
                  <a:close/>
                </a:path>
              </a:pathLst>
            </a:custGeom>
            <a:blipFill>
              <a:blip r:embed="rId2">
                <a:alphaModFix amt="0"/>
              </a:blip>
              <a:stretch>
                <a:fillRect l="0" t="-597181" r="0" b="-597181"/>
              </a:stretch>
            </a:blipFill>
          </p:spPr>
        </p:sp>
        <p:sp>
          <p:nvSpPr>
            <p:cNvPr name="TextBox 94" id="94"/>
            <p:cNvSpPr txBox="true"/>
            <p:nvPr/>
          </p:nvSpPr>
          <p:spPr>
            <a:xfrm>
              <a:off x="0" y="-66675"/>
              <a:ext cx="22677120" cy="749427"/>
            </a:xfrm>
            <a:prstGeom prst="rect">
              <a:avLst/>
            </a:prstGeom>
          </p:spPr>
          <p:txBody>
            <a:bodyPr anchor="ctr" rtlCol="false" tIns="0" lIns="0" bIns="0" rIns="0"/>
            <a:lstStyle/>
            <a:p>
              <a:pPr algn="ctr">
                <a:lnSpc>
                  <a:spcPts val="2520"/>
                </a:lnSpc>
              </a:pPr>
              <a:r>
                <a:rPr lang="en-US" b="true" sz="2100" i="true">
                  <a:solidFill>
                    <a:srgbClr val="015F6B"/>
                  </a:solidFill>
                  <a:latin typeface="Agrandir Narrow Bold Italics"/>
                  <a:ea typeface="Agrandir Narrow Bold Italics"/>
                  <a:cs typeface="Agrandir Narrow Bold Italics"/>
                  <a:sym typeface="Agrandir Narrow Bold Italics"/>
                </a:rPr>
                <a:t>Human-readable explanations + AI accuracy — working together for fair credit decisions.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8019231" y="384150"/>
            <a:ext cx="2249537" cy="69215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Agrandir Narrow Bold"/>
                <a:ea typeface="Agrandir Narrow Bold"/>
                <a:cs typeface="Agrandir Narrow Bold"/>
                <a:sym typeface="Agrandir Narrow Bold"/>
              </a:rPr>
              <a:t>Dashboard</a:t>
            </a:r>
          </a:p>
        </p:txBody>
      </p:sp>
      <p:sp>
        <p:nvSpPr>
          <p:cNvPr name="Freeform 6" id="6"/>
          <p:cNvSpPr/>
          <p:nvPr/>
        </p:nvSpPr>
        <p:spPr>
          <a:xfrm flipH="false" flipV="false" rot="0">
            <a:off x="0" y="1350594"/>
            <a:ext cx="8475382" cy="3904606"/>
          </a:xfrm>
          <a:custGeom>
            <a:avLst/>
            <a:gdLst/>
            <a:ahLst/>
            <a:cxnLst/>
            <a:rect r="r" b="b" t="t" l="l"/>
            <a:pathLst>
              <a:path h="3904606" w="8475382">
                <a:moveTo>
                  <a:pt x="0" y="0"/>
                </a:moveTo>
                <a:lnTo>
                  <a:pt x="8475382" y="0"/>
                </a:lnTo>
                <a:lnTo>
                  <a:pt x="8475382" y="3904607"/>
                </a:lnTo>
                <a:lnTo>
                  <a:pt x="0" y="3904607"/>
                </a:lnTo>
                <a:lnTo>
                  <a:pt x="0" y="0"/>
                </a:lnTo>
                <a:close/>
              </a:path>
            </a:pathLst>
          </a:custGeom>
          <a:blipFill>
            <a:blip r:embed="rId2"/>
            <a:stretch>
              <a:fillRect l="0" t="-3782" r="0" b="0"/>
            </a:stretch>
          </a:blipFill>
          <a:ln w="9525" cap="sq">
            <a:solidFill>
              <a:srgbClr val="000000"/>
            </a:solidFill>
            <a:prstDash val="solid"/>
            <a:miter/>
          </a:ln>
        </p:spPr>
      </p:sp>
      <p:sp>
        <p:nvSpPr>
          <p:cNvPr name="Freeform 7" id="7"/>
          <p:cNvSpPr/>
          <p:nvPr/>
        </p:nvSpPr>
        <p:spPr>
          <a:xfrm flipH="false" flipV="false" rot="0">
            <a:off x="9505129" y="1399464"/>
            <a:ext cx="8436230" cy="3855737"/>
          </a:xfrm>
          <a:custGeom>
            <a:avLst/>
            <a:gdLst/>
            <a:ahLst/>
            <a:cxnLst/>
            <a:rect r="r" b="b" t="t" l="l"/>
            <a:pathLst>
              <a:path h="3855737" w="8436230">
                <a:moveTo>
                  <a:pt x="0" y="0"/>
                </a:moveTo>
                <a:lnTo>
                  <a:pt x="8436230" y="0"/>
                </a:lnTo>
                <a:lnTo>
                  <a:pt x="8436230" y="3855737"/>
                </a:lnTo>
                <a:lnTo>
                  <a:pt x="0" y="3855737"/>
                </a:lnTo>
                <a:lnTo>
                  <a:pt x="0" y="0"/>
                </a:lnTo>
                <a:close/>
              </a:path>
            </a:pathLst>
          </a:custGeom>
          <a:blipFill>
            <a:blip r:embed="rId3"/>
            <a:stretch>
              <a:fillRect l="-332" t="-5097" r="0" b="0"/>
            </a:stretch>
          </a:blipFill>
          <a:ln w="9525" cap="sq">
            <a:solidFill>
              <a:srgbClr val="000000"/>
            </a:solidFill>
            <a:prstDash val="solid"/>
            <a:miter/>
          </a:ln>
        </p:spPr>
      </p:sp>
      <p:sp>
        <p:nvSpPr>
          <p:cNvPr name="Freeform 8" id="8"/>
          <p:cNvSpPr/>
          <p:nvPr/>
        </p:nvSpPr>
        <p:spPr>
          <a:xfrm flipH="false" flipV="false" rot="0">
            <a:off x="-23713" y="6261985"/>
            <a:ext cx="8499095" cy="3840138"/>
          </a:xfrm>
          <a:custGeom>
            <a:avLst/>
            <a:gdLst/>
            <a:ahLst/>
            <a:cxnLst/>
            <a:rect r="r" b="b" t="t" l="l"/>
            <a:pathLst>
              <a:path h="3840138" w="8499095">
                <a:moveTo>
                  <a:pt x="0" y="0"/>
                </a:moveTo>
                <a:lnTo>
                  <a:pt x="8499095" y="0"/>
                </a:lnTo>
                <a:lnTo>
                  <a:pt x="8499095" y="3840137"/>
                </a:lnTo>
                <a:lnTo>
                  <a:pt x="0" y="3840137"/>
                </a:lnTo>
                <a:lnTo>
                  <a:pt x="0" y="0"/>
                </a:lnTo>
                <a:close/>
              </a:path>
            </a:pathLst>
          </a:custGeom>
          <a:blipFill>
            <a:blip r:embed="rId4"/>
            <a:stretch>
              <a:fillRect l="0" t="-5266" r="0" b="0"/>
            </a:stretch>
          </a:blipFill>
          <a:ln w="9525" cap="sq">
            <a:solidFill>
              <a:srgbClr val="000000"/>
            </a:solidFill>
            <a:prstDash val="solid"/>
            <a:miter/>
          </a:ln>
        </p:spPr>
      </p:sp>
      <p:sp>
        <p:nvSpPr>
          <p:cNvPr name="Freeform 9" id="9"/>
          <p:cNvSpPr/>
          <p:nvPr/>
        </p:nvSpPr>
        <p:spPr>
          <a:xfrm flipH="false" flipV="false" rot="0">
            <a:off x="9144000" y="5919898"/>
            <a:ext cx="9144000" cy="4102452"/>
          </a:xfrm>
          <a:custGeom>
            <a:avLst/>
            <a:gdLst/>
            <a:ahLst/>
            <a:cxnLst/>
            <a:rect r="r" b="b" t="t" l="l"/>
            <a:pathLst>
              <a:path h="4102452" w="9144000">
                <a:moveTo>
                  <a:pt x="0" y="0"/>
                </a:moveTo>
                <a:lnTo>
                  <a:pt x="9144000" y="0"/>
                </a:lnTo>
                <a:lnTo>
                  <a:pt x="9144000" y="4102452"/>
                </a:lnTo>
                <a:lnTo>
                  <a:pt x="0" y="4102452"/>
                </a:lnTo>
                <a:lnTo>
                  <a:pt x="0" y="0"/>
                </a:lnTo>
                <a:close/>
              </a:path>
            </a:pathLst>
          </a:custGeom>
          <a:blipFill>
            <a:blip r:embed="rId5"/>
            <a:stretch>
              <a:fillRect l="0" t="-6709" r="0" b="0"/>
            </a:stretch>
          </a:blipFill>
          <a:ln w="9525" cap="sq">
            <a:solidFill>
              <a:srgbClr val="000000"/>
            </a:solidFill>
            <a:prstDash val="solid"/>
            <a:miter/>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5897687" y="384150"/>
            <a:ext cx="6492627" cy="69215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Agrandir Narrow Bold"/>
                <a:ea typeface="Agrandir Narrow Bold"/>
                <a:cs typeface="Agrandir Narrow Bold"/>
                <a:sym typeface="Agrandir Narrow Bold"/>
              </a:rPr>
              <a:t>SHAP Breakdown + RAG Advisor</a:t>
            </a:r>
          </a:p>
        </p:txBody>
      </p:sp>
      <p:grpSp>
        <p:nvGrpSpPr>
          <p:cNvPr name="Group 6" id="6"/>
          <p:cNvGrpSpPr/>
          <p:nvPr/>
        </p:nvGrpSpPr>
        <p:grpSpPr>
          <a:xfrm rot="0">
            <a:off x="627383" y="2181863"/>
            <a:ext cx="8437883" cy="7614923"/>
            <a:chOff x="0" y="0"/>
            <a:chExt cx="11250511" cy="10153231"/>
          </a:xfrm>
        </p:grpSpPr>
        <p:sp>
          <p:nvSpPr>
            <p:cNvPr name="Freeform 7" id="7"/>
            <p:cNvSpPr/>
            <p:nvPr/>
          </p:nvSpPr>
          <p:spPr>
            <a:xfrm flipH="false" flipV="false" rot="0">
              <a:off x="16891" y="16891"/>
              <a:ext cx="11216640" cy="10119360"/>
            </a:xfrm>
            <a:custGeom>
              <a:avLst/>
              <a:gdLst/>
              <a:ahLst/>
              <a:cxnLst/>
              <a:rect r="r" b="b" t="t" l="l"/>
              <a:pathLst>
                <a:path h="10119360" w="11216640">
                  <a:moveTo>
                    <a:pt x="0" y="0"/>
                  </a:moveTo>
                  <a:lnTo>
                    <a:pt x="11216640" y="0"/>
                  </a:lnTo>
                  <a:lnTo>
                    <a:pt x="11216640" y="10119360"/>
                  </a:lnTo>
                  <a:lnTo>
                    <a:pt x="0" y="10119360"/>
                  </a:lnTo>
                  <a:close/>
                </a:path>
              </a:pathLst>
            </a:custGeom>
            <a:solidFill>
              <a:srgbClr val="F8FCFD"/>
            </a:solidFill>
          </p:spPr>
        </p:sp>
        <p:sp>
          <p:nvSpPr>
            <p:cNvPr name="Freeform 8" id="8"/>
            <p:cNvSpPr/>
            <p:nvPr/>
          </p:nvSpPr>
          <p:spPr>
            <a:xfrm flipH="false" flipV="false" rot="0">
              <a:off x="0" y="0"/>
              <a:ext cx="11250422" cy="10153142"/>
            </a:xfrm>
            <a:custGeom>
              <a:avLst/>
              <a:gdLst/>
              <a:ahLst/>
              <a:cxnLst/>
              <a:rect r="r" b="b" t="t" l="l"/>
              <a:pathLst>
                <a:path h="10153142" w="11250422">
                  <a:moveTo>
                    <a:pt x="16891" y="0"/>
                  </a:moveTo>
                  <a:lnTo>
                    <a:pt x="11233531" y="0"/>
                  </a:lnTo>
                  <a:cubicBezTo>
                    <a:pt x="11242929" y="0"/>
                    <a:pt x="11250422" y="7620"/>
                    <a:pt x="11250422" y="16891"/>
                  </a:cubicBezTo>
                  <a:lnTo>
                    <a:pt x="11250422" y="10136251"/>
                  </a:lnTo>
                  <a:cubicBezTo>
                    <a:pt x="11250422" y="10145649"/>
                    <a:pt x="11242802" y="10153142"/>
                    <a:pt x="11233531" y="10153142"/>
                  </a:cubicBezTo>
                  <a:lnTo>
                    <a:pt x="16891" y="10153142"/>
                  </a:lnTo>
                  <a:cubicBezTo>
                    <a:pt x="7493" y="10153142"/>
                    <a:pt x="0" y="10145522"/>
                    <a:pt x="0" y="10136251"/>
                  </a:cubicBezTo>
                  <a:lnTo>
                    <a:pt x="0" y="16891"/>
                  </a:lnTo>
                  <a:cubicBezTo>
                    <a:pt x="0" y="7620"/>
                    <a:pt x="7620" y="0"/>
                    <a:pt x="16891" y="0"/>
                  </a:cubicBezTo>
                  <a:moveTo>
                    <a:pt x="16891" y="33909"/>
                  </a:moveTo>
                  <a:lnTo>
                    <a:pt x="16891" y="16891"/>
                  </a:lnTo>
                  <a:lnTo>
                    <a:pt x="33909" y="16891"/>
                  </a:lnTo>
                  <a:lnTo>
                    <a:pt x="33909" y="10136251"/>
                  </a:lnTo>
                  <a:lnTo>
                    <a:pt x="16891" y="10136251"/>
                  </a:lnTo>
                  <a:lnTo>
                    <a:pt x="16891" y="10119360"/>
                  </a:lnTo>
                  <a:lnTo>
                    <a:pt x="11233531" y="10119360"/>
                  </a:lnTo>
                  <a:lnTo>
                    <a:pt x="11233531" y="10136251"/>
                  </a:lnTo>
                  <a:lnTo>
                    <a:pt x="11216640" y="10136251"/>
                  </a:lnTo>
                  <a:lnTo>
                    <a:pt x="11216640" y="16891"/>
                  </a:lnTo>
                  <a:lnTo>
                    <a:pt x="11233531" y="16891"/>
                  </a:lnTo>
                  <a:lnTo>
                    <a:pt x="11233531" y="33909"/>
                  </a:lnTo>
                  <a:lnTo>
                    <a:pt x="16891" y="33909"/>
                  </a:lnTo>
                  <a:close/>
                </a:path>
              </a:pathLst>
            </a:custGeom>
            <a:solidFill>
              <a:srgbClr val="B2EBF2"/>
            </a:solidFill>
          </p:spPr>
        </p:sp>
      </p:grpSp>
      <p:grpSp>
        <p:nvGrpSpPr>
          <p:cNvPr name="Group 9" id="9"/>
          <p:cNvGrpSpPr/>
          <p:nvPr/>
        </p:nvGrpSpPr>
        <p:grpSpPr>
          <a:xfrm rot="0">
            <a:off x="914400" y="2340864"/>
            <a:ext cx="7863840" cy="694944"/>
            <a:chOff x="0" y="0"/>
            <a:chExt cx="10485120" cy="926592"/>
          </a:xfrm>
        </p:grpSpPr>
        <p:sp>
          <p:nvSpPr>
            <p:cNvPr name="Freeform 10" id="10"/>
            <p:cNvSpPr/>
            <p:nvPr/>
          </p:nvSpPr>
          <p:spPr>
            <a:xfrm flipH="false" flipV="false" rot="0">
              <a:off x="0" y="0"/>
              <a:ext cx="10485120" cy="926592"/>
            </a:xfrm>
            <a:custGeom>
              <a:avLst/>
              <a:gdLst/>
              <a:ahLst/>
              <a:cxnLst/>
              <a:rect r="r" b="b" t="t" l="l"/>
              <a:pathLst>
                <a:path h="926592" w="10485120">
                  <a:moveTo>
                    <a:pt x="0" y="0"/>
                  </a:moveTo>
                  <a:lnTo>
                    <a:pt x="10485120" y="0"/>
                  </a:lnTo>
                  <a:lnTo>
                    <a:pt x="10485120" y="926592"/>
                  </a:lnTo>
                  <a:lnTo>
                    <a:pt x="0" y="926592"/>
                  </a:lnTo>
                  <a:close/>
                </a:path>
              </a:pathLst>
            </a:custGeom>
            <a:blipFill>
              <a:blip r:embed="rId2">
                <a:alphaModFix amt="0"/>
              </a:blip>
              <a:stretch>
                <a:fillRect l="0" t="-170488" r="0" b="-170488"/>
              </a:stretch>
            </a:blipFill>
          </p:spPr>
        </p:sp>
        <p:sp>
          <p:nvSpPr>
            <p:cNvPr name="TextBox 11" id="11"/>
            <p:cNvSpPr txBox="true"/>
            <p:nvPr/>
          </p:nvSpPr>
          <p:spPr>
            <a:xfrm>
              <a:off x="0" y="-9525"/>
              <a:ext cx="10485120" cy="936117"/>
            </a:xfrm>
            <a:prstGeom prst="rect">
              <a:avLst/>
            </a:prstGeom>
          </p:spPr>
          <p:txBody>
            <a:bodyPr anchor="ctr" rtlCol="false" tIns="0" lIns="0" bIns="0" rIns="0"/>
            <a:lstStyle/>
            <a:p>
              <a:pPr algn="ctr">
                <a:lnSpc>
                  <a:spcPts val="3239"/>
                </a:lnSpc>
              </a:pPr>
              <a:r>
                <a:rPr lang="en-US" sz="2699" b="true">
                  <a:solidFill>
                    <a:srgbClr val="028090"/>
                  </a:solidFill>
                  <a:latin typeface="Trebuchet MS Bold"/>
                  <a:ea typeface="Trebuchet MS Bold"/>
                  <a:cs typeface="Trebuchet MS Bold"/>
                  <a:sym typeface="Trebuchet MS Bold"/>
                </a:rPr>
                <a:t>SHAP Score Breakdown</a:t>
              </a:r>
            </a:p>
          </p:txBody>
        </p:sp>
      </p:grpSp>
      <p:grpSp>
        <p:nvGrpSpPr>
          <p:cNvPr name="Group 12" id="12"/>
          <p:cNvGrpSpPr/>
          <p:nvPr/>
        </p:nvGrpSpPr>
        <p:grpSpPr>
          <a:xfrm rot="0">
            <a:off x="914400" y="3145536"/>
            <a:ext cx="7863840" cy="640080"/>
            <a:chOff x="0" y="0"/>
            <a:chExt cx="10485120" cy="853440"/>
          </a:xfrm>
        </p:grpSpPr>
        <p:sp>
          <p:nvSpPr>
            <p:cNvPr name="Freeform 13" id="13"/>
            <p:cNvSpPr/>
            <p:nvPr/>
          </p:nvSpPr>
          <p:spPr>
            <a:xfrm flipH="false" flipV="false" rot="0">
              <a:off x="0" y="0"/>
              <a:ext cx="10485120" cy="853440"/>
            </a:xfrm>
            <a:custGeom>
              <a:avLst/>
              <a:gdLst/>
              <a:ahLst/>
              <a:cxnLst/>
              <a:rect r="r" b="b" t="t" l="l"/>
              <a:pathLst>
                <a:path h="853440" w="10485120">
                  <a:moveTo>
                    <a:pt x="0" y="0"/>
                  </a:moveTo>
                  <a:lnTo>
                    <a:pt x="10485120" y="0"/>
                  </a:lnTo>
                  <a:lnTo>
                    <a:pt x="10485120" y="853440"/>
                  </a:lnTo>
                  <a:lnTo>
                    <a:pt x="0" y="853440"/>
                  </a:lnTo>
                  <a:close/>
                </a:path>
              </a:pathLst>
            </a:custGeom>
            <a:blipFill>
              <a:blip r:embed="rId2">
                <a:alphaModFix amt="0"/>
              </a:blip>
              <a:stretch>
                <a:fillRect l="0" t="-189387" r="0" b="-189387"/>
              </a:stretch>
            </a:blipFill>
          </p:spPr>
        </p:sp>
        <p:sp>
          <p:nvSpPr>
            <p:cNvPr name="TextBox 14" id="14"/>
            <p:cNvSpPr txBox="true"/>
            <p:nvPr/>
          </p:nvSpPr>
          <p:spPr>
            <a:xfrm>
              <a:off x="0" y="-9525"/>
              <a:ext cx="10485120" cy="862965"/>
            </a:xfrm>
            <a:prstGeom prst="rect">
              <a:avLst/>
            </a:prstGeom>
          </p:spPr>
          <p:txBody>
            <a:bodyPr anchor="ctr" rtlCol="false" tIns="0" lIns="0" bIns="0" rIns="0"/>
            <a:lstStyle/>
            <a:p>
              <a:pPr algn="ctr">
                <a:lnSpc>
                  <a:spcPts val="2879"/>
                </a:lnSpc>
              </a:pPr>
              <a:r>
                <a:rPr lang="en-US" sz="2400" b="true">
                  <a:solidFill>
                    <a:srgbClr val="2563EB"/>
                  </a:solidFill>
                  <a:latin typeface="Trebuchet MS Bold"/>
                  <a:ea typeface="Trebuchet MS Bold"/>
                  <a:cs typeface="Trebuchet MS Bold"/>
                  <a:sym typeface="Trebuchet MS Bold"/>
                </a:rPr>
                <a:t> Score: 720  — GOOD ✅</a:t>
              </a:r>
            </a:p>
          </p:txBody>
        </p:sp>
      </p:grpSp>
      <p:grpSp>
        <p:nvGrpSpPr>
          <p:cNvPr name="Group 15" id="15"/>
          <p:cNvGrpSpPr/>
          <p:nvPr/>
        </p:nvGrpSpPr>
        <p:grpSpPr>
          <a:xfrm rot="0">
            <a:off x="901703" y="3864359"/>
            <a:ext cx="7889243" cy="1159259"/>
            <a:chOff x="0" y="0"/>
            <a:chExt cx="10518991" cy="1545679"/>
          </a:xfrm>
        </p:grpSpPr>
        <p:sp>
          <p:nvSpPr>
            <p:cNvPr name="Freeform 16" id="16"/>
            <p:cNvSpPr/>
            <p:nvPr/>
          </p:nvSpPr>
          <p:spPr>
            <a:xfrm flipH="false" flipV="false" rot="0">
              <a:off x="16891" y="16891"/>
              <a:ext cx="10485120" cy="1511808"/>
            </a:xfrm>
            <a:custGeom>
              <a:avLst/>
              <a:gdLst/>
              <a:ahLst/>
              <a:cxnLst/>
              <a:rect r="r" b="b" t="t" l="l"/>
              <a:pathLst>
                <a:path h="1511808" w="10485120">
                  <a:moveTo>
                    <a:pt x="0" y="0"/>
                  </a:moveTo>
                  <a:lnTo>
                    <a:pt x="10485120" y="0"/>
                  </a:lnTo>
                  <a:lnTo>
                    <a:pt x="10485120" y="1511808"/>
                  </a:lnTo>
                  <a:lnTo>
                    <a:pt x="0" y="1511808"/>
                  </a:lnTo>
                  <a:close/>
                </a:path>
              </a:pathLst>
            </a:custGeom>
            <a:solidFill>
              <a:srgbClr val="F0FDF4"/>
            </a:solidFill>
          </p:spPr>
        </p:sp>
        <p:sp>
          <p:nvSpPr>
            <p:cNvPr name="Freeform 17" id="17"/>
            <p:cNvSpPr/>
            <p:nvPr/>
          </p:nvSpPr>
          <p:spPr>
            <a:xfrm flipH="false" flipV="false" rot="0">
              <a:off x="0" y="0"/>
              <a:ext cx="10518901" cy="1545590"/>
            </a:xfrm>
            <a:custGeom>
              <a:avLst/>
              <a:gdLst/>
              <a:ahLst/>
              <a:cxnLst/>
              <a:rect r="r" b="b" t="t" l="l"/>
              <a:pathLst>
                <a:path h="1545590" w="10518901">
                  <a:moveTo>
                    <a:pt x="16891" y="0"/>
                  </a:moveTo>
                  <a:lnTo>
                    <a:pt x="10502011" y="0"/>
                  </a:lnTo>
                  <a:cubicBezTo>
                    <a:pt x="10511409" y="0"/>
                    <a:pt x="10518901" y="7620"/>
                    <a:pt x="10518901" y="16891"/>
                  </a:cubicBezTo>
                  <a:lnTo>
                    <a:pt x="10518901" y="1528699"/>
                  </a:lnTo>
                  <a:cubicBezTo>
                    <a:pt x="10518901" y="1538097"/>
                    <a:pt x="10511282" y="1545590"/>
                    <a:pt x="105020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0502011" y="1511808"/>
                  </a:lnTo>
                  <a:lnTo>
                    <a:pt x="10502011" y="1528699"/>
                  </a:lnTo>
                  <a:lnTo>
                    <a:pt x="10485120" y="1528699"/>
                  </a:lnTo>
                  <a:lnTo>
                    <a:pt x="10485120" y="16891"/>
                  </a:lnTo>
                  <a:lnTo>
                    <a:pt x="10502011" y="16891"/>
                  </a:lnTo>
                  <a:lnTo>
                    <a:pt x="10502011" y="33909"/>
                  </a:lnTo>
                  <a:lnTo>
                    <a:pt x="16891" y="33909"/>
                  </a:lnTo>
                  <a:close/>
                </a:path>
              </a:pathLst>
            </a:custGeom>
            <a:solidFill>
              <a:srgbClr val="86EFAC"/>
            </a:solidFill>
          </p:spPr>
        </p:sp>
      </p:grpSp>
      <p:grpSp>
        <p:nvGrpSpPr>
          <p:cNvPr name="Group 18" id="18"/>
          <p:cNvGrpSpPr/>
          <p:nvPr/>
        </p:nvGrpSpPr>
        <p:grpSpPr>
          <a:xfrm rot="0">
            <a:off x="1133856" y="3968496"/>
            <a:ext cx="6035040" cy="950976"/>
            <a:chOff x="0" y="0"/>
            <a:chExt cx="8046720" cy="1267968"/>
          </a:xfrm>
        </p:grpSpPr>
        <p:sp>
          <p:nvSpPr>
            <p:cNvPr name="Freeform 19" id="19"/>
            <p:cNvSpPr/>
            <p:nvPr/>
          </p:nvSpPr>
          <p:spPr>
            <a:xfrm flipH="false" flipV="false" rot="0">
              <a:off x="0" y="0"/>
              <a:ext cx="8046720" cy="1267968"/>
            </a:xfrm>
            <a:custGeom>
              <a:avLst/>
              <a:gdLst/>
              <a:ahLst/>
              <a:cxnLst/>
              <a:rect r="r" b="b" t="t" l="l"/>
              <a:pathLst>
                <a:path h="1267968" w="8046720">
                  <a:moveTo>
                    <a:pt x="0" y="0"/>
                  </a:moveTo>
                  <a:lnTo>
                    <a:pt x="8046720" y="0"/>
                  </a:lnTo>
                  <a:lnTo>
                    <a:pt x="8046720" y="1267968"/>
                  </a:lnTo>
                  <a:lnTo>
                    <a:pt x="0" y="1267968"/>
                  </a:lnTo>
                  <a:close/>
                </a:path>
              </a:pathLst>
            </a:custGeom>
            <a:blipFill>
              <a:blip r:embed="rId2">
                <a:alphaModFix amt="0"/>
              </a:blip>
              <a:stretch>
                <a:fillRect l="0" t="-73655" r="0" b="-73655"/>
              </a:stretch>
            </a:blipFill>
          </p:spPr>
        </p:sp>
        <p:sp>
          <p:nvSpPr>
            <p:cNvPr name="TextBox 20" id="20"/>
            <p:cNvSpPr txBox="true"/>
            <p:nvPr/>
          </p:nvSpPr>
          <p:spPr>
            <a:xfrm>
              <a:off x="0" y="-66675"/>
              <a:ext cx="8046720" cy="1334643"/>
            </a:xfrm>
            <a:prstGeom prst="rect">
              <a:avLst/>
            </a:prstGeom>
          </p:spPr>
          <p:txBody>
            <a:bodyPr anchor="ctr" rtlCol="false" tIns="0" lIns="0" bIns="0" rIns="0"/>
            <a:lstStyle/>
            <a:p>
              <a:pPr algn="l">
                <a:lnSpc>
                  <a:spcPts val="2400"/>
                </a:lnSpc>
              </a:pPr>
              <a:r>
                <a:rPr lang="en-US" sz="2000">
                  <a:solidFill>
                    <a:srgbClr val="334155"/>
                  </a:solidFill>
                  <a:latin typeface="Agrandir Narrow"/>
                  <a:ea typeface="Agrandir Narrow"/>
                  <a:cs typeface="Agrandir Narrow"/>
                  <a:sym typeface="Agrandir Narrow"/>
                </a:rPr>
                <a:t>✅ Phone bill payments — 23/24 on time</a:t>
              </a:r>
            </a:p>
          </p:txBody>
        </p:sp>
      </p:grpSp>
      <p:grpSp>
        <p:nvGrpSpPr>
          <p:cNvPr name="Group 21" id="21"/>
          <p:cNvGrpSpPr/>
          <p:nvPr/>
        </p:nvGrpSpPr>
        <p:grpSpPr>
          <a:xfrm rot="0">
            <a:off x="7223760" y="3968496"/>
            <a:ext cx="1280160" cy="950976"/>
            <a:chOff x="0" y="0"/>
            <a:chExt cx="1706880" cy="1267968"/>
          </a:xfrm>
        </p:grpSpPr>
        <p:sp>
          <p:nvSpPr>
            <p:cNvPr name="Freeform 22" id="22"/>
            <p:cNvSpPr/>
            <p:nvPr/>
          </p:nvSpPr>
          <p:spPr>
            <a:xfrm flipH="false" flipV="false" rot="0">
              <a:off x="0" y="0"/>
              <a:ext cx="1706880" cy="1267968"/>
            </a:xfrm>
            <a:custGeom>
              <a:avLst/>
              <a:gdLst/>
              <a:ahLst/>
              <a:cxnLst/>
              <a:rect r="r" b="b" t="t" l="l"/>
              <a:pathLst>
                <a:path h="1267968" w="1706880">
                  <a:moveTo>
                    <a:pt x="0" y="0"/>
                  </a:moveTo>
                  <a:lnTo>
                    <a:pt x="1706880" y="0"/>
                  </a:lnTo>
                  <a:lnTo>
                    <a:pt x="1706880" y="1267968"/>
                  </a:lnTo>
                  <a:lnTo>
                    <a:pt x="0" y="1267968"/>
                  </a:lnTo>
                  <a:close/>
                </a:path>
              </a:pathLst>
            </a:custGeom>
            <a:blipFill>
              <a:blip r:embed="rId2">
                <a:alphaModFix amt="0"/>
              </a:blip>
              <a:stretch>
                <a:fillRect l="-45311" t="0" r="-45311" b="0"/>
              </a:stretch>
            </a:blipFill>
          </p:spPr>
        </p:sp>
        <p:sp>
          <p:nvSpPr>
            <p:cNvPr name="TextBox 23" id="23"/>
            <p:cNvSpPr txBox="true"/>
            <p:nvPr/>
          </p:nvSpPr>
          <p:spPr>
            <a:xfrm>
              <a:off x="0" y="-19050"/>
              <a:ext cx="1706880" cy="1287018"/>
            </a:xfrm>
            <a:prstGeom prst="rect">
              <a:avLst/>
            </a:prstGeom>
          </p:spPr>
          <p:txBody>
            <a:bodyPr anchor="ctr" rtlCol="false" tIns="0" lIns="0" bIns="0" rIns="0"/>
            <a:lstStyle/>
            <a:p>
              <a:pPr algn="r">
                <a:lnSpc>
                  <a:spcPts val="2640"/>
                </a:lnSpc>
              </a:pPr>
              <a:r>
                <a:rPr lang="en-US" sz="2200" b="true">
                  <a:solidFill>
                    <a:srgbClr val="16A34A"/>
                  </a:solidFill>
                  <a:latin typeface="Trebuchet MS Bold"/>
                  <a:ea typeface="Trebuchet MS Bold"/>
                  <a:cs typeface="Trebuchet MS Bold"/>
                  <a:sym typeface="Trebuchet MS Bold"/>
                </a:rPr>
                <a:t>+89 pts</a:t>
              </a:r>
            </a:p>
          </p:txBody>
        </p:sp>
      </p:grpSp>
      <p:grpSp>
        <p:nvGrpSpPr>
          <p:cNvPr name="Group 24" id="24"/>
          <p:cNvGrpSpPr/>
          <p:nvPr/>
        </p:nvGrpSpPr>
        <p:grpSpPr>
          <a:xfrm rot="0">
            <a:off x="901703" y="5181095"/>
            <a:ext cx="7889243" cy="1159259"/>
            <a:chOff x="0" y="0"/>
            <a:chExt cx="10518991" cy="1545679"/>
          </a:xfrm>
        </p:grpSpPr>
        <p:sp>
          <p:nvSpPr>
            <p:cNvPr name="Freeform 25" id="25"/>
            <p:cNvSpPr/>
            <p:nvPr/>
          </p:nvSpPr>
          <p:spPr>
            <a:xfrm flipH="false" flipV="false" rot="0">
              <a:off x="16891" y="16891"/>
              <a:ext cx="10485120" cy="1511808"/>
            </a:xfrm>
            <a:custGeom>
              <a:avLst/>
              <a:gdLst/>
              <a:ahLst/>
              <a:cxnLst/>
              <a:rect r="r" b="b" t="t" l="l"/>
              <a:pathLst>
                <a:path h="1511808" w="10485120">
                  <a:moveTo>
                    <a:pt x="0" y="0"/>
                  </a:moveTo>
                  <a:lnTo>
                    <a:pt x="10485120" y="0"/>
                  </a:lnTo>
                  <a:lnTo>
                    <a:pt x="10485120" y="1511808"/>
                  </a:lnTo>
                  <a:lnTo>
                    <a:pt x="0" y="1511808"/>
                  </a:lnTo>
                  <a:close/>
                </a:path>
              </a:pathLst>
            </a:custGeom>
            <a:solidFill>
              <a:srgbClr val="F0FDF4"/>
            </a:solidFill>
          </p:spPr>
        </p:sp>
        <p:sp>
          <p:nvSpPr>
            <p:cNvPr name="Freeform 26" id="26"/>
            <p:cNvSpPr/>
            <p:nvPr/>
          </p:nvSpPr>
          <p:spPr>
            <a:xfrm flipH="false" flipV="false" rot="0">
              <a:off x="0" y="0"/>
              <a:ext cx="10518901" cy="1545590"/>
            </a:xfrm>
            <a:custGeom>
              <a:avLst/>
              <a:gdLst/>
              <a:ahLst/>
              <a:cxnLst/>
              <a:rect r="r" b="b" t="t" l="l"/>
              <a:pathLst>
                <a:path h="1545590" w="10518901">
                  <a:moveTo>
                    <a:pt x="16891" y="0"/>
                  </a:moveTo>
                  <a:lnTo>
                    <a:pt x="10502011" y="0"/>
                  </a:lnTo>
                  <a:cubicBezTo>
                    <a:pt x="10511409" y="0"/>
                    <a:pt x="10518901" y="7620"/>
                    <a:pt x="10518901" y="16891"/>
                  </a:cubicBezTo>
                  <a:lnTo>
                    <a:pt x="10518901" y="1528699"/>
                  </a:lnTo>
                  <a:cubicBezTo>
                    <a:pt x="10518901" y="1538097"/>
                    <a:pt x="10511282" y="1545590"/>
                    <a:pt x="105020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0502011" y="1511808"/>
                  </a:lnTo>
                  <a:lnTo>
                    <a:pt x="10502011" y="1528699"/>
                  </a:lnTo>
                  <a:lnTo>
                    <a:pt x="10485120" y="1528699"/>
                  </a:lnTo>
                  <a:lnTo>
                    <a:pt x="10485120" y="16891"/>
                  </a:lnTo>
                  <a:lnTo>
                    <a:pt x="10502011" y="16891"/>
                  </a:lnTo>
                  <a:lnTo>
                    <a:pt x="10502011" y="33909"/>
                  </a:lnTo>
                  <a:lnTo>
                    <a:pt x="16891" y="33909"/>
                  </a:lnTo>
                  <a:close/>
                </a:path>
              </a:pathLst>
            </a:custGeom>
            <a:solidFill>
              <a:srgbClr val="86EFAC"/>
            </a:solidFill>
          </p:spPr>
        </p:sp>
      </p:grpSp>
      <p:grpSp>
        <p:nvGrpSpPr>
          <p:cNvPr name="Group 27" id="27"/>
          <p:cNvGrpSpPr/>
          <p:nvPr/>
        </p:nvGrpSpPr>
        <p:grpSpPr>
          <a:xfrm rot="0">
            <a:off x="1133856" y="5285232"/>
            <a:ext cx="6035040" cy="950976"/>
            <a:chOff x="0" y="0"/>
            <a:chExt cx="8046720" cy="1267968"/>
          </a:xfrm>
        </p:grpSpPr>
        <p:sp>
          <p:nvSpPr>
            <p:cNvPr name="Freeform 28" id="28"/>
            <p:cNvSpPr/>
            <p:nvPr/>
          </p:nvSpPr>
          <p:spPr>
            <a:xfrm flipH="false" flipV="false" rot="0">
              <a:off x="0" y="0"/>
              <a:ext cx="8046720" cy="1267968"/>
            </a:xfrm>
            <a:custGeom>
              <a:avLst/>
              <a:gdLst/>
              <a:ahLst/>
              <a:cxnLst/>
              <a:rect r="r" b="b" t="t" l="l"/>
              <a:pathLst>
                <a:path h="1267968" w="8046720">
                  <a:moveTo>
                    <a:pt x="0" y="0"/>
                  </a:moveTo>
                  <a:lnTo>
                    <a:pt x="8046720" y="0"/>
                  </a:lnTo>
                  <a:lnTo>
                    <a:pt x="8046720" y="1267968"/>
                  </a:lnTo>
                  <a:lnTo>
                    <a:pt x="0" y="1267968"/>
                  </a:lnTo>
                  <a:close/>
                </a:path>
              </a:pathLst>
            </a:custGeom>
            <a:blipFill>
              <a:blip r:embed="rId2">
                <a:alphaModFix amt="0"/>
              </a:blip>
              <a:stretch>
                <a:fillRect l="0" t="-73655" r="0" b="-73655"/>
              </a:stretch>
            </a:blipFill>
          </p:spPr>
        </p:sp>
        <p:sp>
          <p:nvSpPr>
            <p:cNvPr name="TextBox 29" id="29"/>
            <p:cNvSpPr txBox="true"/>
            <p:nvPr/>
          </p:nvSpPr>
          <p:spPr>
            <a:xfrm>
              <a:off x="0" y="-66675"/>
              <a:ext cx="8046720" cy="1334643"/>
            </a:xfrm>
            <a:prstGeom prst="rect">
              <a:avLst/>
            </a:prstGeom>
          </p:spPr>
          <p:txBody>
            <a:bodyPr anchor="ctr" rtlCol="false" tIns="0" lIns="0" bIns="0" rIns="0"/>
            <a:lstStyle/>
            <a:p>
              <a:pPr algn="l">
                <a:lnSpc>
                  <a:spcPts val="2400"/>
                </a:lnSpc>
              </a:pPr>
              <a:r>
                <a:rPr lang="en-US" sz="2000">
                  <a:solidFill>
                    <a:srgbClr val="334155"/>
                  </a:solidFill>
                  <a:latin typeface="Agrandir Narrow"/>
                  <a:ea typeface="Agrandir Narrow"/>
                  <a:cs typeface="Agrandir Narrow"/>
                  <a:sym typeface="Agrandir Narrow"/>
                </a:rPr>
                <a:t>✅ UPI inflow — steady 12-month growth</a:t>
              </a:r>
            </a:p>
          </p:txBody>
        </p:sp>
      </p:grpSp>
      <p:grpSp>
        <p:nvGrpSpPr>
          <p:cNvPr name="Group 30" id="30"/>
          <p:cNvGrpSpPr/>
          <p:nvPr/>
        </p:nvGrpSpPr>
        <p:grpSpPr>
          <a:xfrm rot="0">
            <a:off x="7223760" y="5285232"/>
            <a:ext cx="1280160" cy="950976"/>
            <a:chOff x="0" y="0"/>
            <a:chExt cx="1706880" cy="1267968"/>
          </a:xfrm>
        </p:grpSpPr>
        <p:sp>
          <p:nvSpPr>
            <p:cNvPr name="Freeform 31" id="31"/>
            <p:cNvSpPr/>
            <p:nvPr/>
          </p:nvSpPr>
          <p:spPr>
            <a:xfrm flipH="false" flipV="false" rot="0">
              <a:off x="0" y="0"/>
              <a:ext cx="1706880" cy="1267968"/>
            </a:xfrm>
            <a:custGeom>
              <a:avLst/>
              <a:gdLst/>
              <a:ahLst/>
              <a:cxnLst/>
              <a:rect r="r" b="b" t="t" l="l"/>
              <a:pathLst>
                <a:path h="1267968" w="1706880">
                  <a:moveTo>
                    <a:pt x="0" y="0"/>
                  </a:moveTo>
                  <a:lnTo>
                    <a:pt x="1706880" y="0"/>
                  </a:lnTo>
                  <a:lnTo>
                    <a:pt x="1706880" y="1267968"/>
                  </a:lnTo>
                  <a:lnTo>
                    <a:pt x="0" y="1267968"/>
                  </a:lnTo>
                  <a:close/>
                </a:path>
              </a:pathLst>
            </a:custGeom>
            <a:blipFill>
              <a:blip r:embed="rId2">
                <a:alphaModFix amt="0"/>
              </a:blip>
              <a:stretch>
                <a:fillRect l="-45311" t="0" r="-45311" b="0"/>
              </a:stretch>
            </a:blipFill>
          </p:spPr>
        </p:sp>
        <p:sp>
          <p:nvSpPr>
            <p:cNvPr name="TextBox 32" id="32"/>
            <p:cNvSpPr txBox="true"/>
            <p:nvPr/>
          </p:nvSpPr>
          <p:spPr>
            <a:xfrm>
              <a:off x="0" y="-19050"/>
              <a:ext cx="1706880" cy="1287018"/>
            </a:xfrm>
            <a:prstGeom prst="rect">
              <a:avLst/>
            </a:prstGeom>
          </p:spPr>
          <p:txBody>
            <a:bodyPr anchor="ctr" rtlCol="false" tIns="0" lIns="0" bIns="0" rIns="0"/>
            <a:lstStyle/>
            <a:p>
              <a:pPr algn="r">
                <a:lnSpc>
                  <a:spcPts val="2640"/>
                </a:lnSpc>
              </a:pPr>
              <a:r>
                <a:rPr lang="en-US" sz="2200" b="true">
                  <a:solidFill>
                    <a:srgbClr val="16A34A"/>
                  </a:solidFill>
                  <a:latin typeface="Trebuchet MS Bold"/>
                  <a:ea typeface="Trebuchet MS Bold"/>
                  <a:cs typeface="Trebuchet MS Bold"/>
                  <a:sym typeface="Trebuchet MS Bold"/>
                </a:rPr>
                <a:t>+67 pts</a:t>
              </a:r>
            </a:p>
          </p:txBody>
        </p:sp>
      </p:grpSp>
      <p:grpSp>
        <p:nvGrpSpPr>
          <p:cNvPr name="Group 33" id="33"/>
          <p:cNvGrpSpPr/>
          <p:nvPr/>
        </p:nvGrpSpPr>
        <p:grpSpPr>
          <a:xfrm rot="0">
            <a:off x="901703" y="6497831"/>
            <a:ext cx="7889243" cy="1159259"/>
            <a:chOff x="0" y="0"/>
            <a:chExt cx="10518991" cy="1545679"/>
          </a:xfrm>
        </p:grpSpPr>
        <p:sp>
          <p:nvSpPr>
            <p:cNvPr name="Freeform 34" id="34"/>
            <p:cNvSpPr/>
            <p:nvPr/>
          </p:nvSpPr>
          <p:spPr>
            <a:xfrm flipH="false" flipV="false" rot="0">
              <a:off x="16891" y="16891"/>
              <a:ext cx="10485120" cy="1511808"/>
            </a:xfrm>
            <a:custGeom>
              <a:avLst/>
              <a:gdLst/>
              <a:ahLst/>
              <a:cxnLst/>
              <a:rect r="r" b="b" t="t" l="l"/>
              <a:pathLst>
                <a:path h="1511808" w="10485120">
                  <a:moveTo>
                    <a:pt x="0" y="0"/>
                  </a:moveTo>
                  <a:lnTo>
                    <a:pt x="10485120" y="0"/>
                  </a:lnTo>
                  <a:lnTo>
                    <a:pt x="10485120" y="1511808"/>
                  </a:lnTo>
                  <a:lnTo>
                    <a:pt x="0" y="1511808"/>
                  </a:lnTo>
                  <a:close/>
                </a:path>
              </a:pathLst>
            </a:custGeom>
            <a:solidFill>
              <a:srgbClr val="F0FDF4"/>
            </a:solidFill>
          </p:spPr>
        </p:sp>
        <p:sp>
          <p:nvSpPr>
            <p:cNvPr name="Freeform 35" id="35"/>
            <p:cNvSpPr/>
            <p:nvPr/>
          </p:nvSpPr>
          <p:spPr>
            <a:xfrm flipH="false" flipV="false" rot="0">
              <a:off x="0" y="0"/>
              <a:ext cx="10518901" cy="1545590"/>
            </a:xfrm>
            <a:custGeom>
              <a:avLst/>
              <a:gdLst/>
              <a:ahLst/>
              <a:cxnLst/>
              <a:rect r="r" b="b" t="t" l="l"/>
              <a:pathLst>
                <a:path h="1545590" w="10518901">
                  <a:moveTo>
                    <a:pt x="16891" y="0"/>
                  </a:moveTo>
                  <a:lnTo>
                    <a:pt x="10502011" y="0"/>
                  </a:lnTo>
                  <a:cubicBezTo>
                    <a:pt x="10511409" y="0"/>
                    <a:pt x="10518901" y="7620"/>
                    <a:pt x="10518901" y="16891"/>
                  </a:cubicBezTo>
                  <a:lnTo>
                    <a:pt x="10518901" y="1528699"/>
                  </a:lnTo>
                  <a:cubicBezTo>
                    <a:pt x="10518901" y="1538097"/>
                    <a:pt x="10511282" y="1545590"/>
                    <a:pt x="105020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0502011" y="1511808"/>
                  </a:lnTo>
                  <a:lnTo>
                    <a:pt x="10502011" y="1528699"/>
                  </a:lnTo>
                  <a:lnTo>
                    <a:pt x="10485120" y="1528699"/>
                  </a:lnTo>
                  <a:lnTo>
                    <a:pt x="10485120" y="16891"/>
                  </a:lnTo>
                  <a:lnTo>
                    <a:pt x="10502011" y="16891"/>
                  </a:lnTo>
                  <a:lnTo>
                    <a:pt x="10502011" y="33909"/>
                  </a:lnTo>
                  <a:lnTo>
                    <a:pt x="16891" y="33909"/>
                  </a:lnTo>
                  <a:close/>
                </a:path>
              </a:pathLst>
            </a:custGeom>
            <a:solidFill>
              <a:srgbClr val="86EFAC"/>
            </a:solidFill>
          </p:spPr>
        </p:sp>
      </p:grpSp>
      <p:grpSp>
        <p:nvGrpSpPr>
          <p:cNvPr name="Group 36" id="36"/>
          <p:cNvGrpSpPr/>
          <p:nvPr/>
        </p:nvGrpSpPr>
        <p:grpSpPr>
          <a:xfrm rot="0">
            <a:off x="1133856" y="6601968"/>
            <a:ext cx="6035040" cy="950976"/>
            <a:chOff x="0" y="0"/>
            <a:chExt cx="8046720" cy="1267968"/>
          </a:xfrm>
        </p:grpSpPr>
        <p:sp>
          <p:nvSpPr>
            <p:cNvPr name="Freeform 37" id="37"/>
            <p:cNvSpPr/>
            <p:nvPr/>
          </p:nvSpPr>
          <p:spPr>
            <a:xfrm flipH="false" flipV="false" rot="0">
              <a:off x="0" y="0"/>
              <a:ext cx="8046720" cy="1267968"/>
            </a:xfrm>
            <a:custGeom>
              <a:avLst/>
              <a:gdLst/>
              <a:ahLst/>
              <a:cxnLst/>
              <a:rect r="r" b="b" t="t" l="l"/>
              <a:pathLst>
                <a:path h="1267968" w="8046720">
                  <a:moveTo>
                    <a:pt x="0" y="0"/>
                  </a:moveTo>
                  <a:lnTo>
                    <a:pt x="8046720" y="0"/>
                  </a:lnTo>
                  <a:lnTo>
                    <a:pt x="8046720" y="1267968"/>
                  </a:lnTo>
                  <a:lnTo>
                    <a:pt x="0" y="1267968"/>
                  </a:lnTo>
                  <a:close/>
                </a:path>
              </a:pathLst>
            </a:custGeom>
            <a:blipFill>
              <a:blip r:embed="rId2">
                <a:alphaModFix amt="0"/>
              </a:blip>
              <a:stretch>
                <a:fillRect l="0" t="-73655" r="0" b="-73655"/>
              </a:stretch>
            </a:blipFill>
          </p:spPr>
        </p:sp>
        <p:sp>
          <p:nvSpPr>
            <p:cNvPr name="TextBox 38" id="38"/>
            <p:cNvSpPr txBox="true"/>
            <p:nvPr/>
          </p:nvSpPr>
          <p:spPr>
            <a:xfrm>
              <a:off x="0" y="-66675"/>
              <a:ext cx="8046720" cy="1334643"/>
            </a:xfrm>
            <a:prstGeom prst="rect">
              <a:avLst/>
            </a:prstGeom>
          </p:spPr>
          <p:txBody>
            <a:bodyPr anchor="ctr" rtlCol="false" tIns="0" lIns="0" bIns="0" rIns="0"/>
            <a:lstStyle/>
            <a:p>
              <a:pPr algn="l">
                <a:lnSpc>
                  <a:spcPts val="2400"/>
                </a:lnSpc>
              </a:pPr>
              <a:r>
                <a:rPr lang="en-US" sz="2000">
                  <a:solidFill>
                    <a:srgbClr val="334155"/>
                  </a:solidFill>
                  <a:latin typeface="Agrandir Narrow"/>
                  <a:ea typeface="Agrandir Narrow"/>
                  <a:cs typeface="Agrandir Narrow"/>
                  <a:sym typeface="Agrandir Narrow"/>
                </a:rPr>
                <a:t>✅ Questionnaire — strong responsibility</a:t>
              </a:r>
            </a:p>
          </p:txBody>
        </p:sp>
      </p:grpSp>
      <p:grpSp>
        <p:nvGrpSpPr>
          <p:cNvPr name="Group 39" id="39"/>
          <p:cNvGrpSpPr/>
          <p:nvPr/>
        </p:nvGrpSpPr>
        <p:grpSpPr>
          <a:xfrm rot="0">
            <a:off x="7223760" y="6601968"/>
            <a:ext cx="1280160" cy="950976"/>
            <a:chOff x="0" y="0"/>
            <a:chExt cx="1706880" cy="1267968"/>
          </a:xfrm>
        </p:grpSpPr>
        <p:sp>
          <p:nvSpPr>
            <p:cNvPr name="Freeform 40" id="40"/>
            <p:cNvSpPr/>
            <p:nvPr/>
          </p:nvSpPr>
          <p:spPr>
            <a:xfrm flipH="false" flipV="false" rot="0">
              <a:off x="0" y="0"/>
              <a:ext cx="1706880" cy="1267968"/>
            </a:xfrm>
            <a:custGeom>
              <a:avLst/>
              <a:gdLst/>
              <a:ahLst/>
              <a:cxnLst/>
              <a:rect r="r" b="b" t="t" l="l"/>
              <a:pathLst>
                <a:path h="1267968" w="1706880">
                  <a:moveTo>
                    <a:pt x="0" y="0"/>
                  </a:moveTo>
                  <a:lnTo>
                    <a:pt x="1706880" y="0"/>
                  </a:lnTo>
                  <a:lnTo>
                    <a:pt x="1706880" y="1267968"/>
                  </a:lnTo>
                  <a:lnTo>
                    <a:pt x="0" y="1267968"/>
                  </a:lnTo>
                  <a:close/>
                </a:path>
              </a:pathLst>
            </a:custGeom>
            <a:blipFill>
              <a:blip r:embed="rId2">
                <a:alphaModFix amt="0"/>
              </a:blip>
              <a:stretch>
                <a:fillRect l="-45311" t="0" r="-45311" b="0"/>
              </a:stretch>
            </a:blipFill>
          </p:spPr>
        </p:sp>
        <p:sp>
          <p:nvSpPr>
            <p:cNvPr name="TextBox 41" id="41"/>
            <p:cNvSpPr txBox="true"/>
            <p:nvPr/>
          </p:nvSpPr>
          <p:spPr>
            <a:xfrm>
              <a:off x="0" y="-19050"/>
              <a:ext cx="1706880" cy="1287018"/>
            </a:xfrm>
            <a:prstGeom prst="rect">
              <a:avLst/>
            </a:prstGeom>
          </p:spPr>
          <p:txBody>
            <a:bodyPr anchor="ctr" rtlCol="false" tIns="0" lIns="0" bIns="0" rIns="0"/>
            <a:lstStyle/>
            <a:p>
              <a:pPr algn="r">
                <a:lnSpc>
                  <a:spcPts val="2640"/>
                </a:lnSpc>
              </a:pPr>
              <a:r>
                <a:rPr lang="en-US" sz="2200" b="true">
                  <a:solidFill>
                    <a:srgbClr val="16A34A"/>
                  </a:solidFill>
                  <a:latin typeface="Trebuchet MS Bold"/>
                  <a:ea typeface="Trebuchet MS Bold"/>
                  <a:cs typeface="Trebuchet MS Bold"/>
                  <a:sym typeface="Trebuchet MS Bold"/>
                </a:rPr>
                <a:t>+45 pts</a:t>
              </a:r>
            </a:p>
          </p:txBody>
        </p:sp>
      </p:grpSp>
      <p:grpSp>
        <p:nvGrpSpPr>
          <p:cNvPr name="Group 42" id="42"/>
          <p:cNvGrpSpPr/>
          <p:nvPr/>
        </p:nvGrpSpPr>
        <p:grpSpPr>
          <a:xfrm rot="0">
            <a:off x="901703" y="7814567"/>
            <a:ext cx="7889243" cy="1159259"/>
            <a:chOff x="0" y="0"/>
            <a:chExt cx="10518991" cy="1545679"/>
          </a:xfrm>
        </p:grpSpPr>
        <p:sp>
          <p:nvSpPr>
            <p:cNvPr name="Freeform 43" id="43"/>
            <p:cNvSpPr/>
            <p:nvPr/>
          </p:nvSpPr>
          <p:spPr>
            <a:xfrm flipH="false" flipV="false" rot="0">
              <a:off x="16891" y="16891"/>
              <a:ext cx="10485120" cy="1511808"/>
            </a:xfrm>
            <a:custGeom>
              <a:avLst/>
              <a:gdLst/>
              <a:ahLst/>
              <a:cxnLst/>
              <a:rect r="r" b="b" t="t" l="l"/>
              <a:pathLst>
                <a:path h="1511808" w="10485120">
                  <a:moveTo>
                    <a:pt x="0" y="0"/>
                  </a:moveTo>
                  <a:lnTo>
                    <a:pt x="10485120" y="0"/>
                  </a:lnTo>
                  <a:lnTo>
                    <a:pt x="10485120" y="1511808"/>
                  </a:lnTo>
                  <a:lnTo>
                    <a:pt x="0" y="1511808"/>
                  </a:lnTo>
                  <a:close/>
                </a:path>
              </a:pathLst>
            </a:custGeom>
            <a:solidFill>
              <a:srgbClr val="FFFBEB"/>
            </a:solidFill>
          </p:spPr>
        </p:sp>
        <p:sp>
          <p:nvSpPr>
            <p:cNvPr name="Freeform 44" id="44"/>
            <p:cNvSpPr/>
            <p:nvPr/>
          </p:nvSpPr>
          <p:spPr>
            <a:xfrm flipH="false" flipV="false" rot="0">
              <a:off x="0" y="0"/>
              <a:ext cx="10518901" cy="1545590"/>
            </a:xfrm>
            <a:custGeom>
              <a:avLst/>
              <a:gdLst/>
              <a:ahLst/>
              <a:cxnLst/>
              <a:rect r="r" b="b" t="t" l="l"/>
              <a:pathLst>
                <a:path h="1545590" w="10518901">
                  <a:moveTo>
                    <a:pt x="16891" y="0"/>
                  </a:moveTo>
                  <a:lnTo>
                    <a:pt x="10502011" y="0"/>
                  </a:lnTo>
                  <a:cubicBezTo>
                    <a:pt x="10511409" y="0"/>
                    <a:pt x="10518901" y="7620"/>
                    <a:pt x="10518901" y="16891"/>
                  </a:cubicBezTo>
                  <a:lnTo>
                    <a:pt x="10518901" y="1528699"/>
                  </a:lnTo>
                  <a:cubicBezTo>
                    <a:pt x="10518901" y="1538097"/>
                    <a:pt x="10511282" y="1545590"/>
                    <a:pt x="1050201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10502011" y="1511808"/>
                  </a:lnTo>
                  <a:lnTo>
                    <a:pt x="10502011" y="1528699"/>
                  </a:lnTo>
                  <a:lnTo>
                    <a:pt x="10485120" y="1528699"/>
                  </a:lnTo>
                  <a:lnTo>
                    <a:pt x="10485120" y="16891"/>
                  </a:lnTo>
                  <a:lnTo>
                    <a:pt x="10502011" y="16891"/>
                  </a:lnTo>
                  <a:lnTo>
                    <a:pt x="10502011" y="33909"/>
                  </a:lnTo>
                  <a:lnTo>
                    <a:pt x="16891" y="33909"/>
                  </a:lnTo>
                  <a:close/>
                </a:path>
              </a:pathLst>
            </a:custGeom>
            <a:solidFill>
              <a:srgbClr val="FDE68A"/>
            </a:solidFill>
          </p:spPr>
        </p:sp>
      </p:grpSp>
      <p:grpSp>
        <p:nvGrpSpPr>
          <p:cNvPr name="Group 45" id="45"/>
          <p:cNvGrpSpPr/>
          <p:nvPr/>
        </p:nvGrpSpPr>
        <p:grpSpPr>
          <a:xfrm rot="0">
            <a:off x="1133856" y="7918704"/>
            <a:ext cx="6035040" cy="950976"/>
            <a:chOff x="0" y="0"/>
            <a:chExt cx="8046720" cy="1267968"/>
          </a:xfrm>
        </p:grpSpPr>
        <p:sp>
          <p:nvSpPr>
            <p:cNvPr name="Freeform 46" id="46"/>
            <p:cNvSpPr/>
            <p:nvPr/>
          </p:nvSpPr>
          <p:spPr>
            <a:xfrm flipH="false" flipV="false" rot="0">
              <a:off x="0" y="0"/>
              <a:ext cx="8046720" cy="1267968"/>
            </a:xfrm>
            <a:custGeom>
              <a:avLst/>
              <a:gdLst/>
              <a:ahLst/>
              <a:cxnLst/>
              <a:rect r="r" b="b" t="t" l="l"/>
              <a:pathLst>
                <a:path h="1267968" w="8046720">
                  <a:moveTo>
                    <a:pt x="0" y="0"/>
                  </a:moveTo>
                  <a:lnTo>
                    <a:pt x="8046720" y="0"/>
                  </a:lnTo>
                  <a:lnTo>
                    <a:pt x="8046720" y="1267968"/>
                  </a:lnTo>
                  <a:lnTo>
                    <a:pt x="0" y="1267968"/>
                  </a:lnTo>
                  <a:close/>
                </a:path>
              </a:pathLst>
            </a:custGeom>
            <a:blipFill>
              <a:blip r:embed="rId2">
                <a:alphaModFix amt="0"/>
              </a:blip>
              <a:stretch>
                <a:fillRect l="0" t="-73655" r="0" b="-73655"/>
              </a:stretch>
            </a:blipFill>
          </p:spPr>
        </p:sp>
        <p:sp>
          <p:nvSpPr>
            <p:cNvPr name="TextBox 47" id="47"/>
            <p:cNvSpPr txBox="true"/>
            <p:nvPr/>
          </p:nvSpPr>
          <p:spPr>
            <a:xfrm>
              <a:off x="0" y="-66675"/>
              <a:ext cx="8046720" cy="1334643"/>
            </a:xfrm>
            <a:prstGeom prst="rect">
              <a:avLst/>
            </a:prstGeom>
          </p:spPr>
          <p:txBody>
            <a:bodyPr anchor="ctr" rtlCol="false" tIns="0" lIns="0" bIns="0" rIns="0"/>
            <a:lstStyle/>
            <a:p>
              <a:pPr algn="l">
                <a:lnSpc>
                  <a:spcPts val="2400"/>
                </a:lnSpc>
              </a:pPr>
              <a:r>
                <a:rPr lang="en-US" sz="2000">
                  <a:solidFill>
                    <a:srgbClr val="334155"/>
                  </a:solidFill>
                  <a:latin typeface="Agrandir Narrow"/>
                  <a:ea typeface="Agrandir Narrow"/>
                  <a:cs typeface="Agrandir Narrow"/>
                  <a:sym typeface="Agrandir Narrow"/>
                </a:rPr>
                <a:t>⚠️ E-commerce return rate — above avg</a:t>
              </a:r>
            </a:p>
          </p:txBody>
        </p:sp>
      </p:grpSp>
      <p:grpSp>
        <p:nvGrpSpPr>
          <p:cNvPr name="Group 48" id="48"/>
          <p:cNvGrpSpPr/>
          <p:nvPr/>
        </p:nvGrpSpPr>
        <p:grpSpPr>
          <a:xfrm rot="0">
            <a:off x="7223760" y="7918704"/>
            <a:ext cx="1280160" cy="950976"/>
            <a:chOff x="0" y="0"/>
            <a:chExt cx="1706880" cy="1267968"/>
          </a:xfrm>
        </p:grpSpPr>
        <p:sp>
          <p:nvSpPr>
            <p:cNvPr name="Freeform 49" id="49"/>
            <p:cNvSpPr/>
            <p:nvPr/>
          </p:nvSpPr>
          <p:spPr>
            <a:xfrm flipH="false" flipV="false" rot="0">
              <a:off x="0" y="0"/>
              <a:ext cx="1706880" cy="1267968"/>
            </a:xfrm>
            <a:custGeom>
              <a:avLst/>
              <a:gdLst/>
              <a:ahLst/>
              <a:cxnLst/>
              <a:rect r="r" b="b" t="t" l="l"/>
              <a:pathLst>
                <a:path h="1267968" w="1706880">
                  <a:moveTo>
                    <a:pt x="0" y="0"/>
                  </a:moveTo>
                  <a:lnTo>
                    <a:pt x="1706880" y="0"/>
                  </a:lnTo>
                  <a:lnTo>
                    <a:pt x="1706880" y="1267968"/>
                  </a:lnTo>
                  <a:lnTo>
                    <a:pt x="0" y="1267968"/>
                  </a:lnTo>
                  <a:close/>
                </a:path>
              </a:pathLst>
            </a:custGeom>
            <a:blipFill>
              <a:blip r:embed="rId2">
                <a:alphaModFix amt="0"/>
              </a:blip>
              <a:stretch>
                <a:fillRect l="-45311" t="0" r="-45311" b="0"/>
              </a:stretch>
            </a:blipFill>
          </p:spPr>
        </p:sp>
        <p:sp>
          <p:nvSpPr>
            <p:cNvPr name="TextBox 50" id="50"/>
            <p:cNvSpPr txBox="true"/>
            <p:nvPr/>
          </p:nvSpPr>
          <p:spPr>
            <a:xfrm>
              <a:off x="0" y="-19050"/>
              <a:ext cx="1706880" cy="1287018"/>
            </a:xfrm>
            <a:prstGeom prst="rect">
              <a:avLst/>
            </a:prstGeom>
          </p:spPr>
          <p:txBody>
            <a:bodyPr anchor="ctr" rtlCol="false" tIns="0" lIns="0" bIns="0" rIns="0"/>
            <a:lstStyle/>
            <a:p>
              <a:pPr algn="r">
                <a:lnSpc>
                  <a:spcPts val="2640"/>
                </a:lnSpc>
              </a:pPr>
              <a:r>
                <a:rPr lang="en-US" sz="2200" b="true">
                  <a:solidFill>
                    <a:srgbClr val="D97706"/>
                  </a:solidFill>
                  <a:latin typeface="Trebuchet MS Bold"/>
                  <a:ea typeface="Trebuchet MS Bold"/>
                  <a:cs typeface="Trebuchet MS Bold"/>
                  <a:sym typeface="Trebuchet MS Bold"/>
                </a:rPr>
                <a:t>−23 pts</a:t>
              </a:r>
            </a:p>
          </p:txBody>
        </p:sp>
      </p:grpSp>
      <p:grpSp>
        <p:nvGrpSpPr>
          <p:cNvPr name="Group 51" id="51"/>
          <p:cNvGrpSpPr/>
          <p:nvPr/>
        </p:nvGrpSpPr>
        <p:grpSpPr>
          <a:xfrm rot="0">
            <a:off x="9405623" y="2181863"/>
            <a:ext cx="8255003" cy="7614923"/>
            <a:chOff x="0" y="0"/>
            <a:chExt cx="11006671" cy="10153231"/>
          </a:xfrm>
        </p:grpSpPr>
        <p:sp>
          <p:nvSpPr>
            <p:cNvPr name="Freeform 52" id="52"/>
            <p:cNvSpPr/>
            <p:nvPr/>
          </p:nvSpPr>
          <p:spPr>
            <a:xfrm flipH="false" flipV="false" rot="0">
              <a:off x="16891" y="16891"/>
              <a:ext cx="10972800" cy="10119360"/>
            </a:xfrm>
            <a:custGeom>
              <a:avLst/>
              <a:gdLst/>
              <a:ahLst/>
              <a:cxnLst/>
              <a:rect r="r" b="b" t="t" l="l"/>
              <a:pathLst>
                <a:path h="10119360" w="10972800">
                  <a:moveTo>
                    <a:pt x="0" y="0"/>
                  </a:moveTo>
                  <a:lnTo>
                    <a:pt x="10972800" y="0"/>
                  </a:lnTo>
                  <a:lnTo>
                    <a:pt x="10972800" y="10119360"/>
                  </a:lnTo>
                  <a:lnTo>
                    <a:pt x="0" y="10119360"/>
                  </a:lnTo>
                  <a:close/>
                </a:path>
              </a:pathLst>
            </a:custGeom>
            <a:solidFill>
              <a:srgbClr val="FFFFFF"/>
            </a:solidFill>
          </p:spPr>
        </p:sp>
        <p:sp>
          <p:nvSpPr>
            <p:cNvPr name="Freeform 53" id="53"/>
            <p:cNvSpPr/>
            <p:nvPr/>
          </p:nvSpPr>
          <p:spPr>
            <a:xfrm flipH="false" flipV="false" rot="0">
              <a:off x="0" y="0"/>
              <a:ext cx="11006582" cy="10153142"/>
            </a:xfrm>
            <a:custGeom>
              <a:avLst/>
              <a:gdLst/>
              <a:ahLst/>
              <a:cxnLst/>
              <a:rect r="r" b="b" t="t" l="l"/>
              <a:pathLst>
                <a:path h="10153142" w="11006582">
                  <a:moveTo>
                    <a:pt x="16891" y="0"/>
                  </a:moveTo>
                  <a:lnTo>
                    <a:pt x="10989691" y="0"/>
                  </a:lnTo>
                  <a:cubicBezTo>
                    <a:pt x="10999089" y="0"/>
                    <a:pt x="11006582" y="7620"/>
                    <a:pt x="11006582" y="16891"/>
                  </a:cubicBezTo>
                  <a:lnTo>
                    <a:pt x="11006582" y="10136251"/>
                  </a:lnTo>
                  <a:cubicBezTo>
                    <a:pt x="11006582" y="10145649"/>
                    <a:pt x="10998962" y="10153142"/>
                    <a:pt x="10989691" y="10153142"/>
                  </a:cubicBezTo>
                  <a:lnTo>
                    <a:pt x="16891" y="10153142"/>
                  </a:lnTo>
                  <a:cubicBezTo>
                    <a:pt x="7493" y="10153142"/>
                    <a:pt x="0" y="10145522"/>
                    <a:pt x="0" y="10136251"/>
                  </a:cubicBezTo>
                  <a:lnTo>
                    <a:pt x="0" y="16891"/>
                  </a:lnTo>
                  <a:cubicBezTo>
                    <a:pt x="0" y="7620"/>
                    <a:pt x="7620" y="0"/>
                    <a:pt x="16891" y="0"/>
                  </a:cubicBezTo>
                  <a:moveTo>
                    <a:pt x="16891" y="33909"/>
                  </a:moveTo>
                  <a:lnTo>
                    <a:pt x="16891" y="16891"/>
                  </a:lnTo>
                  <a:lnTo>
                    <a:pt x="33909" y="16891"/>
                  </a:lnTo>
                  <a:lnTo>
                    <a:pt x="33909" y="10136251"/>
                  </a:lnTo>
                  <a:lnTo>
                    <a:pt x="16891" y="10136251"/>
                  </a:lnTo>
                  <a:lnTo>
                    <a:pt x="16891" y="10119360"/>
                  </a:lnTo>
                  <a:lnTo>
                    <a:pt x="10989691" y="10119360"/>
                  </a:lnTo>
                  <a:lnTo>
                    <a:pt x="10989691" y="10136251"/>
                  </a:lnTo>
                  <a:lnTo>
                    <a:pt x="10972800" y="10136251"/>
                  </a:lnTo>
                  <a:lnTo>
                    <a:pt x="10972800" y="16891"/>
                  </a:lnTo>
                  <a:lnTo>
                    <a:pt x="10989691" y="16891"/>
                  </a:lnTo>
                  <a:lnTo>
                    <a:pt x="10989691" y="33909"/>
                  </a:lnTo>
                  <a:lnTo>
                    <a:pt x="16891" y="33909"/>
                  </a:lnTo>
                  <a:close/>
                </a:path>
              </a:pathLst>
            </a:custGeom>
            <a:solidFill>
              <a:srgbClr val="B2EBF2"/>
            </a:solidFill>
          </p:spPr>
        </p:sp>
      </p:grpSp>
      <p:grpSp>
        <p:nvGrpSpPr>
          <p:cNvPr name="Group 54" id="54"/>
          <p:cNvGrpSpPr/>
          <p:nvPr/>
        </p:nvGrpSpPr>
        <p:grpSpPr>
          <a:xfrm rot="0">
            <a:off x="9692640" y="2340864"/>
            <a:ext cx="7680960" cy="694944"/>
            <a:chOff x="0" y="0"/>
            <a:chExt cx="10241280" cy="926592"/>
          </a:xfrm>
        </p:grpSpPr>
        <p:sp>
          <p:nvSpPr>
            <p:cNvPr name="Freeform 55" id="55"/>
            <p:cNvSpPr/>
            <p:nvPr/>
          </p:nvSpPr>
          <p:spPr>
            <a:xfrm flipH="false" flipV="false" rot="0">
              <a:off x="0" y="0"/>
              <a:ext cx="10241280" cy="926592"/>
            </a:xfrm>
            <a:custGeom>
              <a:avLst/>
              <a:gdLst/>
              <a:ahLst/>
              <a:cxnLst/>
              <a:rect r="r" b="b" t="t" l="l"/>
              <a:pathLst>
                <a:path h="926592" w="10241280">
                  <a:moveTo>
                    <a:pt x="0" y="0"/>
                  </a:moveTo>
                  <a:lnTo>
                    <a:pt x="10241280" y="0"/>
                  </a:lnTo>
                  <a:lnTo>
                    <a:pt x="10241280" y="926592"/>
                  </a:lnTo>
                  <a:lnTo>
                    <a:pt x="0" y="926592"/>
                  </a:lnTo>
                  <a:close/>
                </a:path>
              </a:pathLst>
            </a:custGeom>
            <a:blipFill>
              <a:blip r:embed="rId2">
                <a:alphaModFix amt="0"/>
              </a:blip>
              <a:stretch>
                <a:fillRect l="0" t="-165360" r="0" b="-165360"/>
              </a:stretch>
            </a:blipFill>
          </p:spPr>
        </p:sp>
        <p:sp>
          <p:nvSpPr>
            <p:cNvPr name="TextBox 56" id="56"/>
            <p:cNvSpPr txBox="true"/>
            <p:nvPr/>
          </p:nvSpPr>
          <p:spPr>
            <a:xfrm>
              <a:off x="0" y="-9525"/>
              <a:ext cx="10241280" cy="936117"/>
            </a:xfrm>
            <a:prstGeom prst="rect">
              <a:avLst/>
            </a:prstGeom>
          </p:spPr>
          <p:txBody>
            <a:bodyPr anchor="ctr" rtlCol="false" tIns="0" lIns="0" bIns="0" rIns="0"/>
            <a:lstStyle/>
            <a:p>
              <a:pPr algn="l">
                <a:lnSpc>
                  <a:spcPts val="2879"/>
                </a:lnSpc>
              </a:pPr>
              <a:r>
                <a:rPr lang="en-US" sz="2400" b="true">
                  <a:solidFill>
                    <a:srgbClr val="1E3A5F"/>
                  </a:solidFill>
                  <a:latin typeface="Trebuchet MS Bold"/>
                  <a:ea typeface="Trebuchet MS Bold"/>
                  <a:cs typeface="Trebuchet MS Bold"/>
                  <a:sym typeface="Trebuchet MS Bold"/>
                </a:rPr>
                <a:t>RAG Advisor — Ask Anything</a:t>
              </a:r>
            </a:p>
          </p:txBody>
        </p:sp>
      </p:grpSp>
      <p:grpSp>
        <p:nvGrpSpPr>
          <p:cNvPr name="Group 57" id="57"/>
          <p:cNvGrpSpPr/>
          <p:nvPr/>
        </p:nvGrpSpPr>
        <p:grpSpPr>
          <a:xfrm rot="0">
            <a:off x="9679943" y="3132839"/>
            <a:ext cx="7706363" cy="1397003"/>
            <a:chOff x="0" y="0"/>
            <a:chExt cx="10275151" cy="1862671"/>
          </a:xfrm>
        </p:grpSpPr>
        <p:sp>
          <p:nvSpPr>
            <p:cNvPr name="Freeform 58" id="58"/>
            <p:cNvSpPr/>
            <p:nvPr/>
          </p:nvSpPr>
          <p:spPr>
            <a:xfrm flipH="false" flipV="false" rot="0">
              <a:off x="16891" y="16891"/>
              <a:ext cx="10241281" cy="1828800"/>
            </a:xfrm>
            <a:custGeom>
              <a:avLst/>
              <a:gdLst/>
              <a:ahLst/>
              <a:cxnLst/>
              <a:rect r="r" b="b" t="t" l="l"/>
              <a:pathLst>
                <a:path h="1828800" w="10241281">
                  <a:moveTo>
                    <a:pt x="0" y="0"/>
                  </a:moveTo>
                  <a:lnTo>
                    <a:pt x="10241281" y="0"/>
                  </a:lnTo>
                  <a:lnTo>
                    <a:pt x="10241281" y="1828800"/>
                  </a:lnTo>
                  <a:lnTo>
                    <a:pt x="0" y="1828800"/>
                  </a:lnTo>
                  <a:close/>
                </a:path>
              </a:pathLst>
            </a:custGeom>
            <a:solidFill>
              <a:srgbClr val="F1F5F9"/>
            </a:solidFill>
          </p:spPr>
        </p:sp>
        <p:sp>
          <p:nvSpPr>
            <p:cNvPr name="Freeform 59" id="59"/>
            <p:cNvSpPr/>
            <p:nvPr/>
          </p:nvSpPr>
          <p:spPr>
            <a:xfrm flipH="false" flipV="false" rot="0">
              <a:off x="0" y="0"/>
              <a:ext cx="10275062" cy="1862582"/>
            </a:xfrm>
            <a:custGeom>
              <a:avLst/>
              <a:gdLst/>
              <a:ahLst/>
              <a:cxnLst/>
              <a:rect r="r" b="b" t="t" l="l"/>
              <a:pathLst>
                <a:path h="1862582" w="10275062">
                  <a:moveTo>
                    <a:pt x="16891" y="0"/>
                  </a:moveTo>
                  <a:lnTo>
                    <a:pt x="10258172" y="0"/>
                  </a:lnTo>
                  <a:cubicBezTo>
                    <a:pt x="10267569" y="0"/>
                    <a:pt x="10275062" y="7620"/>
                    <a:pt x="10275062" y="16891"/>
                  </a:cubicBezTo>
                  <a:lnTo>
                    <a:pt x="10275062" y="1845691"/>
                  </a:lnTo>
                  <a:cubicBezTo>
                    <a:pt x="10275062" y="1855089"/>
                    <a:pt x="10267442" y="1862582"/>
                    <a:pt x="10258172"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258172" y="1828800"/>
                  </a:lnTo>
                  <a:lnTo>
                    <a:pt x="10258172" y="1845691"/>
                  </a:lnTo>
                  <a:lnTo>
                    <a:pt x="10241280" y="1845691"/>
                  </a:lnTo>
                  <a:lnTo>
                    <a:pt x="10241280" y="16891"/>
                  </a:lnTo>
                  <a:lnTo>
                    <a:pt x="10258172" y="16891"/>
                  </a:lnTo>
                  <a:lnTo>
                    <a:pt x="10258172" y="33909"/>
                  </a:lnTo>
                  <a:lnTo>
                    <a:pt x="16891" y="33909"/>
                  </a:lnTo>
                  <a:close/>
                </a:path>
              </a:pathLst>
            </a:custGeom>
            <a:solidFill>
              <a:srgbClr val="B2EBF2"/>
            </a:solidFill>
          </p:spPr>
        </p:sp>
      </p:grpSp>
      <p:grpSp>
        <p:nvGrpSpPr>
          <p:cNvPr name="Group 60" id="60"/>
          <p:cNvGrpSpPr/>
          <p:nvPr/>
        </p:nvGrpSpPr>
        <p:grpSpPr>
          <a:xfrm rot="0">
            <a:off x="9912096" y="3218688"/>
            <a:ext cx="7223760" cy="548640"/>
            <a:chOff x="0" y="0"/>
            <a:chExt cx="9631680" cy="731520"/>
          </a:xfrm>
        </p:grpSpPr>
        <p:sp>
          <p:nvSpPr>
            <p:cNvPr name="Freeform 61" id="61"/>
            <p:cNvSpPr/>
            <p:nvPr/>
          </p:nvSpPr>
          <p:spPr>
            <a:xfrm flipH="false" flipV="false" rot="0">
              <a:off x="0" y="0"/>
              <a:ext cx="9631680" cy="731520"/>
            </a:xfrm>
            <a:custGeom>
              <a:avLst/>
              <a:gdLst/>
              <a:ahLst/>
              <a:cxnLst/>
              <a:rect r="r" b="b" t="t" l="l"/>
              <a:pathLst>
                <a:path h="731520" w="9631680">
                  <a:moveTo>
                    <a:pt x="0" y="0"/>
                  </a:moveTo>
                  <a:lnTo>
                    <a:pt x="9631680" y="0"/>
                  </a:lnTo>
                  <a:lnTo>
                    <a:pt x="9631680" y="731520"/>
                  </a:lnTo>
                  <a:lnTo>
                    <a:pt x="0" y="731520"/>
                  </a:lnTo>
                  <a:close/>
                </a:path>
              </a:pathLst>
            </a:custGeom>
            <a:blipFill>
              <a:blip r:embed="rId2">
                <a:alphaModFix amt="0"/>
              </a:blip>
              <a:stretch>
                <a:fillRect l="0" t="-206553" r="0" b="-206553"/>
              </a:stretch>
            </a:blipFill>
          </p:spPr>
        </p:sp>
        <p:sp>
          <p:nvSpPr>
            <p:cNvPr name="TextBox 62" id="62"/>
            <p:cNvSpPr txBox="true"/>
            <p:nvPr/>
          </p:nvSpPr>
          <p:spPr>
            <a:xfrm>
              <a:off x="0" y="-19050"/>
              <a:ext cx="9631680" cy="750570"/>
            </a:xfrm>
            <a:prstGeom prst="rect">
              <a:avLst/>
            </a:prstGeom>
          </p:spPr>
          <p:txBody>
            <a:bodyPr anchor="ctr" rtlCol="false" tIns="0" lIns="0" bIns="0" rIns="0"/>
            <a:lstStyle/>
            <a:p>
              <a:pPr algn="l">
                <a:lnSpc>
                  <a:spcPts val="2639"/>
                </a:lnSpc>
              </a:pPr>
              <a:r>
                <a:rPr lang="en-US" b="true" sz="2199">
                  <a:solidFill>
                    <a:srgbClr val="000000"/>
                  </a:solidFill>
                  <a:latin typeface="Trebuchet MS Bold"/>
                  <a:ea typeface="Trebuchet MS Bold"/>
                  <a:cs typeface="Trebuchet MS Bold"/>
                  <a:sym typeface="Trebuchet MS Bold"/>
                </a:rPr>
                <a:t>ChromaDB Vector Search</a:t>
              </a:r>
            </a:p>
          </p:txBody>
        </p:sp>
      </p:grpSp>
      <p:grpSp>
        <p:nvGrpSpPr>
          <p:cNvPr name="Group 63" id="63"/>
          <p:cNvGrpSpPr/>
          <p:nvPr/>
        </p:nvGrpSpPr>
        <p:grpSpPr>
          <a:xfrm rot="0">
            <a:off x="9912096" y="3730752"/>
            <a:ext cx="7223760" cy="640080"/>
            <a:chOff x="0" y="0"/>
            <a:chExt cx="9631680" cy="853440"/>
          </a:xfrm>
        </p:grpSpPr>
        <p:sp>
          <p:nvSpPr>
            <p:cNvPr name="Freeform 64" id="64"/>
            <p:cNvSpPr/>
            <p:nvPr/>
          </p:nvSpPr>
          <p:spPr>
            <a:xfrm flipH="false" flipV="false" rot="0">
              <a:off x="0" y="0"/>
              <a:ext cx="9631680" cy="853440"/>
            </a:xfrm>
            <a:custGeom>
              <a:avLst/>
              <a:gdLst/>
              <a:ahLst/>
              <a:cxnLst/>
              <a:rect r="r" b="b" t="t" l="l"/>
              <a:pathLst>
                <a:path h="853440" w="9631680">
                  <a:moveTo>
                    <a:pt x="0" y="0"/>
                  </a:moveTo>
                  <a:lnTo>
                    <a:pt x="9631680" y="0"/>
                  </a:lnTo>
                  <a:lnTo>
                    <a:pt x="9631680" y="853440"/>
                  </a:lnTo>
                  <a:lnTo>
                    <a:pt x="0" y="853440"/>
                  </a:lnTo>
                  <a:close/>
                </a:path>
              </a:pathLst>
            </a:custGeom>
            <a:blipFill>
              <a:blip r:embed="rId2">
                <a:alphaModFix amt="0"/>
              </a:blip>
              <a:stretch>
                <a:fillRect l="0" t="-169902" r="0" b="-169902"/>
              </a:stretch>
            </a:blipFill>
          </p:spPr>
        </p:sp>
        <p:sp>
          <p:nvSpPr>
            <p:cNvPr name="TextBox 65" id="65"/>
            <p:cNvSpPr txBox="true"/>
            <p:nvPr/>
          </p:nvSpPr>
          <p:spPr>
            <a:xfrm>
              <a:off x="0" y="-66675"/>
              <a:ext cx="9631680" cy="920115"/>
            </a:xfrm>
            <a:prstGeom prst="rect">
              <a:avLst/>
            </a:prstGeom>
          </p:spPr>
          <p:txBody>
            <a:bodyPr anchor="ctr" rtlCol="false" tIns="0" lIns="0" bIns="0" rIns="0"/>
            <a:lstStyle/>
            <a:p>
              <a:pPr algn="l">
                <a:lnSpc>
                  <a:spcPts val="2400"/>
                </a:lnSpc>
              </a:pPr>
              <a:r>
                <a:rPr lang="en-US" sz="2000">
                  <a:solidFill>
                    <a:srgbClr val="000000"/>
                  </a:solidFill>
                  <a:latin typeface="Agrandir Narrow"/>
                  <a:ea typeface="Agrandir Narrow"/>
                  <a:cs typeface="Agrandir Narrow"/>
                  <a:sym typeface="Agrandir Narrow"/>
                </a:rPr>
                <a:t>200+ RBI policy documents indexed as embeddings</a:t>
              </a:r>
            </a:p>
          </p:txBody>
        </p:sp>
      </p:grpSp>
      <p:grpSp>
        <p:nvGrpSpPr>
          <p:cNvPr name="Group 66" id="66"/>
          <p:cNvGrpSpPr/>
          <p:nvPr/>
        </p:nvGrpSpPr>
        <p:grpSpPr>
          <a:xfrm rot="0">
            <a:off x="9679943" y="4687319"/>
            <a:ext cx="7706363" cy="1397003"/>
            <a:chOff x="0" y="0"/>
            <a:chExt cx="10275151" cy="1862671"/>
          </a:xfrm>
        </p:grpSpPr>
        <p:sp>
          <p:nvSpPr>
            <p:cNvPr name="Freeform 67" id="67"/>
            <p:cNvSpPr/>
            <p:nvPr/>
          </p:nvSpPr>
          <p:spPr>
            <a:xfrm flipH="false" flipV="false" rot="0">
              <a:off x="16891" y="16891"/>
              <a:ext cx="10241281" cy="1828800"/>
            </a:xfrm>
            <a:custGeom>
              <a:avLst/>
              <a:gdLst/>
              <a:ahLst/>
              <a:cxnLst/>
              <a:rect r="r" b="b" t="t" l="l"/>
              <a:pathLst>
                <a:path h="1828800" w="10241281">
                  <a:moveTo>
                    <a:pt x="0" y="0"/>
                  </a:moveTo>
                  <a:lnTo>
                    <a:pt x="10241281" y="0"/>
                  </a:lnTo>
                  <a:lnTo>
                    <a:pt x="10241281" y="1828800"/>
                  </a:lnTo>
                  <a:lnTo>
                    <a:pt x="0" y="1828800"/>
                  </a:lnTo>
                  <a:close/>
                </a:path>
              </a:pathLst>
            </a:custGeom>
            <a:solidFill>
              <a:srgbClr val="F1F5F9"/>
            </a:solidFill>
          </p:spPr>
        </p:sp>
        <p:sp>
          <p:nvSpPr>
            <p:cNvPr name="Freeform 68" id="68"/>
            <p:cNvSpPr/>
            <p:nvPr/>
          </p:nvSpPr>
          <p:spPr>
            <a:xfrm flipH="false" flipV="false" rot="0">
              <a:off x="0" y="0"/>
              <a:ext cx="10275062" cy="1862582"/>
            </a:xfrm>
            <a:custGeom>
              <a:avLst/>
              <a:gdLst/>
              <a:ahLst/>
              <a:cxnLst/>
              <a:rect r="r" b="b" t="t" l="l"/>
              <a:pathLst>
                <a:path h="1862582" w="10275062">
                  <a:moveTo>
                    <a:pt x="16891" y="0"/>
                  </a:moveTo>
                  <a:lnTo>
                    <a:pt x="10258172" y="0"/>
                  </a:lnTo>
                  <a:cubicBezTo>
                    <a:pt x="10267569" y="0"/>
                    <a:pt x="10275062" y="7620"/>
                    <a:pt x="10275062" y="16891"/>
                  </a:cubicBezTo>
                  <a:lnTo>
                    <a:pt x="10275062" y="1845691"/>
                  </a:lnTo>
                  <a:cubicBezTo>
                    <a:pt x="10275062" y="1855089"/>
                    <a:pt x="10267442" y="1862582"/>
                    <a:pt x="10258172"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258172" y="1828800"/>
                  </a:lnTo>
                  <a:lnTo>
                    <a:pt x="10258172" y="1845691"/>
                  </a:lnTo>
                  <a:lnTo>
                    <a:pt x="10241280" y="1845691"/>
                  </a:lnTo>
                  <a:lnTo>
                    <a:pt x="10241280" y="16891"/>
                  </a:lnTo>
                  <a:lnTo>
                    <a:pt x="10258172" y="16891"/>
                  </a:lnTo>
                  <a:lnTo>
                    <a:pt x="10258172" y="33909"/>
                  </a:lnTo>
                  <a:lnTo>
                    <a:pt x="16891" y="33909"/>
                  </a:lnTo>
                  <a:close/>
                </a:path>
              </a:pathLst>
            </a:custGeom>
            <a:solidFill>
              <a:srgbClr val="B2EBF2"/>
            </a:solidFill>
          </p:spPr>
        </p:sp>
      </p:grpSp>
      <p:grpSp>
        <p:nvGrpSpPr>
          <p:cNvPr name="Group 69" id="69"/>
          <p:cNvGrpSpPr/>
          <p:nvPr/>
        </p:nvGrpSpPr>
        <p:grpSpPr>
          <a:xfrm rot="0">
            <a:off x="9912096" y="4773168"/>
            <a:ext cx="7223760" cy="548640"/>
            <a:chOff x="0" y="0"/>
            <a:chExt cx="9631680" cy="731520"/>
          </a:xfrm>
        </p:grpSpPr>
        <p:sp>
          <p:nvSpPr>
            <p:cNvPr name="Freeform 70" id="70"/>
            <p:cNvSpPr/>
            <p:nvPr/>
          </p:nvSpPr>
          <p:spPr>
            <a:xfrm flipH="false" flipV="false" rot="0">
              <a:off x="0" y="0"/>
              <a:ext cx="9631680" cy="731520"/>
            </a:xfrm>
            <a:custGeom>
              <a:avLst/>
              <a:gdLst/>
              <a:ahLst/>
              <a:cxnLst/>
              <a:rect r="r" b="b" t="t" l="l"/>
              <a:pathLst>
                <a:path h="731520" w="9631680">
                  <a:moveTo>
                    <a:pt x="0" y="0"/>
                  </a:moveTo>
                  <a:lnTo>
                    <a:pt x="9631680" y="0"/>
                  </a:lnTo>
                  <a:lnTo>
                    <a:pt x="9631680" y="731520"/>
                  </a:lnTo>
                  <a:lnTo>
                    <a:pt x="0" y="731520"/>
                  </a:lnTo>
                  <a:close/>
                </a:path>
              </a:pathLst>
            </a:custGeom>
            <a:blipFill>
              <a:blip r:embed="rId2">
                <a:alphaModFix amt="0"/>
              </a:blip>
              <a:stretch>
                <a:fillRect l="0" t="-206553" r="0" b="-206553"/>
              </a:stretch>
            </a:blipFill>
          </p:spPr>
        </p:sp>
        <p:sp>
          <p:nvSpPr>
            <p:cNvPr name="TextBox 71" id="71"/>
            <p:cNvSpPr txBox="true"/>
            <p:nvPr/>
          </p:nvSpPr>
          <p:spPr>
            <a:xfrm>
              <a:off x="0" y="-19050"/>
              <a:ext cx="9631680" cy="750570"/>
            </a:xfrm>
            <a:prstGeom prst="rect">
              <a:avLst/>
            </a:prstGeom>
          </p:spPr>
          <p:txBody>
            <a:bodyPr anchor="ctr" rtlCol="false" tIns="0" lIns="0" bIns="0" rIns="0"/>
            <a:lstStyle/>
            <a:p>
              <a:pPr algn="l">
                <a:lnSpc>
                  <a:spcPts val="2639"/>
                </a:lnSpc>
              </a:pPr>
              <a:r>
                <a:rPr lang="en-US" b="true" sz="2199">
                  <a:solidFill>
                    <a:srgbClr val="000000"/>
                  </a:solidFill>
                  <a:latin typeface="Trebuchet MS Bold"/>
                  <a:ea typeface="Trebuchet MS Bold"/>
                  <a:cs typeface="Trebuchet MS Bold"/>
                  <a:sym typeface="Trebuchet MS Bold"/>
                </a:rPr>
                <a:t>Retrieval-Grounded</a:t>
              </a:r>
            </a:p>
          </p:txBody>
        </p:sp>
      </p:grpSp>
      <p:grpSp>
        <p:nvGrpSpPr>
          <p:cNvPr name="Group 72" id="72"/>
          <p:cNvGrpSpPr/>
          <p:nvPr/>
        </p:nvGrpSpPr>
        <p:grpSpPr>
          <a:xfrm rot="0">
            <a:off x="9912096" y="5285232"/>
            <a:ext cx="7223760" cy="640080"/>
            <a:chOff x="0" y="0"/>
            <a:chExt cx="9631680" cy="853440"/>
          </a:xfrm>
        </p:grpSpPr>
        <p:sp>
          <p:nvSpPr>
            <p:cNvPr name="Freeform 73" id="73"/>
            <p:cNvSpPr/>
            <p:nvPr/>
          </p:nvSpPr>
          <p:spPr>
            <a:xfrm flipH="false" flipV="false" rot="0">
              <a:off x="0" y="0"/>
              <a:ext cx="9631680" cy="853440"/>
            </a:xfrm>
            <a:custGeom>
              <a:avLst/>
              <a:gdLst/>
              <a:ahLst/>
              <a:cxnLst/>
              <a:rect r="r" b="b" t="t" l="l"/>
              <a:pathLst>
                <a:path h="853440" w="9631680">
                  <a:moveTo>
                    <a:pt x="0" y="0"/>
                  </a:moveTo>
                  <a:lnTo>
                    <a:pt x="9631680" y="0"/>
                  </a:lnTo>
                  <a:lnTo>
                    <a:pt x="9631680" y="853440"/>
                  </a:lnTo>
                  <a:lnTo>
                    <a:pt x="0" y="853440"/>
                  </a:lnTo>
                  <a:close/>
                </a:path>
              </a:pathLst>
            </a:custGeom>
            <a:blipFill>
              <a:blip r:embed="rId2">
                <a:alphaModFix amt="0"/>
              </a:blip>
              <a:stretch>
                <a:fillRect l="0" t="-169902" r="0" b="-169902"/>
              </a:stretch>
            </a:blipFill>
          </p:spPr>
        </p:sp>
        <p:sp>
          <p:nvSpPr>
            <p:cNvPr name="TextBox 74" id="74"/>
            <p:cNvSpPr txBox="true"/>
            <p:nvPr/>
          </p:nvSpPr>
          <p:spPr>
            <a:xfrm>
              <a:off x="0" y="-66675"/>
              <a:ext cx="9631680" cy="920115"/>
            </a:xfrm>
            <a:prstGeom prst="rect">
              <a:avLst/>
            </a:prstGeom>
          </p:spPr>
          <p:txBody>
            <a:bodyPr anchor="ctr" rtlCol="false" tIns="0" lIns="0" bIns="0" rIns="0"/>
            <a:lstStyle/>
            <a:p>
              <a:pPr algn="l">
                <a:lnSpc>
                  <a:spcPts val="2400"/>
                </a:lnSpc>
              </a:pPr>
              <a:r>
                <a:rPr lang="en-US" sz="2000">
                  <a:solidFill>
                    <a:srgbClr val="000000"/>
                  </a:solidFill>
                  <a:latin typeface="Agrandir Narrow"/>
                  <a:ea typeface="Agrandir Narrow"/>
                  <a:cs typeface="Agrandir Narrow"/>
                  <a:sym typeface="Agrandir Narrow"/>
                </a:rPr>
                <a:t>Every answer is retrieved, not generated — zero hallucinations</a:t>
              </a:r>
            </a:p>
          </p:txBody>
        </p:sp>
      </p:grpSp>
      <p:grpSp>
        <p:nvGrpSpPr>
          <p:cNvPr name="Group 75" id="75"/>
          <p:cNvGrpSpPr/>
          <p:nvPr/>
        </p:nvGrpSpPr>
        <p:grpSpPr>
          <a:xfrm rot="0">
            <a:off x="9679943" y="6241799"/>
            <a:ext cx="7706363" cy="1397003"/>
            <a:chOff x="0" y="0"/>
            <a:chExt cx="10275151" cy="1862671"/>
          </a:xfrm>
        </p:grpSpPr>
        <p:sp>
          <p:nvSpPr>
            <p:cNvPr name="Freeform 76" id="76"/>
            <p:cNvSpPr/>
            <p:nvPr/>
          </p:nvSpPr>
          <p:spPr>
            <a:xfrm flipH="false" flipV="false" rot="0">
              <a:off x="16891" y="16891"/>
              <a:ext cx="10241281" cy="1828800"/>
            </a:xfrm>
            <a:custGeom>
              <a:avLst/>
              <a:gdLst/>
              <a:ahLst/>
              <a:cxnLst/>
              <a:rect r="r" b="b" t="t" l="l"/>
              <a:pathLst>
                <a:path h="1828800" w="10241281">
                  <a:moveTo>
                    <a:pt x="0" y="0"/>
                  </a:moveTo>
                  <a:lnTo>
                    <a:pt x="10241281" y="0"/>
                  </a:lnTo>
                  <a:lnTo>
                    <a:pt x="10241281" y="1828800"/>
                  </a:lnTo>
                  <a:lnTo>
                    <a:pt x="0" y="1828800"/>
                  </a:lnTo>
                  <a:close/>
                </a:path>
              </a:pathLst>
            </a:custGeom>
            <a:solidFill>
              <a:srgbClr val="F1F5F9"/>
            </a:solidFill>
          </p:spPr>
        </p:sp>
        <p:sp>
          <p:nvSpPr>
            <p:cNvPr name="Freeform 77" id="77"/>
            <p:cNvSpPr/>
            <p:nvPr/>
          </p:nvSpPr>
          <p:spPr>
            <a:xfrm flipH="false" flipV="false" rot="0">
              <a:off x="0" y="0"/>
              <a:ext cx="10275062" cy="1862582"/>
            </a:xfrm>
            <a:custGeom>
              <a:avLst/>
              <a:gdLst/>
              <a:ahLst/>
              <a:cxnLst/>
              <a:rect r="r" b="b" t="t" l="l"/>
              <a:pathLst>
                <a:path h="1862582" w="10275062">
                  <a:moveTo>
                    <a:pt x="16891" y="0"/>
                  </a:moveTo>
                  <a:lnTo>
                    <a:pt x="10258172" y="0"/>
                  </a:lnTo>
                  <a:cubicBezTo>
                    <a:pt x="10267569" y="0"/>
                    <a:pt x="10275062" y="7620"/>
                    <a:pt x="10275062" y="16891"/>
                  </a:cubicBezTo>
                  <a:lnTo>
                    <a:pt x="10275062" y="1845691"/>
                  </a:lnTo>
                  <a:cubicBezTo>
                    <a:pt x="10275062" y="1855089"/>
                    <a:pt x="10267442" y="1862582"/>
                    <a:pt x="10258172"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258172" y="1828800"/>
                  </a:lnTo>
                  <a:lnTo>
                    <a:pt x="10258172" y="1845691"/>
                  </a:lnTo>
                  <a:lnTo>
                    <a:pt x="10241280" y="1845691"/>
                  </a:lnTo>
                  <a:lnTo>
                    <a:pt x="10241280" y="16891"/>
                  </a:lnTo>
                  <a:lnTo>
                    <a:pt x="10258172" y="16891"/>
                  </a:lnTo>
                  <a:lnTo>
                    <a:pt x="10258172" y="33909"/>
                  </a:lnTo>
                  <a:lnTo>
                    <a:pt x="16891" y="33909"/>
                  </a:lnTo>
                  <a:close/>
                </a:path>
              </a:pathLst>
            </a:custGeom>
            <a:solidFill>
              <a:srgbClr val="B2EBF2"/>
            </a:solidFill>
          </p:spPr>
        </p:sp>
      </p:grpSp>
      <p:grpSp>
        <p:nvGrpSpPr>
          <p:cNvPr name="Group 78" id="78"/>
          <p:cNvGrpSpPr/>
          <p:nvPr/>
        </p:nvGrpSpPr>
        <p:grpSpPr>
          <a:xfrm rot="0">
            <a:off x="9912096" y="6327648"/>
            <a:ext cx="7223760" cy="548640"/>
            <a:chOff x="0" y="0"/>
            <a:chExt cx="9631680" cy="731520"/>
          </a:xfrm>
        </p:grpSpPr>
        <p:sp>
          <p:nvSpPr>
            <p:cNvPr name="Freeform 79" id="79"/>
            <p:cNvSpPr/>
            <p:nvPr/>
          </p:nvSpPr>
          <p:spPr>
            <a:xfrm flipH="false" flipV="false" rot="0">
              <a:off x="0" y="0"/>
              <a:ext cx="9631680" cy="731520"/>
            </a:xfrm>
            <a:custGeom>
              <a:avLst/>
              <a:gdLst/>
              <a:ahLst/>
              <a:cxnLst/>
              <a:rect r="r" b="b" t="t" l="l"/>
              <a:pathLst>
                <a:path h="731520" w="9631680">
                  <a:moveTo>
                    <a:pt x="0" y="0"/>
                  </a:moveTo>
                  <a:lnTo>
                    <a:pt x="9631680" y="0"/>
                  </a:lnTo>
                  <a:lnTo>
                    <a:pt x="9631680" y="731520"/>
                  </a:lnTo>
                  <a:lnTo>
                    <a:pt x="0" y="731520"/>
                  </a:lnTo>
                  <a:close/>
                </a:path>
              </a:pathLst>
            </a:custGeom>
            <a:blipFill>
              <a:blip r:embed="rId2">
                <a:alphaModFix amt="0"/>
              </a:blip>
              <a:stretch>
                <a:fillRect l="0" t="-206553" r="0" b="-206553"/>
              </a:stretch>
            </a:blipFill>
          </p:spPr>
        </p:sp>
        <p:sp>
          <p:nvSpPr>
            <p:cNvPr name="TextBox 80" id="80"/>
            <p:cNvSpPr txBox="true"/>
            <p:nvPr/>
          </p:nvSpPr>
          <p:spPr>
            <a:xfrm>
              <a:off x="0" y="-19050"/>
              <a:ext cx="9631680" cy="750570"/>
            </a:xfrm>
            <a:prstGeom prst="rect">
              <a:avLst/>
            </a:prstGeom>
          </p:spPr>
          <p:txBody>
            <a:bodyPr anchor="ctr" rtlCol="false" tIns="0" lIns="0" bIns="0" rIns="0"/>
            <a:lstStyle/>
            <a:p>
              <a:pPr algn="l">
                <a:lnSpc>
                  <a:spcPts val="2639"/>
                </a:lnSpc>
              </a:pPr>
              <a:r>
                <a:rPr lang="en-US" b="true" sz="2199">
                  <a:solidFill>
                    <a:srgbClr val="000000"/>
                  </a:solidFill>
                  <a:latin typeface="Trebuchet MS Bold"/>
                  <a:ea typeface="Trebuchet MS Bold"/>
                  <a:cs typeface="Trebuchet MS Bold"/>
                  <a:sym typeface="Trebuchet MS Bold"/>
                </a:rPr>
                <a:t>Lending Precedents</a:t>
              </a:r>
            </a:p>
          </p:txBody>
        </p:sp>
      </p:grpSp>
      <p:grpSp>
        <p:nvGrpSpPr>
          <p:cNvPr name="Group 81" id="81"/>
          <p:cNvGrpSpPr/>
          <p:nvPr/>
        </p:nvGrpSpPr>
        <p:grpSpPr>
          <a:xfrm rot="0">
            <a:off x="9912096" y="6839712"/>
            <a:ext cx="7223760" cy="640080"/>
            <a:chOff x="0" y="0"/>
            <a:chExt cx="9631680" cy="853440"/>
          </a:xfrm>
        </p:grpSpPr>
        <p:sp>
          <p:nvSpPr>
            <p:cNvPr name="Freeform 82" id="82"/>
            <p:cNvSpPr/>
            <p:nvPr/>
          </p:nvSpPr>
          <p:spPr>
            <a:xfrm flipH="false" flipV="false" rot="0">
              <a:off x="0" y="0"/>
              <a:ext cx="9631680" cy="853440"/>
            </a:xfrm>
            <a:custGeom>
              <a:avLst/>
              <a:gdLst/>
              <a:ahLst/>
              <a:cxnLst/>
              <a:rect r="r" b="b" t="t" l="l"/>
              <a:pathLst>
                <a:path h="853440" w="9631680">
                  <a:moveTo>
                    <a:pt x="0" y="0"/>
                  </a:moveTo>
                  <a:lnTo>
                    <a:pt x="9631680" y="0"/>
                  </a:lnTo>
                  <a:lnTo>
                    <a:pt x="9631680" y="853440"/>
                  </a:lnTo>
                  <a:lnTo>
                    <a:pt x="0" y="853440"/>
                  </a:lnTo>
                  <a:close/>
                </a:path>
              </a:pathLst>
            </a:custGeom>
            <a:blipFill>
              <a:blip r:embed="rId2">
                <a:alphaModFix amt="0"/>
              </a:blip>
              <a:stretch>
                <a:fillRect l="0" t="-169902" r="0" b="-169902"/>
              </a:stretch>
            </a:blipFill>
          </p:spPr>
        </p:sp>
        <p:sp>
          <p:nvSpPr>
            <p:cNvPr name="TextBox 83" id="83"/>
            <p:cNvSpPr txBox="true"/>
            <p:nvPr/>
          </p:nvSpPr>
          <p:spPr>
            <a:xfrm>
              <a:off x="0" y="-66675"/>
              <a:ext cx="9631680" cy="920115"/>
            </a:xfrm>
            <a:prstGeom prst="rect">
              <a:avLst/>
            </a:prstGeom>
          </p:spPr>
          <p:txBody>
            <a:bodyPr anchor="ctr" rtlCol="false" tIns="0" lIns="0" bIns="0" rIns="0"/>
            <a:lstStyle/>
            <a:p>
              <a:pPr algn="l">
                <a:lnSpc>
                  <a:spcPts val="2400"/>
                </a:lnSpc>
              </a:pPr>
              <a:r>
                <a:rPr lang="en-US" sz="2000">
                  <a:solidFill>
                    <a:srgbClr val="000000"/>
                  </a:solidFill>
                  <a:latin typeface="Agrandir Narrow"/>
                  <a:ea typeface="Agrandir Narrow"/>
                  <a:cs typeface="Agrandir Narrow"/>
                  <a:sym typeface="Agrandir Narrow"/>
                </a:rPr>
                <a:t>Historical case embeddings inform contextual advice</a:t>
              </a:r>
            </a:p>
          </p:txBody>
        </p:sp>
      </p:grpSp>
      <p:grpSp>
        <p:nvGrpSpPr>
          <p:cNvPr name="Group 84" id="84"/>
          <p:cNvGrpSpPr/>
          <p:nvPr/>
        </p:nvGrpSpPr>
        <p:grpSpPr>
          <a:xfrm rot="0">
            <a:off x="9679943" y="7796279"/>
            <a:ext cx="7706363" cy="1397003"/>
            <a:chOff x="0" y="0"/>
            <a:chExt cx="10275151" cy="1862671"/>
          </a:xfrm>
        </p:grpSpPr>
        <p:sp>
          <p:nvSpPr>
            <p:cNvPr name="Freeform 85" id="85"/>
            <p:cNvSpPr/>
            <p:nvPr/>
          </p:nvSpPr>
          <p:spPr>
            <a:xfrm flipH="false" flipV="false" rot="0">
              <a:off x="16891" y="16891"/>
              <a:ext cx="10241281" cy="1828800"/>
            </a:xfrm>
            <a:custGeom>
              <a:avLst/>
              <a:gdLst/>
              <a:ahLst/>
              <a:cxnLst/>
              <a:rect r="r" b="b" t="t" l="l"/>
              <a:pathLst>
                <a:path h="1828800" w="10241281">
                  <a:moveTo>
                    <a:pt x="0" y="0"/>
                  </a:moveTo>
                  <a:lnTo>
                    <a:pt x="10241281" y="0"/>
                  </a:lnTo>
                  <a:lnTo>
                    <a:pt x="10241281" y="1828800"/>
                  </a:lnTo>
                  <a:lnTo>
                    <a:pt x="0" y="1828800"/>
                  </a:lnTo>
                  <a:close/>
                </a:path>
              </a:pathLst>
            </a:custGeom>
            <a:solidFill>
              <a:srgbClr val="F1F5F9"/>
            </a:solidFill>
          </p:spPr>
        </p:sp>
        <p:sp>
          <p:nvSpPr>
            <p:cNvPr name="Freeform 86" id="86"/>
            <p:cNvSpPr/>
            <p:nvPr/>
          </p:nvSpPr>
          <p:spPr>
            <a:xfrm flipH="false" flipV="false" rot="0">
              <a:off x="0" y="0"/>
              <a:ext cx="10275062" cy="1862582"/>
            </a:xfrm>
            <a:custGeom>
              <a:avLst/>
              <a:gdLst/>
              <a:ahLst/>
              <a:cxnLst/>
              <a:rect r="r" b="b" t="t" l="l"/>
              <a:pathLst>
                <a:path h="1862582" w="10275062">
                  <a:moveTo>
                    <a:pt x="16891" y="0"/>
                  </a:moveTo>
                  <a:lnTo>
                    <a:pt x="10258172" y="0"/>
                  </a:lnTo>
                  <a:cubicBezTo>
                    <a:pt x="10267569" y="0"/>
                    <a:pt x="10275062" y="7620"/>
                    <a:pt x="10275062" y="16891"/>
                  </a:cubicBezTo>
                  <a:lnTo>
                    <a:pt x="10275062" y="1845691"/>
                  </a:lnTo>
                  <a:cubicBezTo>
                    <a:pt x="10275062" y="1855089"/>
                    <a:pt x="10267442" y="1862582"/>
                    <a:pt x="10258172" y="1862582"/>
                  </a:cubicBezTo>
                  <a:lnTo>
                    <a:pt x="16891" y="1862582"/>
                  </a:lnTo>
                  <a:cubicBezTo>
                    <a:pt x="7493" y="1862582"/>
                    <a:pt x="0" y="1854962"/>
                    <a:pt x="0" y="1845691"/>
                  </a:cubicBezTo>
                  <a:lnTo>
                    <a:pt x="0" y="16891"/>
                  </a:lnTo>
                  <a:cubicBezTo>
                    <a:pt x="0" y="7620"/>
                    <a:pt x="7620" y="0"/>
                    <a:pt x="16891" y="0"/>
                  </a:cubicBezTo>
                  <a:moveTo>
                    <a:pt x="16891" y="33909"/>
                  </a:moveTo>
                  <a:lnTo>
                    <a:pt x="16891" y="16891"/>
                  </a:lnTo>
                  <a:lnTo>
                    <a:pt x="33909" y="16891"/>
                  </a:lnTo>
                  <a:lnTo>
                    <a:pt x="33909" y="1845691"/>
                  </a:lnTo>
                  <a:lnTo>
                    <a:pt x="16891" y="1845691"/>
                  </a:lnTo>
                  <a:lnTo>
                    <a:pt x="16891" y="1828800"/>
                  </a:lnTo>
                  <a:lnTo>
                    <a:pt x="10258172" y="1828800"/>
                  </a:lnTo>
                  <a:lnTo>
                    <a:pt x="10258172" y="1845691"/>
                  </a:lnTo>
                  <a:lnTo>
                    <a:pt x="10241280" y="1845691"/>
                  </a:lnTo>
                  <a:lnTo>
                    <a:pt x="10241280" y="16891"/>
                  </a:lnTo>
                  <a:lnTo>
                    <a:pt x="10258172" y="16891"/>
                  </a:lnTo>
                  <a:lnTo>
                    <a:pt x="10258172" y="33909"/>
                  </a:lnTo>
                  <a:lnTo>
                    <a:pt x="16891" y="33909"/>
                  </a:lnTo>
                  <a:close/>
                </a:path>
              </a:pathLst>
            </a:custGeom>
            <a:solidFill>
              <a:srgbClr val="B2EBF2"/>
            </a:solidFill>
          </p:spPr>
        </p:sp>
      </p:grpSp>
      <p:grpSp>
        <p:nvGrpSpPr>
          <p:cNvPr name="Group 87" id="87"/>
          <p:cNvGrpSpPr/>
          <p:nvPr/>
        </p:nvGrpSpPr>
        <p:grpSpPr>
          <a:xfrm rot="0">
            <a:off x="9912096" y="7882128"/>
            <a:ext cx="7223760" cy="548640"/>
            <a:chOff x="0" y="0"/>
            <a:chExt cx="9631680" cy="731520"/>
          </a:xfrm>
        </p:grpSpPr>
        <p:sp>
          <p:nvSpPr>
            <p:cNvPr name="Freeform 88" id="88"/>
            <p:cNvSpPr/>
            <p:nvPr/>
          </p:nvSpPr>
          <p:spPr>
            <a:xfrm flipH="false" flipV="false" rot="0">
              <a:off x="0" y="0"/>
              <a:ext cx="9631680" cy="731520"/>
            </a:xfrm>
            <a:custGeom>
              <a:avLst/>
              <a:gdLst/>
              <a:ahLst/>
              <a:cxnLst/>
              <a:rect r="r" b="b" t="t" l="l"/>
              <a:pathLst>
                <a:path h="731520" w="9631680">
                  <a:moveTo>
                    <a:pt x="0" y="0"/>
                  </a:moveTo>
                  <a:lnTo>
                    <a:pt x="9631680" y="0"/>
                  </a:lnTo>
                  <a:lnTo>
                    <a:pt x="9631680" y="731520"/>
                  </a:lnTo>
                  <a:lnTo>
                    <a:pt x="0" y="731520"/>
                  </a:lnTo>
                  <a:close/>
                </a:path>
              </a:pathLst>
            </a:custGeom>
            <a:blipFill>
              <a:blip r:embed="rId2">
                <a:alphaModFix amt="0"/>
              </a:blip>
              <a:stretch>
                <a:fillRect l="0" t="-206553" r="0" b="-206553"/>
              </a:stretch>
            </a:blipFill>
          </p:spPr>
        </p:sp>
        <p:sp>
          <p:nvSpPr>
            <p:cNvPr name="TextBox 89" id="89"/>
            <p:cNvSpPr txBox="true"/>
            <p:nvPr/>
          </p:nvSpPr>
          <p:spPr>
            <a:xfrm>
              <a:off x="0" y="-19050"/>
              <a:ext cx="9631680" cy="750570"/>
            </a:xfrm>
            <a:prstGeom prst="rect">
              <a:avLst/>
            </a:prstGeom>
          </p:spPr>
          <p:txBody>
            <a:bodyPr anchor="ctr" rtlCol="false" tIns="0" lIns="0" bIns="0" rIns="0"/>
            <a:lstStyle/>
            <a:p>
              <a:pPr algn="l">
                <a:lnSpc>
                  <a:spcPts val="2639"/>
                </a:lnSpc>
              </a:pPr>
              <a:r>
                <a:rPr lang="en-US" b="true" sz="2199">
                  <a:solidFill>
                    <a:srgbClr val="000000"/>
                  </a:solidFill>
                  <a:latin typeface="Trebuchet MS Bold"/>
                  <a:ea typeface="Trebuchet MS Bold"/>
                  <a:cs typeface="Trebuchet MS Bold"/>
                  <a:sym typeface="Trebuchet MS Bold"/>
                </a:rPr>
                <a:t>Plain Language</a:t>
              </a:r>
            </a:p>
          </p:txBody>
        </p:sp>
      </p:grpSp>
      <p:grpSp>
        <p:nvGrpSpPr>
          <p:cNvPr name="Group 90" id="90"/>
          <p:cNvGrpSpPr/>
          <p:nvPr/>
        </p:nvGrpSpPr>
        <p:grpSpPr>
          <a:xfrm rot="0">
            <a:off x="9912096" y="8394192"/>
            <a:ext cx="7223760" cy="640080"/>
            <a:chOff x="0" y="0"/>
            <a:chExt cx="9631680" cy="853440"/>
          </a:xfrm>
        </p:grpSpPr>
        <p:sp>
          <p:nvSpPr>
            <p:cNvPr name="Freeform 91" id="91"/>
            <p:cNvSpPr/>
            <p:nvPr/>
          </p:nvSpPr>
          <p:spPr>
            <a:xfrm flipH="false" flipV="false" rot="0">
              <a:off x="0" y="0"/>
              <a:ext cx="9631680" cy="853440"/>
            </a:xfrm>
            <a:custGeom>
              <a:avLst/>
              <a:gdLst/>
              <a:ahLst/>
              <a:cxnLst/>
              <a:rect r="r" b="b" t="t" l="l"/>
              <a:pathLst>
                <a:path h="853440" w="9631680">
                  <a:moveTo>
                    <a:pt x="0" y="0"/>
                  </a:moveTo>
                  <a:lnTo>
                    <a:pt x="9631680" y="0"/>
                  </a:lnTo>
                  <a:lnTo>
                    <a:pt x="9631680" y="853440"/>
                  </a:lnTo>
                  <a:lnTo>
                    <a:pt x="0" y="853440"/>
                  </a:lnTo>
                  <a:close/>
                </a:path>
              </a:pathLst>
            </a:custGeom>
            <a:blipFill>
              <a:blip r:embed="rId2">
                <a:alphaModFix amt="0"/>
              </a:blip>
              <a:stretch>
                <a:fillRect l="0" t="-169902" r="0" b="-169902"/>
              </a:stretch>
            </a:blipFill>
          </p:spPr>
        </p:sp>
        <p:sp>
          <p:nvSpPr>
            <p:cNvPr name="TextBox 92" id="92"/>
            <p:cNvSpPr txBox="true"/>
            <p:nvPr/>
          </p:nvSpPr>
          <p:spPr>
            <a:xfrm>
              <a:off x="0" y="-66675"/>
              <a:ext cx="9631680" cy="920115"/>
            </a:xfrm>
            <a:prstGeom prst="rect">
              <a:avLst/>
            </a:prstGeom>
          </p:spPr>
          <p:txBody>
            <a:bodyPr anchor="ctr" rtlCol="false" tIns="0" lIns="0" bIns="0" rIns="0"/>
            <a:lstStyle/>
            <a:p>
              <a:pPr algn="l">
                <a:lnSpc>
                  <a:spcPts val="2400"/>
                </a:lnSpc>
              </a:pPr>
              <a:r>
                <a:rPr lang="en-US" sz="2000">
                  <a:solidFill>
                    <a:srgbClr val="000000"/>
                  </a:solidFill>
                  <a:latin typeface="Agrandir Narrow"/>
                  <a:ea typeface="Agrandir Narrow"/>
                  <a:cs typeface="Agrandir Narrow"/>
                  <a:sym typeface="Agrandir Narrow"/>
                </a:rPr>
                <a:t>Complex regulatory guidance translated for first-time borrowers</a:t>
              </a:r>
            </a:p>
          </p:txBody>
        </p:sp>
      </p:grpSp>
      <p:grpSp>
        <p:nvGrpSpPr>
          <p:cNvPr name="Group 93" id="93"/>
          <p:cNvGrpSpPr/>
          <p:nvPr/>
        </p:nvGrpSpPr>
        <p:grpSpPr>
          <a:xfrm rot="0">
            <a:off x="652786" y="996953"/>
            <a:ext cx="17007840" cy="822960"/>
            <a:chOff x="0" y="0"/>
            <a:chExt cx="22677120" cy="1097280"/>
          </a:xfrm>
        </p:grpSpPr>
        <p:sp>
          <p:nvSpPr>
            <p:cNvPr name="Freeform 94" id="94"/>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2">
                <a:alphaModFix amt="0"/>
              </a:blip>
              <a:stretch>
                <a:fillRect l="0" t="-352690" r="0" b="-352690"/>
              </a:stretch>
            </a:blipFill>
          </p:spPr>
        </p:sp>
        <p:sp>
          <p:nvSpPr>
            <p:cNvPr name="TextBox 95" id="95"/>
            <p:cNvSpPr txBox="true"/>
            <p:nvPr/>
          </p:nvSpPr>
          <p:spPr>
            <a:xfrm>
              <a:off x="0" y="-9525"/>
              <a:ext cx="22677120" cy="1106805"/>
            </a:xfrm>
            <a:prstGeom prst="rect">
              <a:avLst/>
            </a:prstGeom>
          </p:spPr>
          <p:txBody>
            <a:bodyPr anchor="ctr" rtlCol="false" tIns="0" lIns="0" bIns="0" rIns="0"/>
            <a:lstStyle/>
            <a:p>
              <a:pPr algn="ctr">
                <a:lnSpc>
                  <a:spcPts val="2879"/>
                </a:lnSpc>
              </a:pPr>
              <a:r>
                <a:rPr lang="en-US" sz="2400" i="true">
                  <a:solidFill>
                    <a:srgbClr val="015F6B"/>
                  </a:solidFill>
                  <a:latin typeface="Trebuchet MS Italics"/>
                  <a:ea typeface="Trebuchet MS Italics"/>
                  <a:cs typeface="Trebuchet MS Italics"/>
                  <a:sym typeface="Trebuchet MS Italics"/>
                </a:rPr>
                <a:t>Transparency at the individual level</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7270477" y="384150"/>
            <a:ext cx="3747046" cy="69215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Agrandir Narrow Bold"/>
                <a:ea typeface="Agrandir Narrow Bold"/>
                <a:cs typeface="Agrandir Narrow Bold"/>
                <a:sym typeface="Agrandir Narrow Bold"/>
              </a:rPr>
              <a:t>Data Architecture</a:t>
            </a:r>
          </a:p>
        </p:txBody>
      </p:sp>
      <p:grpSp>
        <p:nvGrpSpPr>
          <p:cNvPr name="Group 6" id="6"/>
          <p:cNvGrpSpPr/>
          <p:nvPr/>
        </p:nvGrpSpPr>
        <p:grpSpPr>
          <a:xfrm rot="0">
            <a:off x="867656" y="2385264"/>
            <a:ext cx="5323837" cy="4010395"/>
            <a:chOff x="0" y="0"/>
            <a:chExt cx="7098449" cy="5347194"/>
          </a:xfrm>
        </p:grpSpPr>
        <p:sp>
          <p:nvSpPr>
            <p:cNvPr name="Freeform 7" id="7"/>
            <p:cNvSpPr/>
            <p:nvPr/>
          </p:nvSpPr>
          <p:spPr>
            <a:xfrm flipH="false" flipV="false" rot="0">
              <a:off x="13589" y="11326"/>
              <a:ext cx="7071360" cy="5324616"/>
            </a:xfrm>
            <a:custGeom>
              <a:avLst/>
              <a:gdLst/>
              <a:ahLst/>
              <a:cxnLst/>
              <a:rect r="r" b="b" t="t" l="l"/>
              <a:pathLst>
                <a:path h="5324616" w="7071360">
                  <a:moveTo>
                    <a:pt x="0" y="0"/>
                  </a:moveTo>
                  <a:lnTo>
                    <a:pt x="7071360" y="0"/>
                  </a:lnTo>
                  <a:lnTo>
                    <a:pt x="7071360" y="5324616"/>
                  </a:lnTo>
                  <a:lnTo>
                    <a:pt x="0" y="5324616"/>
                  </a:lnTo>
                  <a:close/>
                </a:path>
              </a:pathLst>
            </a:custGeom>
            <a:solidFill>
              <a:srgbClr val="F1F5F9"/>
            </a:solidFill>
          </p:spPr>
        </p:sp>
        <p:sp>
          <p:nvSpPr>
            <p:cNvPr name="Freeform 8" id="8"/>
            <p:cNvSpPr/>
            <p:nvPr/>
          </p:nvSpPr>
          <p:spPr>
            <a:xfrm flipH="false" flipV="false" rot="0">
              <a:off x="0" y="0"/>
              <a:ext cx="7098538" cy="5347283"/>
            </a:xfrm>
            <a:custGeom>
              <a:avLst/>
              <a:gdLst/>
              <a:ahLst/>
              <a:cxnLst/>
              <a:rect r="r" b="b" t="t" l="l"/>
              <a:pathLst>
                <a:path h="5347283" w="7098538">
                  <a:moveTo>
                    <a:pt x="13589" y="0"/>
                  </a:moveTo>
                  <a:lnTo>
                    <a:pt x="7084949" y="0"/>
                  </a:lnTo>
                  <a:cubicBezTo>
                    <a:pt x="7092442" y="0"/>
                    <a:pt x="7098538" y="5081"/>
                    <a:pt x="7098538" y="11326"/>
                  </a:cubicBezTo>
                  <a:lnTo>
                    <a:pt x="7098538" y="5335942"/>
                  </a:lnTo>
                  <a:cubicBezTo>
                    <a:pt x="7098538" y="5342187"/>
                    <a:pt x="7092442" y="5347283"/>
                    <a:pt x="7084949" y="5347283"/>
                  </a:cubicBezTo>
                  <a:lnTo>
                    <a:pt x="13589" y="5347283"/>
                  </a:lnTo>
                  <a:cubicBezTo>
                    <a:pt x="6096" y="5347283"/>
                    <a:pt x="0" y="5342187"/>
                    <a:pt x="0" y="5335942"/>
                  </a:cubicBezTo>
                  <a:lnTo>
                    <a:pt x="0" y="11326"/>
                  </a:lnTo>
                  <a:cubicBezTo>
                    <a:pt x="0" y="5081"/>
                    <a:pt x="6096" y="0"/>
                    <a:pt x="13589" y="0"/>
                  </a:cubicBezTo>
                  <a:moveTo>
                    <a:pt x="13589" y="22546"/>
                  </a:moveTo>
                  <a:lnTo>
                    <a:pt x="13589" y="11326"/>
                  </a:lnTo>
                  <a:lnTo>
                    <a:pt x="27051" y="11326"/>
                  </a:lnTo>
                  <a:lnTo>
                    <a:pt x="27051" y="5335942"/>
                  </a:lnTo>
                  <a:lnTo>
                    <a:pt x="13589" y="5335942"/>
                  </a:lnTo>
                  <a:lnTo>
                    <a:pt x="13589" y="5324616"/>
                  </a:lnTo>
                  <a:lnTo>
                    <a:pt x="7084949" y="5324616"/>
                  </a:lnTo>
                  <a:lnTo>
                    <a:pt x="7084949" y="5335942"/>
                  </a:lnTo>
                  <a:lnTo>
                    <a:pt x="7071360" y="5335942"/>
                  </a:lnTo>
                  <a:lnTo>
                    <a:pt x="7071360" y="11326"/>
                  </a:lnTo>
                  <a:lnTo>
                    <a:pt x="7084949" y="11326"/>
                  </a:lnTo>
                  <a:lnTo>
                    <a:pt x="7084949" y="22546"/>
                  </a:lnTo>
                  <a:lnTo>
                    <a:pt x="13589" y="22546"/>
                  </a:lnTo>
                  <a:close/>
                </a:path>
              </a:pathLst>
            </a:custGeom>
            <a:solidFill>
              <a:srgbClr val="0EA5E9"/>
            </a:solidFill>
          </p:spPr>
        </p:sp>
      </p:grpSp>
      <p:grpSp>
        <p:nvGrpSpPr>
          <p:cNvPr name="Group 9" id="9"/>
          <p:cNvGrpSpPr/>
          <p:nvPr/>
        </p:nvGrpSpPr>
        <p:grpSpPr>
          <a:xfrm rot="0">
            <a:off x="865122" y="2382731"/>
            <a:ext cx="5328923" cy="683771"/>
            <a:chOff x="0" y="0"/>
            <a:chExt cx="7105231" cy="911695"/>
          </a:xfrm>
        </p:grpSpPr>
        <p:sp>
          <p:nvSpPr>
            <p:cNvPr name="Freeform 10" id="10"/>
            <p:cNvSpPr/>
            <p:nvPr/>
          </p:nvSpPr>
          <p:spPr>
            <a:xfrm flipH="false" flipV="false" rot="0">
              <a:off x="16891" y="16891"/>
              <a:ext cx="7071360" cy="877824"/>
            </a:xfrm>
            <a:custGeom>
              <a:avLst/>
              <a:gdLst/>
              <a:ahLst/>
              <a:cxnLst/>
              <a:rect r="r" b="b" t="t" l="l"/>
              <a:pathLst>
                <a:path h="877824" w="7071360">
                  <a:moveTo>
                    <a:pt x="0" y="0"/>
                  </a:moveTo>
                  <a:lnTo>
                    <a:pt x="7071360" y="0"/>
                  </a:lnTo>
                  <a:lnTo>
                    <a:pt x="7071360" y="877824"/>
                  </a:lnTo>
                  <a:lnTo>
                    <a:pt x="0" y="877824"/>
                  </a:lnTo>
                  <a:close/>
                </a:path>
              </a:pathLst>
            </a:custGeom>
            <a:solidFill>
              <a:srgbClr val="143DFB"/>
            </a:solidFill>
          </p:spPr>
        </p:sp>
        <p:sp>
          <p:nvSpPr>
            <p:cNvPr name="Freeform 11" id="11"/>
            <p:cNvSpPr/>
            <p:nvPr/>
          </p:nvSpPr>
          <p:spPr>
            <a:xfrm flipH="false" flipV="false" rot="0">
              <a:off x="0" y="0"/>
              <a:ext cx="7105142" cy="911608"/>
            </a:xfrm>
            <a:custGeom>
              <a:avLst/>
              <a:gdLst/>
              <a:ahLst/>
              <a:cxnLst/>
              <a:rect r="r" b="b" t="t" l="l"/>
              <a:pathLst>
                <a:path h="911608" w="7105142">
                  <a:moveTo>
                    <a:pt x="16891" y="0"/>
                  </a:moveTo>
                  <a:lnTo>
                    <a:pt x="7088251" y="0"/>
                  </a:lnTo>
                  <a:cubicBezTo>
                    <a:pt x="7097649" y="0"/>
                    <a:pt x="7105142" y="7620"/>
                    <a:pt x="7105142" y="16891"/>
                  </a:cubicBezTo>
                  <a:lnTo>
                    <a:pt x="7105142" y="894715"/>
                  </a:lnTo>
                  <a:cubicBezTo>
                    <a:pt x="7105142" y="904113"/>
                    <a:pt x="7097522" y="911606"/>
                    <a:pt x="708825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7088251" y="877824"/>
                  </a:lnTo>
                  <a:lnTo>
                    <a:pt x="7088251" y="894715"/>
                  </a:lnTo>
                  <a:lnTo>
                    <a:pt x="7071360" y="894715"/>
                  </a:lnTo>
                  <a:lnTo>
                    <a:pt x="7071360" y="16891"/>
                  </a:lnTo>
                  <a:lnTo>
                    <a:pt x="7088251" y="16891"/>
                  </a:lnTo>
                  <a:lnTo>
                    <a:pt x="7088251" y="33909"/>
                  </a:lnTo>
                  <a:lnTo>
                    <a:pt x="16891" y="33909"/>
                  </a:lnTo>
                  <a:close/>
                </a:path>
              </a:pathLst>
            </a:custGeom>
            <a:solidFill>
              <a:srgbClr val="0EA5E9"/>
            </a:solidFill>
          </p:spPr>
        </p:sp>
      </p:grpSp>
      <p:grpSp>
        <p:nvGrpSpPr>
          <p:cNvPr name="Group 12" id="12"/>
          <p:cNvGrpSpPr/>
          <p:nvPr/>
        </p:nvGrpSpPr>
        <p:grpSpPr>
          <a:xfrm rot="0">
            <a:off x="877819" y="2395427"/>
            <a:ext cx="5303520" cy="676485"/>
            <a:chOff x="0" y="0"/>
            <a:chExt cx="7071360" cy="901980"/>
          </a:xfrm>
        </p:grpSpPr>
        <p:sp>
          <p:nvSpPr>
            <p:cNvPr name="Freeform 13" id="13"/>
            <p:cNvSpPr/>
            <p:nvPr/>
          </p:nvSpPr>
          <p:spPr>
            <a:xfrm flipH="false" flipV="false" rot="0">
              <a:off x="0" y="0"/>
              <a:ext cx="7071360" cy="901980"/>
            </a:xfrm>
            <a:custGeom>
              <a:avLst/>
              <a:gdLst/>
              <a:ahLst/>
              <a:cxnLst/>
              <a:rect r="r" b="b" t="t" l="l"/>
              <a:pathLst>
                <a:path h="901980" w="7071360">
                  <a:moveTo>
                    <a:pt x="0" y="0"/>
                  </a:moveTo>
                  <a:lnTo>
                    <a:pt x="7071360" y="0"/>
                  </a:lnTo>
                  <a:lnTo>
                    <a:pt x="7071360" y="901980"/>
                  </a:lnTo>
                  <a:lnTo>
                    <a:pt x="0" y="901980"/>
                  </a:lnTo>
                  <a:close/>
                </a:path>
              </a:pathLst>
            </a:custGeom>
            <a:blipFill>
              <a:blip r:embed="rId2">
                <a:alphaModFix amt="0"/>
              </a:blip>
              <a:stretch>
                <a:fillRect l="0" t="-123021" r="0" b="-82496"/>
              </a:stretch>
            </a:blipFill>
          </p:spPr>
        </p:sp>
        <p:sp>
          <p:nvSpPr>
            <p:cNvPr name="TextBox 14" id="14"/>
            <p:cNvSpPr txBox="true"/>
            <p:nvPr/>
          </p:nvSpPr>
          <p:spPr>
            <a:xfrm>
              <a:off x="0" y="-76200"/>
              <a:ext cx="7071360" cy="978180"/>
            </a:xfrm>
            <a:prstGeom prst="rect">
              <a:avLst/>
            </a:prstGeom>
          </p:spPr>
          <p:txBody>
            <a:bodyPr anchor="ctr" rtlCol="false" tIns="0" lIns="0" bIns="0" rIns="0"/>
            <a:lstStyle/>
            <a:p>
              <a:pPr algn="ctr">
                <a:lnSpc>
                  <a:spcPts val="2879"/>
                </a:lnSpc>
              </a:pPr>
              <a:r>
                <a:rPr lang="en-US" sz="2400" b="true">
                  <a:solidFill>
                    <a:srgbClr val="FFFFFF"/>
                  </a:solidFill>
                  <a:latin typeface="Agrandir Narrow Bold"/>
                  <a:ea typeface="Agrandir Narrow Bold"/>
                  <a:cs typeface="Agrandir Narrow Bold"/>
                  <a:sym typeface="Agrandir Narrow Bold"/>
                </a:rPr>
                <a:t>PostgreSQL </a:t>
              </a:r>
            </a:p>
            <a:p>
              <a:pPr algn="ctr">
                <a:lnSpc>
                  <a:spcPts val="1800"/>
                </a:lnSpc>
              </a:pPr>
              <a:r>
                <a:rPr lang="en-US" sz="1500" b="true">
                  <a:solidFill>
                    <a:srgbClr val="FFFFFF"/>
                  </a:solidFill>
                  <a:latin typeface="Agrandir Narrow Bold"/>
                  <a:ea typeface="Agrandir Narrow Bold"/>
                  <a:cs typeface="Agrandir Narrow Bold"/>
                  <a:sym typeface="Agrandir Narrow Bold"/>
                </a:rPr>
                <a:t>Structured Decisions</a:t>
              </a:r>
            </a:p>
          </p:txBody>
        </p:sp>
      </p:grpSp>
      <p:grpSp>
        <p:nvGrpSpPr>
          <p:cNvPr name="Group 15" id="15"/>
          <p:cNvGrpSpPr/>
          <p:nvPr/>
        </p:nvGrpSpPr>
        <p:grpSpPr>
          <a:xfrm rot="0">
            <a:off x="1106414" y="3344971"/>
            <a:ext cx="4846320" cy="3252978"/>
            <a:chOff x="0" y="0"/>
            <a:chExt cx="6461760" cy="4337304"/>
          </a:xfrm>
        </p:grpSpPr>
        <p:sp>
          <p:nvSpPr>
            <p:cNvPr name="Freeform 16" id="16"/>
            <p:cNvSpPr/>
            <p:nvPr/>
          </p:nvSpPr>
          <p:spPr>
            <a:xfrm flipH="false" flipV="false" rot="0">
              <a:off x="0" y="0"/>
              <a:ext cx="6461760" cy="4337304"/>
            </a:xfrm>
            <a:custGeom>
              <a:avLst/>
              <a:gdLst/>
              <a:ahLst/>
              <a:cxnLst/>
              <a:rect r="r" b="b" t="t" l="l"/>
              <a:pathLst>
                <a:path h="4337304" w="6461760">
                  <a:moveTo>
                    <a:pt x="0" y="0"/>
                  </a:moveTo>
                  <a:lnTo>
                    <a:pt x="6461760" y="0"/>
                  </a:lnTo>
                  <a:lnTo>
                    <a:pt x="6461760" y="4337304"/>
                  </a:lnTo>
                  <a:lnTo>
                    <a:pt x="0" y="4337304"/>
                  </a:lnTo>
                  <a:close/>
                </a:path>
              </a:pathLst>
            </a:custGeom>
            <a:blipFill>
              <a:blip r:embed="rId2">
                <a:alphaModFix amt="0"/>
              </a:blip>
              <a:stretch>
                <a:fillRect l="0" t="-17222" r="0" b="59164"/>
              </a:stretch>
            </a:blipFill>
          </p:spPr>
        </p:sp>
        <p:sp>
          <p:nvSpPr>
            <p:cNvPr name="TextBox 17" id="17"/>
            <p:cNvSpPr txBox="true"/>
            <p:nvPr/>
          </p:nvSpPr>
          <p:spPr>
            <a:xfrm>
              <a:off x="0" y="-142875"/>
              <a:ext cx="6461760" cy="4480179"/>
            </a:xfrm>
            <a:prstGeom prst="rect">
              <a:avLst/>
            </a:prstGeom>
          </p:spPr>
          <p:txBody>
            <a:bodyPr anchor="ctr" rtlCol="false" tIns="0" lIns="0" bIns="0" rIns="0"/>
            <a:lstStyle/>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users</a:t>
              </a:r>
              <a:r>
                <a:rPr lang="en-US" sz="1999">
                  <a:solidFill>
                    <a:srgbClr val="1E293B"/>
                  </a:solidFill>
                  <a:latin typeface="Agrandir Narrow"/>
                  <a:ea typeface="Agrandir Narrow"/>
                  <a:cs typeface="Agrandir Narrow"/>
                  <a:sym typeface="Agrandir Narrow"/>
                </a:rPr>
                <a:t> - consent records, basic profile</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scores</a:t>
              </a:r>
              <a:r>
                <a:rPr lang="en-US" sz="1999">
                  <a:solidFill>
                    <a:srgbClr val="1E293B"/>
                  </a:solidFill>
                  <a:latin typeface="Agrandir Narrow"/>
                  <a:ea typeface="Agrandir Narrow"/>
                  <a:cs typeface="Agrandir Narrow"/>
                  <a:sym typeface="Agrandir Narrow"/>
                </a:rPr>
                <a:t> - full audit trail per applicant with timestamp</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shap values </a:t>
              </a:r>
              <a:r>
                <a:rPr lang="en-US" sz="1999">
                  <a:solidFill>
                    <a:srgbClr val="1E293B"/>
                  </a:solidFill>
                  <a:latin typeface="Agrandir Narrow"/>
                  <a:ea typeface="Agrandir Narrow"/>
                  <a:cs typeface="Agrandir Narrow"/>
                  <a:sym typeface="Agrandir Narrow"/>
                </a:rPr>
                <a:t>- per-feature point breakdown stored per decision</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feedback</a:t>
              </a:r>
              <a:r>
                <a:rPr lang="en-US" sz="1999">
                  <a:solidFill>
                    <a:srgbClr val="1E293B"/>
                  </a:solidFill>
                  <a:latin typeface="Agrandir Narrow"/>
                  <a:ea typeface="Agrandir Narrow"/>
                  <a:cs typeface="Agrandir Narrow"/>
                  <a:sym typeface="Agrandir Narrow"/>
                </a:rPr>
                <a:t> - loan officer decisions and override logs</a:t>
              </a:r>
            </a:p>
            <a:p>
              <a:pPr algn="l">
                <a:lnSpc>
                  <a:spcPts val="3279"/>
                </a:lnSpc>
              </a:pPr>
            </a:p>
          </p:txBody>
        </p:sp>
      </p:grpSp>
      <p:grpSp>
        <p:nvGrpSpPr>
          <p:cNvPr name="Group 18" id="18"/>
          <p:cNvGrpSpPr/>
          <p:nvPr/>
        </p:nvGrpSpPr>
        <p:grpSpPr>
          <a:xfrm rot="0">
            <a:off x="6734795" y="2397961"/>
            <a:ext cx="5323837" cy="4010395"/>
            <a:chOff x="0" y="0"/>
            <a:chExt cx="7098449" cy="5347194"/>
          </a:xfrm>
        </p:grpSpPr>
        <p:sp>
          <p:nvSpPr>
            <p:cNvPr name="Freeform 19" id="19"/>
            <p:cNvSpPr/>
            <p:nvPr/>
          </p:nvSpPr>
          <p:spPr>
            <a:xfrm flipH="false" flipV="false" rot="0">
              <a:off x="13589" y="11326"/>
              <a:ext cx="7071360" cy="5324616"/>
            </a:xfrm>
            <a:custGeom>
              <a:avLst/>
              <a:gdLst/>
              <a:ahLst/>
              <a:cxnLst/>
              <a:rect r="r" b="b" t="t" l="l"/>
              <a:pathLst>
                <a:path h="5324616" w="7071360">
                  <a:moveTo>
                    <a:pt x="0" y="0"/>
                  </a:moveTo>
                  <a:lnTo>
                    <a:pt x="7071360" y="0"/>
                  </a:lnTo>
                  <a:lnTo>
                    <a:pt x="7071360" y="5324616"/>
                  </a:lnTo>
                  <a:lnTo>
                    <a:pt x="0" y="5324616"/>
                  </a:lnTo>
                  <a:close/>
                </a:path>
              </a:pathLst>
            </a:custGeom>
            <a:solidFill>
              <a:srgbClr val="F1F5F9"/>
            </a:solidFill>
          </p:spPr>
        </p:sp>
        <p:sp>
          <p:nvSpPr>
            <p:cNvPr name="Freeform 20" id="20"/>
            <p:cNvSpPr/>
            <p:nvPr/>
          </p:nvSpPr>
          <p:spPr>
            <a:xfrm flipH="false" flipV="false" rot="0">
              <a:off x="0" y="0"/>
              <a:ext cx="7098538" cy="5347283"/>
            </a:xfrm>
            <a:custGeom>
              <a:avLst/>
              <a:gdLst/>
              <a:ahLst/>
              <a:cxnLst/>
              <a:rect r="r" b="b" t="t" l="l"/>
              <a:pathLst>
                <a:path h="5347283" w="7098538">
                  <a:moveTo>
                    <a:pt x="13589" y="0"/>
                  </a:moveTo>
                  <a:lnTo>
                    <a:pt x="7084949" y="0"/>
                  </a:lnTo>
                  <a:cubicBezTo>
                    <a:pt x="7092442" y="0"/>
                    <a:pt x="7098538" y="5081"/>
                    <a:pt x="7098538" y="11326"/>
                  </a:cubicBezTo>
                  <a:lnTo>
                    <a:pt x="7098538" y="5335942"/>
                  </a:lnTo>
                  <a:cubicBezTo>
                    <a:pt x="7098538" y="5342187"/>
                    <a:pt x="7092442" y="5347283"/>
                    <a:pt x="7084949" y="5347283"/>
                  </a:cubicBezTo>
                  <a:lnTo>
                    <a:pt x="13589" y="5347283"/>
                  </a:lnTo>
                  <a:cubicBezTo>
                    <a:pt x="6096" y="5347283"/>
                    <a:pt x="0" y="5342187"/>
                    <a:pt x="0" y="5335942"/>
                  </a:cubicBezTo>
                  <a:lnTo>
                    <a:pt x="0" y="11326"/>
                  </a:lnTo>
                  <a:cubicBezTo>
                    <a:pt x="0" y="5081"/>
                    <a:pt x="6096" y="0"/>
                    <a:pt x="13589" y="0"/>
                  </a:cubicBezTo>
                  <a:moveTo>
                    <a:pt x="13589" y="22546"/>
                  </a:moveTo>
                  <a:lnTo>
                    <a:pt x="13589" y="11326"/>
                  </a:lnTo>
                  <a:lnTo>
                    <a:pt x="27051" y="11326"/>
                  </a:lnTo>
                  <a:lnTo>
                    <a:pt x="27051" y="5335942"/>
                  </a:lnTo>
                  <a:lnTo>
                    <a:pt x="13589" y="5335942"/>
                  </a:lnTo>
                  <a:lnTo>
                    <a:pt x="13589" y="5324616"/>
                  </a:lnTo>
                  <a:lnTo>
                    <a:pt x="7084949" y="5324616"/>
                  </a:lnTo>
                  <a:lnTo>
                    <a:pt x="7084949" y="5335942"/>
                  </a:lnTo>
                  <a:lnTo>
                    <a:pt x="7071360" y="5335942"/>
                  </a:lnTo>
                  <a:lnTo>
                    <a:pt x="7071360" y="11326"/>
                  </a:lnTo>
                  <a:lnTo>
                    <a:pt x="7084949" y="11326"/>
                  </a:lnTo>
                  <a:lnTo>
                    <a:pt x="7084949" y="22546"/>
                  </a:lnTo>
                  <a:lnTo>
                    <a:pt x="13589" y="22546"/>
                  </a:lnTo>
                  <a:close/>
                </a:path>
              </a:pathLst>
            </a:custGeom>
            <a:solidFill>
              <a:srgbClr val="0EA5E9"/>
            </a:solidFill>
          </p:spPr>
        </p:sp>
      </p:grpSp>
      <p:grpSp>
        <p:nvGrpSpPr>
          <p:cNvPr name="Group 21" id="21"/>
          <p:cNvGrpSpPr/>
          <p:nvPr/>
        </p:nvGrpSpPr>
        <p:grpSpPr>
          <a:xfrm rot="0">
            <a:off x="6732261" y="2395427"/>
            <a:ext cx="5328923" cy="683771"/>
            <a:chOff x="0" y="0"/>
            <a:chExt cx="7105231" cy="911695"/>
          </a:xfrm>
        </p:grpSpPr>
        <p:sp>
          <p:nvSpPr>
            <p:cNvPr name="Freeform 22" id="22"/>
            <p:cNvSpPr/>
            <p:nvPr/>
          </p:nvSpPr>
          <p:spPr>
            <a:xfrm flipH="false" flipV="false" rot="0">
              <a:off x="16891" y="16891"/>
              <a:ext cx="7071360" cy="877824"/>
            </a:xfrm>
            <a:custGeom>
              <a:avLst/>
              <a:gdLst/>
              <a:ahLst/>
              <a:cxnLst/>
              <a:rect r="r" b="b" t="t" l="l"/>
              <a:pathLst>
                <a:path h="877824" w="7071360">
                  <a:moveTo>
                    <a:pt x="0" y="0"/>
                  </a:moveTo>
                  <a:lnTo>
                    <a:pt x="7071360" y="0"/>
                  </a:lnTo>
                  <a:lnTo>
                    <a:pt x="7071360" y="877824"/>
                  </a:lnTo>
                  <a:lnTo>
                    <a:pt x="0" y="877824"/>
                  </a:lnTo>
                  <a:close/>
                </a:path>
              </a:pathLst>
            </a:custGeom>
            <a:solidFill>
              <a:srgbClr val="143DFB"/>
            </a:solidFill>
          </p:spPr>
        </p:sp>
        <p:sp>
          <p:nvSpPr>
            <p:cNvPr name="Freeform 23" id="23"/>
            <p:cNvSpPr/>
            <p:nvPr/>
          </p:nvSpPr>
          <p:spPr>
            <a:xfrm flipH="false" flipV="false" rot="0">
              <a:off x="0" y="0"/>
              <a:ext cx="7105142" cy="911608"/>
            </a:xfrm>
            <a:custGeom>
              <a:avLst/>
              <a:gdLst/>
              <a:ahLst/>
              <a:cxnLst/>
              <a:rect r="r" b="b" t="t" l="l"/>
              <a:pathLst>
                <a:path h="911608" w="7105142">
                  <a:moveTo>
                    <a:pt x="16891" y="0"/>
                  </a:moveTo>
                  <a:lnTo>
                    <a:pt x="7088251" y="0"/>
                  </a:lnTo>
                  <a:cubicBezTo>
                    <a:pt x="7097649" y="0"/>
                    <a:pt x="7105142" y="7620"/>
                    <a:pt x="7105142" y="16891"/>
                  </a:cubicBezTo>
                  <a:lnTo>
                    <a:pt x="7105142" y="894715"/>
                  </a:lnTo>
                  <a:cubicBezTo>
                    <a:pt x="7105142" y="904113"/>
                    <a:pt x="7097522" y="911606"/>
                    <a:pt x="708825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7088251" y="877824"/>
                  </a:lnTo>
                  <a:lnTo>
                    <a:pt x="7088251" y="894715"/>
                  </a:lnTo>
                  <a:lnTo>
                    <a:pt x="7071360" y="894715"/>
                  </a:lnTo>
                  <a:lnTo>
                    <a:pt x="7071360" y="16891"/>
                  </a:lnTo>
                  <a:lnTo>
                    <a:pt x="7088251" y="16891"/>
                  </a:lnTo>
                  <a:lnTo>
                    <a:pt x="7088251" y="33909"/>
                  </a:lnTo>
                  <a:lnTo>
                    <a:pt x="16891" y="33909"/>
                  </a:lnTo>
                  <a:close/>
                </a:path>
              </a:pathLst>
            </a:custGeom>
            <a:solidFill>
              <a:srgbClr val="0EA5E9"/>
            </a:solidFill>
          </p:spPr>
        </p:sp>
      </p:grpSp>
      <p:grpSp>
        <p:nvGrpSpPr>
          <p:cNvPr name="Group 24" id="24"/>
          <p:cNvGrpSpPr/>
          <p:nvPr/>
        </p:nvGrpSpPr>
        <p:grpSpPr>
          <a:xfrm rot="0">
            <a:off x="6744958" y="2408124"/>
            <a:ext cx="5303520" cy="1267035"/>
            <a:chOff x="0" y="0"/>
            <a:chExt cx="7071360" cy="1689380"/>
          </a:xfrm>
        </p:grpSpPr>
        <p:sp>
          <p:nvSpPr>
            <p:cNvPr name="Freeform 25" id="25"/>
            <p:cNvSpPr/>
            <p:nvPr/>
          </p:nvSpPr>
          <p:spPr>
            <a:xfrm flipH="false" flipV="false" rot="0">
              <a:off x="0" y="0"/>
              <a:ext cx="7071360" cy="1689380"/>
            </a:xfrm>
            <a:custGeom>
              <a:avLst/>
              <a:gdLst/>
              <a:ahLst/>
              <a:cxnLst/>
              <a:rect r="r" b="b" t="t" l="l"/>
              <a:pathLst>
                <a:path h="1689380" w="7071360">
                  <a:moveTo>
                    <a:pt x="0" y="0"/>
                  </a:moveTo>
                  <a:lnTo>
                    <a:pt x="7071360" y="0"/>
                  </a:lnTo>
                  <a:lnTo>
                    <a:pt x="7071360" y="1689380"/>
                  </a:lnTo>
                  <a:lnTo>
                    <a:pt x="0" y="1689380"/>
                  </a:lnTo>
                  <a:close/>
                </a:path>
              </a:pathLst>
            </a:custGeom>
            <a:blipFill>
              <a:blip r:embed="rId2">
                <a:alphaModFix amt="0"/>
              </a:blip>
              <a:stretch>
                <a:fillRect l="0" t="-65682" r="0" b="2563"/>
              </a:stretch>
            </a:blipFill>
          </p:spPr>
        </p:sp>
        <p:sp>
          <p:nvSpPr>
            <p:cNvPr name="TextBox 26" id="26"/>
            <p:cNvSpPr txBox="true"/>
            <p:nvPr/>
          </p:nvSpPr>
          <p:spPr>
            <a:xfrm>
              <a:off x="0" y="-76200"/>
              <a:ext cx="7071360" cy="1765580"/>
            </a:xfrm>
            <a:prstGeom prst="rect">
              <a:avLst/>
            </a:prstGeom>
          </p:spPr>
          <p:txBody>
            <a:bodyPr anchor="ctr" rtlCol="false" tIns="0" lIns="0" bIns="0" rIns="0"/>
            <a:lstStyle/>
            <a:p>
              <a:pPr algn="ctr">
                <a:lnSpc>
                  <a:spcPts val="2879"/>
                </a:lnSpc>
              </a:pPr>
              <a:r>
                <a:rPr lang="en-US" sz="2400" b="true">
                  <a:solidFill>
                    <a:srgbClr val="FFFFFF"/>
                  </a:solidFill>
                  <a:latin typeface="Agrandir Narrow Bold"/>
                  <a:ea typeface="Agrandir Narrow Bold"/>
                  <a:cs typeface="Agrandir Narrow Bold"/>
                  <a:sym typeface="Agrandir Narrow Bold"/>
                </a:rPr>
                <a:t>ChromaDB </a:t>
              </a:r>
            </a:p>
            <a:p>
              <a:pPr algn="ctr">
                <a:lnSpc>
                  <a:spcPts val="1800"/>
                </a:lnSpc>
              </a:pPr>
              <a:r>
                <a:rPr lang="en-US" sz="1500" b="true">
                  <a:solidFill>
                    <a:srgbClr val="FFFFFF"/>
                  </a:solidFill>
                  <a:latin typeface="Agrandir Narrow Bold"/>
                  <a:ea typeface="Agrandir Narrow Bold"/>
                  <a:cs typeface="Agrandir Narrow Bold"/>
                  <a:sym typeface="Agrandir Narrow Bold"/>
                </a:rPr>
                <a:t>Vector Intelligence</a:t>
              </a:r>
            </a:p>
            <a:p>
              <a:pPr algn="ctr">
                <a:lnSpc>
                  <a:spcPts val="2879"/>
                </a:lnSpc>
              </a:pPr>
            </a:p>
            <a:p>
              <a:pPr algn="ctr">
                <a:lnSpc>
                  <a:spcPts val="1800"/>
                </a:lnSpc>
              </a:pPr>
              <a:r>
                <a:rPr lang="en-US" sz="1500" b="true">
                  <a:solidFill>
                    <a:srgbClr val="FFFFFF"/>
                  </a:solidFill>
                  <a:latin typeface="Agrandir Narrow Bold"/>
                  <a:ea typeface="Agrandir Narrow Bold"/>
                  <a:cs typeface="Agrandir Narrow Bold"/>
                  <a:sym typeface="Agrandir Narrow Bold"/>
                </a:rPr>
                <a:t>Structured Decisions</a:t>
              </a:r>
            </a:p>
          </p:txBody>
        </p:sp>
      </p:grpSp>
      <p:grpSp>
        <p:nvGrpSpPr>
          <p:cNvPr name="Group 27" id="27"/>
          <p:cNvGrpSpPr/>
          <p:nvPr/>
        </p:nvGrpSpPr>
        <p:grpSpPr>
          <a:xfrm rot="0">
            <a:off x="6973553" y="3357668"/>
            <a:ext cx="4846320" cy="2843403"/>
            <a:chOff x="0" y="0"/>
            <a:chExt cx="6461760" cy="3791204"/>
          </a:xfrm>
        </p:grpSpPr>
        <p:sp>
          <p:nvSpPr>
            <p:cNvPr name="Freeform 28" id="28"/>
            <p:cNvSpPr/>
            <p:nvPr/>
          </p:nvSpPr>
          <p:spPr>
            <a:xfrm flipH="false" flipV="false" rot="0">
              <a:off x="0" y="0"/>
              <a:ext cx="6461760" cy="3791204"/>
            </a:xfrm>
            <a:custGeom>
              <a:avLst/>
              <a:gdLst/>
              <a:ahLst/>
              <a:cxnLst/>
              <a:rect r="r" b="b" t="t" l="l"/>
              <a:pathLst>
                <a:path h="3791204" w="6461760">
                  <a:moveTo>
                    <a:pt x="0" y="0"/>
                  </a:moveTo>
                  <a:lnTo>
                    <a:pt x="6461760" y="0"/>
                  </a:lnTo>
                  <a:lnTo>
                    <a:pt x="6461760" y="3791204"/>
                  </a:lnTo>
                  <a:lnTo>
                    <a:pt x="0" y="3791204"/>
                  </a:lnTo>
                  <a:close/>
                </a:path>
              </a:pathLst>
            </a:custGeom>
            <a:blipFill>
              <a:blip r:embed="rId2">
                <a:alphaModFix amt="0"/>
              </a:blip>
              <a:stretch>
                <a:fillRect l="0" t="-19703" r="0" b="53282"/>
              </a:stretch>
            </a:blipFill>
          </p:spPr>
        </p:sp>
        <p:sp>
          <p:nvSpPr>
            <p:cNvPr name="TextBox 29" id="29"/>
            <p:cNvSpPr txBox="true"/>
            <p:nvPr/>
          </p:nvSpPr>
          <p:spPr>
            <a:xfrm>
              <a:off x="0" y="-142875"/>
              <a:ext cx="6461760" cy="3934079"/>
            </a:xfrm>
            <a:prstGeom prst="rect">
              <a:avLst/>
            </a:prstGeom>
          </p:spPr>
          <p:txBody>
            <a:bodyPr anchor="ctr" rtlCol="false" tIns="0" lIns="0" bIns="0" rIns="0"/>
            <a:lstStyle/>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rbi_g</a:t>
              </a:r>
              <a:r>
                <a:rPr lang="en-US" b="true" sz="1999">
                  <a:solidFill>
                    <a:srgbClr val="1E293B"/>
                  </a:solidFill>
                  <a:latin typeface="Agrandir Narrow Bold"/>
                  <a:ea typeface="Agrandir Narrow Bold"/>
                  <a:cs typeface="Agrandir Narrow Bold"/>
                  <a:sym typeface="Agrandir Narrow Bold"/>
                </a:rPr>
                <a:t>uidelines - </a:t>
              </a:r>
              <a:r>
                <a:rPr lang="en-US" sz="1999">
                  <a:solidFill>
                    <a:srgbClr val="1E293B"/>
                  </a:solidFill>
                  <a:latin typeface="Agrandir Narrow"/>
                  <a:ea typeface="Agrandir Narrow"/>
                  <a:cs typeface="Agrandir Narrow"/>
                  <a:sym typeface="Agrandir Narrow"/>
                </a:rPr>
                <a:t>200+ RBI policy documents indexed as embeddings</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lending_precedents - </a:t>
              </a:r>
              <a:r>
                <a:rPr lang="en-US" sz="1999">
                  <a:solidFill>
                    <a:srgbClr val="1E293B"/>
                  </a:solidFill>
                  <a:latin typeface="Agrandir Narrow"/>
                  <a:ea typeface="Agrandir Narrow"/>
                  <a:cs typeface="Agrandir Narrow"/>
                  <a:sym typeface="Agrandir Narrow"/>
                </a:rPr>
                <a:t>historical case embeddings for RAG retrieval</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questionnaire_embeddings - </a:t>
              </a:r>
              <a:r>
                <a:rPr lang="en-US" sz="1999">
                  <a:solidFill>
                    <a:srgbClr val="1E293B"/>
                  </a:solidFill>
                  <a:latin typeface="Agrandir Narrow"/>
                  <a:ea typeface="Agrandir Narrow"/>
                  <a:cs typeface="Agrandir Narrow"/>
                  <a:sym typeface="Agrandir Narrow"/>
                </a:rPr>
                <a:t>user financial mindset vectors for similarity search</a:t>
              </a:r>
            </a:p>
          </p:txBody>
        </p:sp>
      </p:grpSp>
      <p:grpSp>
        <p:nvGrpSpPr>
          <p:cNvPr name="Group 30" id="30"/>
          <p:cNvGrpSpPr/>
          <p:nvPr/>
        </p:nvGrpSpPr>
        <p:grpSpPr>
          <a:xfrm rot="0">
            <a:off x="12601934" y="2385264"/>
            <a:ext cx="5323837" cy="4010395"/>
            <a:chOff x="0" y="0"/>
            <a:chExt cx="7098449" cy="5347194"/>
          </a:xfrm>
        </p:grpSpPr>
        <p:sp>
          <p:nvSpPr>
            <p:cNvPr name="Freeform 31" id="31"/>
            <p:cNvSpPr/>
            <p:nvPr/>
          </p:nvSpPr>
          <p:spPr>
            <a:xfrm flipH="false" flipV="false" rot="0">
              <a:off x="13589" y="11326"/>
              <a:ext cx="7071360" cy="5324616"/>
            </a:xfrm>
            <a:custGeom>
              <a:avLst/>
              <a:gdLst/>
              <a:ahLst/>
              <a:cxnLst/>
              <a:rect r="r" b="b" t="t" l="l"/>
              <a:pathLst>
                <a:path h="5324616" w="7071360">
                  <a:moveTo>
                    <a:pt x="0" y="0"/>
                  </a:moveTo>
                  <a:lnTo>
                    <a:pt x="7071360" y="0"/>
                  </a:lnTo>
                  <a:lnTo>
                    <a:pt x="7071360" y="5324616"/>
                  </a:lnTo>
                  <a:lnTo>
                    <a:pt x="0" y="5324616"/>
                  </a:lnTo>
                  <a:close/>
                </a:path>
              </a:pathLst>
            </a:custGeom>
            <a:solidFill>
              <a:srgbClr val="F1F5F9"/>
            </a:solidFill>
          </p:spPr>
        </p:sp>
        <p:sp>
          <p:nvSpPr>
            <p:cNvPr name="Freeform 32" id="32"/>
            <p:cNvSpPr/>
            <p:nvPr/>
          </p:nvSpPr>
          <p:spPr>
            <a:xfrm flipH="false" flipV="false" rot="0">
              <a:off x="0" y="0"/>
              <a:ext cx="7098538" cy="5347283"/>
            </a:xfrm>
            <a:custGeom>
              <a:avLst/>
              <a:gdLst/>
              <a:ahLst/>
              <a:cxnLst/>
              <a:rect r="r" b="b" t="t" l="l"/>
              <a:pathLst>
                <a:path h="5347283" w="7098538">
                  <a:moveTo>
                    <a:pt x="13589" y="0"/>
                  </a:moveTo>
                  <a:lnTo>
                    <a:pt x="7084949" y="0"/>
                  </a:lnTo>
                  <a:cubicBezTo>
                    <a:pt x="7092442" y="0"/>
                    <a:pt x="7098538" y="5081"/>
                    <a:pt x="7098538" y="11326"/>
                  </a:cubicBezTo>
                  <a:lnTo>
                    <a:pt x="7098538" y="5335942"/>
                  </a:lnTo>
                  <a:cubicBezTo>
                    <a:pt x="7098538" y="5342187"/>
                    <a:pt x="7092442" y="5347283"/>
                    <a:pt x="7084949" y="5347283"/>
                  </a:cubicBezTo>
                  <a:lnTo>
                    <a:pt x="13589" y="5347283"/>
                  </a:lnTo>
                  <a:cubicBezTo>
                    <a:pt x="6096" y="5347283"/>
                    <a:pt x="0" y="5342187"/>
                    <a:pt x="0" y="5335942"/>
                  </a:cubicBezTo>
                  <a:lnTo>
                    <a:pt x="0" y="11326"/>
                  </a:lnTo>
                  <a:cubicBezTo>
                    <a:pt x="0" y="5081"/>
                    <a:pt x="6096" y="0"/>
                    <a:pt x="13589" y="0"/>
                  </a:cubicBezTo>
                  <a:moveTo>
                    <a:pt x="13589" y="22546"/>
                  </a:moveTo>
                  <a:lnTo>
                    <a:pt x="13589" y="11326"/>
                  </a:lnTo>
                  <a:lnTo>
                    <a:pt x="27051" y="11326"/>
                  </a:lnTo>
                  <a:lnTo>
                    <a:pt x="27051" y="5335942"/>
                  </a:lnTo>
                  <a:lnTo>
                    <a:pt x="13589" y="5335942"/>
                  </a:lnTo>
                  <a:lnTo>
                    <a:pt x="13589" y="5324616"/>
                  </a:lnTo>
                  <a:lnTo>
                    <a:pt x="7084949" y="5324616"/>
                  </a:lnTo>
                  <a:lnTo>
                    <a:pt x="7084949" y="5335942"/>
                  </a:lnTo>
                  <a:lnTo>
                    <a:pt x="7071360" y="5335942"/>
                  </a:lnTo>
                  <a:lnTo>
                    <a:pt x="7071360" y="11326"/>
                  </a:lnTo>
                  <a:lnTo>
                    <a:pt x="7084949" y="11326"/>
                  </a:lnTo>
                  <a:lnTo>
                    <a:pt x="7084949" y="22546"/>
                  </a:lnTo>
                  <a:lnTo>
                    <a:pt x="13589" y="22546"/>
                  </a:lnTo>
                  <a:close/>
                </a:path>
              </a:pathLst>
            </a:custGeom>
            <a:solidFill>
              <a:srgbClr val="0EA5E9"/>
            </a:solidFill>
          </p:spPr>
        </p:sp>
      </p:grpSp>
      <p:grpSp>
        <p:nvGrpSpPr>
          <p:cNvPr name="Group 33" id="33"/>
          <p:cNvGrpSpPr/>
          <p:nvPr/>
        </p:nvGrpSpPr>
        <p:grpSpPr>
          <a:xfrm rot="0">
            <a:off x="12599400" y="2382731"/>
            <a:ext cx="5328923" cy="683771"/>
            <a:chOff x="0" y="0"/>
            <a:chExt cx="7105231" cy="911695"/>
          </a:xfrm>
        </p:grpSpPr>
        <p:sp>
          <p:nvSpPr>
            <p:cNvPr name="Freeform 34" id="34"/>
            <p:cNvSpPr/>
            <p:nvPr/>
          </p:nvSpPr>
          <p:spPr>
            <a:xfrm flipH="false" flipV="false" rot="0">
              <a:off x="16891" y="16891"/>
              <a:ext cx="7071360" cy="877824"/>
            </a:xfrm>
            <a:custGeom>
              <a:avLst/>
              <a:gdLst/>
              <a:ahLst/>
              <a:cxnLst/>
              <a:rect r="r" b="b" t="t" l="l"/>
              <a:pathLst>
                <a:path h="877824" w="7071360">
                  <a:moveTo>
                    <a:pt x="0" y="0"/>
                  </a:moveTo>
                  <a:lnTo>
                    <a:pt x="7071360" y="0"/>
                  </a:lnTo>
                  <a:lnTo>
                    <a:pt x="7071360" y="877824"/>
                  </a:lnTo>
                  <a:lnTo>
                    <a:pt x="0" y="877824"/>
                  </a:lnTo>
                  <a:close/>
                </a:path>
              </a:pathLst>
            </a:custGeom>
            <a:solidFill>
              <a:srgbClr val="143DFB"/>
            </a:solidFill>
          </p:spPr>
        </p:sp>
        <p:sp>
          <p:nvSpPr>
            <p:cNvPr name="Freeform 35" id="35"/>
            <p:cNvSpPr/>
            <p:nvPr/>
          </p:nvSpPr>
          <p:spPr>
            <a:xfrm flipH="false" flipV="false" rot="0">
              <a:off x="0" y="0"/>
              <a:ext cx="7105142" cy="911608"/>
            </a:xfrm>
            <a:custGeom>
              <a:avLst/>
              <a:gdLst/>
              <a:ahLst/>
              <a:cxnLst/>
              <a:rect r="r" b="b" t="t" l="l"/>
              <a:pathLst>
                <a:path h="911608" w="7105142">
                  <a:moveTo>
                    <a:pt x="16891" y="0"/>
                  </a:moveTo>
                  <a:lnTo>
                    <a:pt x="7088251" y="0"/>
                  </a:lnTo>
                  <a:cubicBezTo>
                    <a:pt x="7097649" y="0"/>
                    <a:pt x="7105142" y="7620"/>
                    <a:pt x="7105142" y="16891"/>
                  </a:cubicBezTo>
                  <a:lnTo>
                    <a:pt x="7105142" y="894715"/>
                  </a:lnTo>
                  <a:cubicBezTo>
                    <a:pt x="7105142" y="904113"/>
                    <a:pt x="7097522" y="911606"/>
                    <a:pt x="7088251" y="911606"/>
                  </a:cubicBezTo>
                  <a:lnTo>
                    <a:pt x="16891" y="911606"/>
                  </a:lnTo>
                  <a:cubicBezTo>
                    <a:pt x="7620" y="911733"/>
                    <a:pt x="0" y="904113"/>
                    <a:pt x="0" y="894715"/>
                  </a:cubicBezTo>
                  <a:lnTo>
                    <a:pt x="0" y="16891"/>
                  </a:lnTo>
                  <a:cubicBezTo>
                    <a:pt x="0" y="7620"/>
                    <a:pt x="7620" y="0"/>
                    <a:pt x="16891" y="0"/>
                  </a:cubicBezTo>
                  <a:moveTo>
                    <a:pt x="16891" y="33909"/>
                  </a:moveTo>
                  <a:lnTo>
                    <a:pt x="16891" y="16891"/>
                  </a:lnTo>
                  <a:lnTo>
                    <a:pt x="33909" y="16891"/>
                  </a:lnTo>
                  <a:lnTo>
                    <a:pt x="33909" y="894715"/>
                  </a:lnTo>
                  <a:lnTo>
                    <a:pt x="16891" y="894715"/>
                  </a:lnTo>
                  <a:lnTo>
                    <a:pt x="16891" y="877824"/>
                  </a:lnTo>
                  <a:lnTo>
                    <a:pt x="7088251" y="877824"/>
                  </a:lnTo>
                  <a:lnTo>
                    <a:pt x="7088251" y="894715"/>
                  </a:lnTo>
                  <a:lnTo>
                    <a:pt x="7071360" y="894715"/>
                  </a:lnTo>
                  <a:lnTo>
                    <a:pt x="7071360" y="16891"/>
                  </a:lnTo>
                  <a:lnTo>
                    <a:pt x="7088251" y="16891"/>
                  </a:lnTo>
                  <a:lnTo>
                    <a:pt x="7088251" y="33909"/>
                  </a:lnTo>
                  <a:lnTo>
                    <a:pt x="16891" y="33909"/>
                  </a:lnTo>
                  <a:close/>
                </a:path>
              </a:pathLst>
            </a:custGeom>
            <a:solidFill>
              <a:srgbClr val="0EA5E9"/>
            </a:solidFill>
          </p:spPr>
        </p:sp>
      </p:grpSp>
      <p:grpSp>
        <p:nvGrpSpPr>
          <p:cNvPr name="Group 36" id="36"/>
          <p:cNvGrpSpPr/>
          <p:nvPr/>
        </p:nvGrpSpPr>
        <p:grpSpPr>
          <a:xfrm rot="0">
            <a:off x="12612097" y="2395427"/>
            <a:ext cx="5303520" cy="676485"/>
            <a:chOff x="0" y="0"/>
            <a:chExt cx="7071360" cy="901980"/>
          </a:xfrm>
        </p:grpSpPr>
        <p:sp>
          <p:nvSpPr>
            <p:cNvPr name="Freeform 37" id="37"/>
            <p:cNvSpPr/>
            <p:nvPr/>
          </p:nvSpPr>
          <p:spPr>
            <a:xfrm flipH="false" flipV="false" rot="0">
              <a:off x="0" y="0"/>
              <a:ext cx="7071360" cy="901980"/>
            </a:xfrm>
            <a:custGeom>
              <a:avLst/>
              <a:gdLst/>
              <a:ahLst/>
              <a:cxnLst/>
              <a:rect r="r" b="b" t="t" l="l"/>
              <a:pathLst>
                <a:path h="901980" w="7071360">
                  <a:moveTo>
                    <a:pt x="0" y="0"/>
                  </a:moveTo>
                  <a:lnTo>
                    <a:pt x="7071360" y="0"/>
                  </a:lnTo>
                  <a:lnTo>
                    <a:pt x="7071360" y="901980"/>
                  </a:lnTo>
                  <a:lnTo>
                    <a:pt x="0" y="901980"/>
                  </a:lnTo>
                  <a:close/>
                </a:path>
              </a:pathLst>
            </a:custGeom>
            <a:blipFill>
              <a:blip r:embed="rId2">
                <a:alphaModFix amt="0"/>
              </a:blip>
              <a:stretch>
                <a:fillRect l="0" t="-123021" r="0" b="-82496"/>
              </a:stretch>
            </a:blipFill>
          </p:spPr>
        </p:sp>
        <p:sp>
          <p:nvSpPr>
            <p:cNvPr name="TextBox 38" id="38"/>
            <p:cNvSpPr txBox="true"/>
            <p:nvPr/>
          </p:nvSpPr>
          <p:spPr>
            <a:xfrm>
              <a:off x="0" y="-76200"/>
              <a:ext cx="7071360" cy="978180"/>
            </a:xfrm>
            <a:prstGeom prst="rect">
              <a:avLst/>
            </a:prstGeom>
          </p:spPr>
          <p:txBody>
            <a:bodyPr anchor="ctr" rtlCol="false" tIns="0" lIns="0" bIns="0" rIns="0"/>
            <a:lstStyle/>
            <a:p>
              <a:pPr algn="ctr">
                <a:lnSpc>
                  <a:spcPts val="2879"/>
                </a:lnSpc>
              </a:pPr>
              <a:r>
                <a:rPr lang="en-US" sz="2400" b="true">
                  <a:solidFill>
                    <a:srgbClr val="FFFFFF"/>
                  </a:solidFill>
                  <a:latin typeface="Agrandir Narrow Bold"/>
                  <a:ea typeface="Agrandir Narrow Bold"/>
                  <a:cs typeface="Agrandir Narrow Bold"/>
                  <a:sym typeface="Agrandir Narrow Bold"/>
                </a:rPr>
                <a:t> Redis </a:t>
              </a:r>
            </a:p>
            <a:p>
              <a:pPr algn="ctr">
                <a:lnSpc>
                  <a:spcPts val="1800"/>
                </a:lnSpc>
              </a:pPr>
              <a:r>
                <a:rPr lang="en-US" sz="1500" b="true">
                  <a:solidFill>
                    <a:srgbClr val="FFFFFF"/>
                  </a:solidFill>
                  <a:latin typeface="Agrandir Narrow Bold"/>
                  <a:ea typeface="Agrandir Narrow Bold"/>
                  <a:cs typeface="Agrandir Narrow Bold"/>
                  <a:sym typeface="Agrandir Narrow Bold"/>
                </a:rPr>
                <a:t>Worker Coordination</a:t>
              </a:r>
            </a:p>
          </p:txBody>
        </p:sp>
      </p:grpSp>
      <p:grpSp>
        <p:nvGrpSpPr>
          <p:cNvPr name="Group 39" id="39"/>
          <p:cNvGrpSpPr/>
          <p:nvPr/>
        </p:nvGrpSpPr>
        <p:grpSpPr>
          <a:xfrm rot="0">
            <a:off x="12840692" y="3344971"/>
            <a:ext cx="4846320" cy="2843403"/>
            <a:chOff x="0" y="0"/>
            <a:chExt cx="6461760" cy="3791204"/>
          </a:xfrm>
        </p:grpSpPr>
        <p:sp>
          <p:nvSpPr>
            <p:cNvPr name="Freeform 40" id="40"/>
            <p:cNvSpPr/>
            <p:nvPr/>
          </p:nvSpPr>
          <p:spPr>
            <a:xfrm flipH="false" flipV="false" rot="0">
              <a:off x="0" y="0"/>
              <a:ext cx="6461760" cy="3791204"/>
            </a:xfrm>
            <a:custGeom>
              <a:avLst/>
              <a:gdLst/>
              <a:ahLst/>
              <a:cxnLst/>
              <a:rect r="r" b="b" t="t" l="l"/>
              <a:pathLst>
                <a:path h="3791204" w="6461760">
                  <a:moveTo>
                    <a:pt x="0" y="0"/>
                  </a:moveTo>
                  <a:lnTo>
                    <a:pt x="6461760" y="0"/>
                  </a:lnTo>
                  <a:lnTo>
                    <a:pt x="6461760" y="3791204"/>
                  </a:lnTo>
                  <a:lnTo>
                    <a:pt x="0" y="3791204"/>
                  </a:lnTo>
                  <a:close/>
                </a:path>
              </a:pathLst>
            </a:custGeom>
            <a:blipFill>
              <a:blip r:embed="rId2">
                <a:alphaModFix amt="0"/>
              </a:blip>
              <a:stretch>
                <a:fillRect l="0" t="-19703" r="0" b="53282"/>
              </a:stretch>
            </a:blipFill>
          </p:spPr>
        </p:sp>
        <p:sp>
          <p:nvSpPr>
            <p:cNvPr name="TextBox 41" id="41"/>
            <p:cNvSpPr txBox="true"/>
            <p:nvPr/>
          </p:nvSpPr>
          <p:spPr>
            <a:xfrm>
              <a:off x="0" y="-142875"/>
              <a:ext cx="6461760" cy="3934079"/>
            </a:xfrm>
            <a:prstGeom prst="rect">
              <a:avLst/>
            </a:prstGeom>
          </p:spPr>
          <p:txBody>
            <a:bodyPr anchor="ctr" rtlCol="false" tIns="0" lIns="0" bIns="0" rIns="0"/>
            <a:lstStyle/>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P</a:t>
              </a:r>
              <a:r>
                <a:rPr lang="en-US" b="true" sz="1999">
                  <a:solidFill>
                    <a:srgbClr val="1E293B"/>
                  </a:solidFill>
                  <a:latin typeface="Agrandir Narrow Bold"/>
                  <a:ea typeface="Agrandir Narrow Bold"/>
                  <a:cs typeface="Agrandir Narrow Bold"/>
                  <a:sym typeface="Agrandir Narrow Bold"/>
                </a:rPr>
                <a:t>ub/Sub: </a:t>
              </a:r>
              <a:r>
                <a:rPr lang="en-US" sz="1999">
                  <a:solidFill>
                    <a:srgbClr val="1E293B"/>
                  </a:solidFill>
                  <a:latin typeface="Agrandir Narrow"/>
                  <a:ea typeface="Agrandir Narrow"/>
                  <a:cs typeface="Agrandir Narrow"/>
                  <a:sym typeface="Agrandir Narrow"/>
                </a:rPr>
                <a:t>Signals completion of all 6 workers to the Consolidator</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Q</a:t>
              </a:r>
              <a:r>
                <a:rPr lang="en-US" b="true" sz="1999">
                  <a:solidFill>
                    <a:srgbClr val="1E293B"/>
                  </a:solidFill>
                  <a:latin typeface="Agrandir Narrow Bold"/>
                  <a:ea typeface="Agrandir Narrow Bold"/>
                  <a:cs typeface="Agrandir Narrow Bold"/>
                  <a:sym typeface="Agrandir Narrow Bold"/>
                </a:rPr>
                <a:t>ueue: </a:t>
              </a:r>
              <a:r>
                <a:rPr lang="en-US" sz="1999">
                  <a:solidFill>
                    <a:srgbClr val="1E293B"/>
                  </a:solidFill>
                  <a:latin typeface="Agrandir Narrow"/>
                  <a:ea typeface="Agrandir Narrow"/>
                  <a:cs typeface="Agrandir Narrow"/>
                  <a:sym typeface="Agrandir Narrow"/>
                </a:rPr>
                <a:t>Buffers incoming scoring requests during peak load</a:t>
              </a:r>
            </a:p>
            <a:p>
              <a:pPr algn="l" marL="431799" indent="-215899" lvl="1">
                <a:lnSpc>
                  <a:spcPts val="3279"/>
                </a:lnSpc>
                <a:buFont typeface="Arial"/>
                <a:buChar char="•"/>
              </a:pPr>
              <a:r>
                <a:rPr lang="en-US" b="true" sz="1999">
                  <a:solidFill>
                    <a:srgbClr val="1E293B"/>
                  </a:solidFill>
                  <a:latin typeface="Agrandir Narrow Bold"/>
                  <a:ea typeface="Agrandir Narrow Bold"/>
                  <a:cs typeface="Agrandir Narrow Bold"/>
                  <a:sym typeface="Agrandir Narrow Bold"/>
                </a:rPr>
                <a:t>Cache: </a:t>
              </a:r>
              <a:r>
                <a:rPr lang="en-US" sz="1999">
                  <a:solidFill>
                    <a:srgbClr val="1E293B"/>
                  </a:solidFill>
                  <a:latin typeface="Agrandir Narrow"/>
                  <a:ea typeface="Agrandir Narrow"/>
                  <a:cs typeface="Agrandir Narrow"/>
                  <a:sym typeface="Agrandir Narrow"/>
                </a:rPr>
                <a:t>Stores session state, partial scores, and dashboard data</a:t>
              </a:r>
            </a:p>
            <a:p>
              <a:pPr algn="l">
                <a:lnSpc>
                  <a:spcPts val="3279"/>
                </a:lnSpc>
              </a:pPr>
            </a:p>
          </p:txBody>
        </p:sp>
      </p:grpSp>
      <p:grpSp>
        <p:nvGrpSpPr>
          <p:cNvPr name="Group 42" id="42"/>
          <p:cNvGrpSpPr/>
          <p:nvPr/>
        </p:nvGrpSpPr>
        <p:grpSpPr>
          <a:xfrm rot="0">
            <a:off x="648608" y="7790468"/>
            <a:ext cx="9144000" cy="548640"/>
            <a:chOff x="0" y="0"/>
            <a:chExt cx="12192000" cy="731520"/>
          </a:xfrm>
        </p:grpSpPr>
        <p:sp>
          <p:nvSpPr>
            <p:cNvPr name="Freeform 43" id="43"/>
            <p:cNvSpPr/>
            <p:nvPr/>
          </p:nvSpPr>
          <p:spPr>
            <a:xfrm flipH="false" flipV="false" rot="0">
              <a:off x="0" y="0"/>
              <a:ext cx="12192000" cy="731520"/>
            </a:xfrm>
            <a:custGeom>
              <a:avLst/>
              <a:gdLst/>
              <a:ahLst/>
              <a:cxnLst/>
              <a:rect r="r" b="b" t="t" l="l"/>
              <a:pathLst>
                <a:path h="731520" w="12192000">
                  <a:moveTo>
                    <a:pt x="0" y="0"/>
                  </a:moveTo>
                  <a:lnTo>
                    <a:pt x="12192000" y="0"/>
                  </a:lnTo>
                  <a:lnTo>
                    <a:pt x="12192000" y="731520"/>
                  </a:lnTo>
                  <a:lnTo>
                    <a:pt x="0" y="731520"/>
                  </a:lnTo>
                  <a:close/>
                </a:path>
              </a:pathLst>
            </a:custGeom>
            <a:blipFill>
              <a:blip r:embed="rId2">
                <a:alphaModFix amt="0"/>
              </a:blip>
              <a:stretch>
                <a:fillRect l="0" t="-274750" r="0" b="-274750"/>
              </a:stretch>
            </a:blipFill>
          </p:spPr>
        </p:sp>
        <p:sp>
          <p:nvSpPr>
            <p:cNvPr name="TextBox 44" id="44"/>
            <p:cNvSpPr txBox="true"/>
            <p:nvPr/>
          </p:nvSpPr>
          <p:spPr>
            <a:xfrm>
              <a:off x="0" y="-19050"/>
              <a:ext cx="12192000" cy="750570"/>
            </a:xfrm>
            <a:prstGeom prst="rect">
              <a:avLst/>
            </a:prstGeom>
          </p:spPr>
          <p:txBody>
            <a:bodyPr anchor="ctr" rtlCol="false" tIns="0" lIns="0" bIns="0" rIns="0"/>
            <a:lstStyle/>
            <a:p>
              <a:pPr algn="l">
                <a:lnSpc>
                  <a:spcPts val="2400"/>
                </a:lnSpc>
              </a:pPr>
              <a:r>
                <a:rPr lang="en-US" sz="2000" b="true">
                  <a:solidFill>
                    <a:srgbClr val="1E293B"/>
                  </a:solidFill>
                  <a:latin typeface="Trebuchet MS Bold"/>
                  <a:ea typeface="Trebuchet MS Bold"/>
                  <a:cs typeface="Trebuchet MS Bold"/>
                  <a:sym typeface="Trebuchet MS Bold"/>
                </a:rPr>
                <a:t>Score Distribution (Simulated — 10,000 applicants)</a:t>
              </a:r>
            </a:p>
          </p:txBody>
        </p:sp>
      </p:grpSp>
      <p:pic>
        <p:nvPicPr>
          <p:cNvPr name="Picture 45" id="45"/>
          <p:cNvPicPr>
            <a:picLocks noChangeAspect="true"/>
          </p:cNvPicPr>
          <p:nvPr/>
        </p:nvPicPr>
        <p:blipFill>
          <a:blip r:embed="rId3"/>
          <a:stretch>
            <a:fillRect/>
          </a:stretch>
        </p:blipFill>
        <p:spPr>
          <a:xfrm rot="0">
            <a:off x="-783620" y="7353608"/>
            <a:ext cx="11562642" cy="3673918"/>
          </a:xfrm>
          <a:prstGeom prst="rect">
            <a:avLst/>
          </a:prstGeom>
        </p:spPr>
      </p:pic>
      <p:grpSp>
        <p:nvGrpSpPr>
          <p:cNvPr name="Group 46" id="46"/>
          <p:cNvGrpSpPr/>
          <p:nvPr/>
        </p:nvGrpSpPr>
        <p:grpSpPr>
          <a:xfrm rot="0">
            <a:off x="10145671" y="7777772"/>
            <a:ext cx="1525019" cy="1945643"/>
            <a:chOff x="0" y="0"/>
            <a:chExt cx="2033359" cy="2594191"/>
          </a:xfrm>
        </p:grpSpPr>
        <p:sp>
          <p:nvSpPr>
            <p:cNvPr name="Freeform 47" id="47"/>
            <p:cNvSpPr/>
            <p:nvPr/>
          </p:nvSpPr>
          <p:spPr>
            <a:xfrm flipH="false" flipV="false" rot="0">
              <a:off x="16891" y="16891"/>
              <a:ext cx="1999488" cy="2560320"/>
            </a:xfrm>
            <a:custGeom>
              <a:avLst/>
              <a:gdLst/>
              <a:ahLst/>
              <a:cxnLst/>
              <a:rect r="r" b="b" t="t" l="l"/>
              <a:pathLst>
                <a:path h="2560320" w="1999488">
                  <a:moveTo>
                    <a:pt x="0" y="0"/>
                  </a:moveTo>
                  <a:lnTo>
                    <a:pt x="1999488" y="0"/>
                  </a:lnTo>
                  <a:lnTo>
                    <a:pt x="1999488" y="2560320"/>
                  </a:lnTo>
                  <a:lnTo>
                    <a:pt x="0" y="2560320"/>
                  </a:lnTo>
                  <a:close/>
                </a:path>
              </a:pathLst>
            </a:custGeom>
            <a:solidFill>
              <a:srgbClr val="F1F5F9"/>
            </a:solidFill>
          </p:spPr>
        </p:sp>
        <p:sp>
          <p:nvSpPr>
            <p:cNvPr name="Freeform 48" id="48"/>
            <p:cNvSpPr/>
            <p:nvPr/>
          </p:nvSpPr>
          <p:spPr>
            <a:xfrm flipH="false" flipV="false" rot="0">
              <a:off x="0" y="0"/>
              <a:ext cx="2033270" cy="2594102"/>
            </a:xfrm>
            <a:custGeom>
              <a:avLst/>
              <a:gdLst/>
              <a:ahLst/>
              <a:cxnLst/>
              <a:rect r="r" b="b" t="t" l="l"/>
              <a:pathLst>
                <a:path h="2594102" w="2033270">
                  <a:moveTo>
                    <a:pt x="16891" y="0"/>
                  </a:moveTo>
                  <a:lnTo>
                    <a:pt x="2016379" y="0"/>
                  </a:lnTo>
                  <a:cubicBezTo>
                    <a:pt x="2025777" y="0"/>
                    <a:pt x="2033270" y="7620"/>
                    <a:pt x="2033270" y="16891"/>
                  </a:cubicBezTo>
                  <a:lnTo>
                    <a:pt x="2033270" y="2577211"/>
                  </a:lnTo>
                  <a:cubicBezTo>
                    <a:pt x="2033270" y="2586609"/>
                    <a:pt x="2025650" y="2594102"/>
                    <a:pt x="201637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2016379" y="2560320"/>
                  </a:lnTo>
                  <a:lnTo>
                    <a:pt x="2016379" y="2577211"/>
                  </a:lnTo>
                  <a:lnTo>
                    <a:pt x="1999488" y="2577211"/>
                  </a:lnTo>
                  <a:lnTo>
                    <a:pt x="1999488" y="16891"/>
                  </a:lnTo>
                  <a:lnTo>
                    <a:pt x="2016379" y="16891"/>
                  </a:lnTo>
                  <a:lnTo>
                    <a:pt x="2016379" y="33909"/>
                  </a:lnTo>
                  <a:lnTo>
                    <a:pt x="16891" y="33909"/>
                  </a:lnTo>
                  <a:close/>
                </a:path>
              </a:pathLst>
            </a:custGeom>
            <a:solidFill>
              <a:srgbClr val="B2EBF2"/>
            </a:solidFill>
          </p:spPr>
        </p:sp>
      </p:grpSp>
      <p:grpSp>
        <p:nvGrpSpPr>
          <p:cNvPr name="Group 49" id="49"/>
          <p:cNvGrpSpPr/>
          <p:nvPr/>
        </p:nvGrpSpPr>
        <p:grpSpPr>
          <a:xfrm rot="0">
            <a:off x="10158368" y="7900196"/>
            <a:ext cx="1499616" cy="822960"/>
            <a:chOff x="0" y="0"/>
            <a:chExt cx="1999488" cy="1097280"/>
          </a:xfrm>
        </p:grpSpPr>
        <p:sp>
          <p:nvSpPr>
            <p:cNvPr name="Freeform 50" id="50"/>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51" id="51"/>
            <p:cNvSpPr txBox="true"/>
            <p:nvPr/>
          </p:nvSpPr>
          <p:spPr>
            <a:xfrm>
              <a:off x="0" y="-9525"/>
              <a:ext cx="1999488" cy="1106805"/>
            </a:xfrm>
            <a:prstGeom prst="rect">
              <a:avLst/>
            </a:prstGeom>
          </p:spPr>
          <p:txBody>
            <a:bodyPr anchor="ctr" rtlCol="false" tIns="0" lIns="0" bIns="0" rIns="0"/>
            <a:lstStyle/>
            <a:p>
              <a:pPr algn="ctr">
                <a:lnSpc>
                  <a:spcPts val="3600"/>
                </a:lnSpc>
              </a:pPr>
              <a:r>
                <a:rPr lang="en-US" sz="3000" b="true">
                  <a:solidFill>
                    <a:srgbClr val="028090"/>
                  </a:solidFill>
                  <a:latin typeface="Trebuchet MS Bold"/>
                  <a:ea typeface="Trebuchet MS Bold"/>
                  <a:cs typeface="Trebuchet MS Bold"/>
                  <a:sym typeface="Trebuchet MS Bold"/>
                </a:rPr>
                <a:t>18%</a:t>
              </a:r>
            </a:p>
          </p:txBody>
        </p:sp>
      </p:grpSp>
      <p:grpSp>
        <p:nvGrpSpPr>
          <p:cNvPr name="Group 52" id="52"/>
          <p:cNvGrpSpPr/>
          <p:nvPr/>
        </p:nvGrpSpPr>
        <p:grpSpPr>
          <a:xfrm rot="0">
            <a:off x="10158368" y="8668292"/>
            <a:ext cx="1499616" cy="822960"/>
            <a:chOff x="0" y="0"/>
            <a:chExt cx="1999488" cy="1097280"/>
          </a:xfrm>
        </p:grpSpPr>
        <p:sp>
          <p:nvSpPr>
            <p:cNvPr name="Freeform 53" id="53"/>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54" id="54"/>
            <p:cNvSpPr txBox="true"/>
            <p:nvPr/>
          </p:nvSpPr>
          <p:spPr>
            <a:xfrm>
              <a:off x="0" y="-47625"/>
              <a:ext cx="1999488" cy="1144905"/>
            </a:xfrm>
            <a:prstGeom prst="rect">
              <a:avLst/>
            </a:prstGeom>
          </p:spPr>
          <p:txBody>
            <a:bodyPr anchor="ctr" rtlCol="false" tIns="0" lIns="0" bIns="0" rIns="0"/>
            <a:lstStyle/>
            <a:p>
              <a:pPr algn="ctr">
                <a:lnSpc>
                  <a:spcPts val="1800"/>
                </a:lnSpc>
              </a:pPr>
              <a:r>
                <a:rPr lang="en-US" sz="1500">
                  <a:solidFill>
                    <a:srgbClr val="64748B"/>
                  </a:solidFill>
                  <a:latin typeface="Agrandir Narrow"/>
                  <a:ea typeface="Agrandir Narrow"/>
                  <a:cs typeface="Agrandir Narrow"/>
                  <a:sym typeface="Agrandir Narrow"/>
                </a:rPr>
                <a:t>Excellent</a:t>
              </a:r>
            </a:p>
          </p:txBody>
        </p:sp>
      </p:grpSp>
      <p:grpSp>
        <p:nvGrpSpPr>
          <p:cNvPr name="Group 55" id="55"/>
          <p:cNvGrpSpPr/>
          <p:nvPr/>
        </p:nvGrpSpPr>
        <p:grpSpPr>
          <a:xfrm rot="0">
            <a:off x="11755015" y="7777772"/>
            <a:ext cx="1525019" cy="1945643"/>
            <a:chOff x="0" y="0"/>
            <a:chExt cx="2033359" cy="2594191"/>
          </a:xfrm>
        </p:grpSpPr>
        <p:sp>
          <p:nvSpPr>
            <p:cNvPr name="Freeform 56" id="56"/>
            <p:cNvSpPr/>
            <p:nvPr/>
          </p:nvSpPr>
          <p:spPr>
            <a:xfrm flipH="false" flipV="false" rot="0">
              <a:off x="16891" y="16891"/>
              <a:ext cx="1999488" cy="2560320"/>
            </a:xfrm>
            <a:custGeom>
              <a:avLst/>
              <a:gdLst/>
              <a:ahLst/>
              <a:cxnLst/>
              <a:rect r="r" b="b" t="t" l="l"/>
              <a:pathLst>
                <a:path h="2560320" w="1999488">
                  <a:moveTo>
                    <a:pt x="0" y="0"/>
                  </a:moveTo>
                  <a:lnTo>
                    <a:pt x="1999488" y="0"/>
                  </a:lnTo>
                  <a:lnTo>
                    <a:pt x="1999488" y="2560320"/>
                  </a:lnTo>
                  <a:lnTo>
                    <a:pt x="0" y="2560320"/>
                  </a:lnTo>
                  <a:close/>
                </a:path>
              </a:pathLst>
            </a:custGeom>
            <a:solidFill>
              <a:srgbClr val="F1F5F9"/>
            </a:solidFill>
          </p:spPr>
        </p:sp>
        <p:sp>
          <p:nvSpPr>
            <p:cNvPr name="Freeform 57" id="57"/>
            <p:cNvSpPr/>
            <p:nvPr/>
          </p:nvSpPr>
          <p:spPr>
            <a:xfrm flipH="false" flipV="false" rot="0">
              <a:off x="0" y="0"/>
              <a:ext cx="2033270" cy="2594102"/>
            </a:xfrm>
            <a:custGeom>
              <a:avLst/>
              <a:gdLst/>
              <a:ahLst/>
              <a:cxnLst/>
              <a:rect r="r" b="b" t="t" l="l"/>
              <a:pathLst>
                <a:path h="2594102" w="2033270">
                  <a:moveTo>
                    <a:pt x="16891" y="0"/>
                  </a:moveTo>
                  <a:lnTo>
                    <a:pt x="2016379" y="0"/>
                  </a:lnTo>
                  <a:cubicBezTo>
                    <a:pt x="2025777" y="0"/>
                    <a:pt x="2033270" y="7620"/>
                    <a:pt x="2033270" y="16891"/>
                  </a:cubicBezTo>
                  <a:lnTo>
                    <a:pt x="2033270" y="2577211"/>
                  </a:lnTo>
                  <a:cubicBezTo>
                    <a:pt x="2033270" y="2586609"/>
                    <a:pt x="2025650" y="2594102"/>
                    <a:pt x="201637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2016379" y="2560320"/>
                  </a:lnTo>
                  <a:lnTo>
                    <a:pt x="2016379" y="2577211"/>
                  </a:lnTo>
                  <a:lnTo>
                    <a:pt x="1999488" y="2577211"/>
                  </a:lnTo>
                  <a:lnTo>
                    <a:pt x="1999488" y="16891"/>
                  </a:lnTo>
                  <a:lnTo>
                    <a:pt x="2016379" y="16891"/>
                  </a:lnTo>
                  <a:lnTo>
                    <a:pt x="2016379" y="33909"/>
                  </a:lnTo>
                  <a:lnTo>
                    <a:pt x="16891" y="33909"/>
                  </a:lnTo>
                  <a:close/>
                </a:path>
              </a:pathLst>
            </a:custGeom>
            <a:solidFill>
              <a:srgbClr val="B2EBF2"/>
            </a:solidFill>
          </p:spPr>
        </p:sp>
      </p:grpSp>
      <p:grpSp>
        <p:nvGrpSpPr>
          <p:cNvPr name="Group 58" id="58"/>
          <p:cNvGrpSpPr/>
          <p:nvPr/>
        </p:nvGrpSpPr>
        <p:grpSpPr>
          <a:xfrm rot="0">
            <a:off x="11767712" y="7900196"/>
            <a:ext cx="1499616" cy="822960"/>
            <a:chOff x="0" y="0"/>
            <a:chExt cx="1999488" cy="1097280"/>
          </a:xfrm>
        </p:grpSpPr>
        <p:sp>
          <p:nvSpPr>
            <p:cNvPr name="Freeform 59" id="59"/>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60" id="60"/>
            <p:cNvSpPr txBox="true"/>
            <p:nvPr/>
          </p:nvSpPr>
          <p:spPr>
            <a:xfrm>
              <a:off x="0" y="-9525"/>
              <a:ext cx="1999488" cy="1106805"/>
            </a:xfrm>
            <a:prstGeom prst="rect">
              <a:avLst/>
            </a:prstGeom>
          </p:spPr>
          <p:txBody>
            <a:bodyPr anchor="ctr" rtlCol="false" tIns="0" lIns="0" bIns="0" rIns="0"/>
            <a:lstStyle/>
            <a:p>
              <a:pPr algn="ctr">
                <a:lnSpc>
                  <a:spcPts val="3600"/>
                </a:lnSpc>
              </a:pPr>
              <a:r>
                <a:rPr lang="en-US" sz="3000" b="true">
                  <a:solidFill>
                    <a:srgbClr val="028090"/>
                  </a:solidFill>
                  <a:latin typeface="Trebuchet MS Bold"/>
                  <a:ea typeface="Trebuchet MS Bold"/>
                  <a:cs typeface="Trebuchet MS Bold"/>
                  <a:sym typeface="Trebuchet MS Bold"/>
                </a:rPr>
                <a:t>27%</a:t>
              </a:r>
            </a:p>
          </p:txBody>
        </p:sp>
      </p:grpSp>
      <p:grpSp>
        <p:nvGrpSpPr>
          <p:cNvPr name="Group 61" id="61"/>
          <p:cNvGrpSpPr/>
          <p:nvPr/>
        </p:nvGrpSpPr>
        <p:grpSpPr>
          <a:xfrm rot="0">
            <a:off x="11767712" y="8668292"/>
            <a:ext cx="1499616" cy="822960"/>
            <a:chOff x="0" y="0"/>
            <a:chExt cx="1999488" cy="1097280"/>
          </a:xfrm>
        </p:grpSpPr>
        <p:sp>
          <p:nvSpPr>
            <p:cNvPr name="Freeform 62" id="62"/>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63" id="63"/>
            <p:cNvSpPr txBox="true"/>
            <p:nvPr/>
          </p:nvSpPr>
          <p:spPr>
            <a:xfrm>
              <a:off x="0" y="-47625"/>
              <a:ext cx="1999488" cy="1144905"/>
            </a:xfrm>
            <a:prstGeom prst="rect">
              <a:avLst/>
            </a:prstGeom>
          </p:spPr>
          <p:txBody>
            <a:bodyPr anchor="ctr" rtlCol="false" tIns="0" lIns="0" bIns="0" rIns="0"/>
            <a:lstStyle/>
            <a:p>
              <a:pPr algn="ctr">
                <a:lnSpc>
                  <a:spcPts val="1800"/>
                </a:lnSpc>
              </a:pPr>
              <a:r>
                <a:rPr lang="en-US" sz="1500">
                  <a:solidFill>
                    <a:srgbClr val="64748B"/>
                  </a:solidFill>
                  <a:latin typeface="Agrandir Narrow"/>
                  <a:ea typeface="Agrandir Narrow"/>
                  <a:cs typeface="Agrandir Narrow"/>
                  <a:sym typeface="Agrandir Narrow"/>
                </a:rPr>
                <a:t>Good</a:t>
              </a:r>
            </a:p>
          </p:txBody>
        </p:sp>
      </p:grpSp>
      <p:grpSp>
        <p:nvGrpSpPr>
          <p:cNvPr name="Group 64" id="64"/>
          <p:cNvGrpSpPr/>
          <p:nvPr/>
        </p:nvGrpSpPr>
        <p:grpSpPr>
          <a:xfrm rot="0">
            <a:off x="13364359" y="7777772"/>
            <a:ext cx="1525019" cy="1945643"/>
            <a:chOff x="0" y="0"/>
            <a:chExt cx="2033359" cy="2594191"/>
          </a:xfrm>
        </p:grpSpPr>
        <p:sp>
          <p:nvSpPr>
            <p:cNvPr name="Freeform 65" id="65"/>
            <p:cNvSpPr/>
            <p:nvPr/>
          </p:nvSpPr>
          <p:spPr>
            <a:xfrm flipH="false" flipV="false" rot="0">
              <a:off x="16891" y="16891"/>
              <a:ext cx="1999488" cy="2560320"/>
            </a:xfrm>
            <a:custGeom>
              <a:avLst/>
              <a:gdLst/>
              <a:ahLst/>
              <a:cxnLst/>
              <a:rect r="r" b="b" t="t" l="l"/>
              <a:pathLst>
                <a:path h="2560320" w="1999488">
                  <a:moveTo>
                    <a:pt x="0" y="0"/>
                  </a:moveTo>
                  <a:lnTo>
                    <a:pt x="1999488" y="0"/>
                  </a:lnTo>
                  <a:lnTo>
                    <a:pt x="1999488" y="2560320"/>
                  </a:lnTo>
                  <a:lnTo>
                    <a:pt x="0" y="2560320"/>
                  </a:lnTo>
                  <a:close/>
                </a:path>
              </a:pathLst>
            </a:custGeom>
            <a:solidFill>
              <a:srgbClr val="F1F5F9"/>
            </a:solidFill>
          </p:spPr>
        </p:sp>
        <p:sp>
          <p:nvSpPr>
            <p:cNvPr name="Freeform 66" id="66"/>
            <p:cNvSpPr/>
            <p:nvPr/>
          </p:nvSpPr>
          <p:spPr>
            <a:xfrm flipH="false" flipV="false" rot="0">
              <a:off x="0" y="0"/>
              <a:ext cx="2033270" cy="2594102"/>
            </a:xfrm>
            <a:custGeom>
              <a:avLst/>
              <a:gdLst/>
              <a:ahLst/>
              <a:cxnLst/>
              <a:rect r="r" b="b" t="t" l="l"/>
              <a:pathLst>
                <a:path h="2594102" w="2033270">
                  <a:moveTo>
                    <a:pt x="16891" y="0"/>
                  </a:moveTo>
                  <a:lnTo>
                    <a:pt x="2016379" y="0"/>
                  </a:lnTo>
                  <a:cubicBezTo>
                    <a:pt x="2025777" y="0"/>
                    <a:pt x="2033270" y="7620"/>
                    <a:pt x="2033270" y="16891"/>
                  </a:cubicBezTo>
                  <a:lnTo>
                    <a:pt x="2033270" y="2577211"/>
                  </a:lnTo>
                  <a:cubicBezTo>
                    <a:pt x="2033270" y="2586609"/>
                    <a:pt x="2025650" y="2594102"/>
                    <a:pt x="201637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2016379" y="2560320"/>
                  </a:lnTo>
                  <a:lnTo>
                    <a:pt x="2016379" y="2577211"/>
                  </a:lnTo>
                  <a:lnTo>
                    <a:pt x="1999488" y="2577211"/>
                  </a:lnTo>
                  <a:lnTo>
                    <a:pt x="1999488" y="16891"/>
                  </a:lnTo>
                  <a:lnTo>
                    <a:pt x="2016379" y="16891"/>
                  </a:lnTo>
                  <a:lnTo>
                    <a:pt x="2016379" y="33909"/>
                  </a:lnTo>
                  <a:lnTo>
                    <a:pt x="16891" y="33909"/>
                  </a:lnTo>
                  <a:close/>
                </a:path>
              </a:pathLst>
            </a:custGeom>
            <a:solidFill>
              <a:srgbClr val="B2EBF2"/>
            </a:solidFill>
          </p:spPr>
        </p:sp>
      </p:grpSp>
      <p:grpSp>
        <p:nvGrpSpPr>
          <p:cNvPr name="Group 67" id="67"/>
          <p:cNvGrpSpPr/>
          <p:nvPr/>
        </p:nvGrpSpPr>
        <p:grpSpPr>
          <a:xfrm rot="0">
            <a:off x="13377056" y="7900196"/>
            <a:ext cx="1499616" cy="822960"/>
            <a:chOff x="0" y="0"/>
            <a:chExt cx="1999488" cy="1097280"/>
          </a:xfrm>
        </p:grpSpPr>
        <p:sp>
          <p:nvSpPr>
            <p:cNvPr name="Freeform 68" id="68"/>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69" id="69"/>
            <p:cNvSpPr txBox="true"/>
            <p:nvPr/>
          </p:nvSpPr>
          <p:spPr>
            <a:xfrm>
              <a:off x="0" y="-9525"/>
              <a:ext cx="1999488" cy="1106805"/>
            </a:xfrm>
            <a:prstGeom prst="rect">
              <a:avLst/>
            </a:prstGeom>
          </p:spPr>
          <p:txBody>
            <a:bodyPr anchor="ctr" rtlCol="false" tIns="0" lIns="0" bIns="0" rIns="0"/>
            <a:lstStyle/>
            <a:p>
              <a:pPr algn="ctr">
                <a:lnSpc>
                  <a:spcPts val="3600"/>
                </a:lnSpc>
              </a:pPr>
              <a:r>
                <a:rPr lang="en-US" sz="3000" b="true">
                  <a:solidFill>
                    <a:srgbClr val="028090"/>
                  </a:solidFill>
                  <a:latin typeface="Trebuchet MS Bold"/>
                  <a:ea typeface="Trebuchet MS Bold"/>
                  <a:cs typeface="Trebuchet MS Bold"/>
                  <a:sym typeface="Trebuchet MS Bold"/>
                </a:rPr>
                <a:t>30%</a:t>
              </a:r>
            </a:p>
          </p:txBody>
        </p:sp>
      </p:grpSp>
      <p:grpSp>
        <p:nvGrpSpPr>
          <p:cNvPr name="Group 70" id="70"/>
          <p:cNvGrpSpPr/>
          <p:nvPr/>
        </p:nvGrpSpPr>
        <p:grpSpPr>
          <a:xfrm rot="0">
            <a:off x="13377056" y="8668292"/>
            <a:ext cx="1499616" cy="822960"/>
            <a:chOff x="0" y="0"/>
            <a:chExt cx="1999488" cy="1097280"/>
          </a:xfrm>
        </p:grpSpPr>
        <p:sp>
          <p:nvSpPr>
            <p:cNvPr name="Freeform 71" id="71"/>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72" id="72"/>
            <p:cNvSpPr txBox="true"/>
            <p:nvPr/>
          </p:nvSpPr>
          <p:spPr>
            <a:xfrm>
              <a:off x="0" y="-47625"/>
              <a:ext cx="1999488" cy="1144905"/>
            </a:xfrm>
            <a:prstGeom prst="rect">
              <a:avLst/>
            </a:prstGeom>
          </p:spPr>
          <p:txBody>
            <a:bodyPr anchor="ctr" rtlCol="false" tIns="0" lIns="0" bIns="0" rIns="0"/>
            <a:lstStyle/>
            <a:p>
              <a:pPr algn="ctr">
                <a:lnSpc>
                  <a:spcPts val="1800"/>
                </a:lnSpc>
              </a:pPr>
              <a:r>
                <a:rPr lang="en-US" sz="1500">
                  <a:solidFill>
                    <a:srgbClr val="64748B"/>
                  </a:solidFill>
                  <a:latin typeface="Agrandir Narrow"/>
                  <a:ea typeface="Agrandir Narrow"/>
                  <a:cs typeface="Agrandir Narrow"/>
                  <a:sym typeface="Agrandir Narrow"/>
                </a:rPr>
                <a:t>Fair</a:t>
              </a:r>
            </a:p>
          </p:txBody>
        </p:sp>
      </p:grpSp>
      <p:grpSp>
        <p:nvGrpSpPr>
          <p:cNvPr name="Group 73" id="73"/>
          <p:cNvGrpSpPr/>
          <p:nvPr/>
        </p:nvGrpSpPr>
        <p:grpSpPr>
          <a:xfrm rot="0">
            <a:off x="14973703" y="7777772"/>
            <a:ext cx="1525019" cy="1945643"/>
            <a:chOff x="0" y="0"/>
            <a:chExt cx="2033359" cy="2594191"/>
          </a:xfrm>
        </p:grpSpPr>
        <p:sp>
          <p:nvSpPr>
            <p:cNvPr name="Freeform 74" id="74"/>
            <p:cNvSpPr/>
            <p:nvPr/>
          </p:nvSpPr>
          <p:spPr>
            <a:xfrm flipH="false" flipV="false" rot="0">
              <a:off x="16891" y="16891"/>
              <a:ext cx="1999488" cy="2560320"/>
            </a:xfrm>
            <a:custGeom>
              <a:avLst/>
              <a:gdLst/>
              <a:ahLst/>
              <a:cxnLst/>
              <a:rect r="r" b="b" t="t" l="l"/>
              <a:pathLst>
                <a:path h="2560320" w="1999488">
                  <a:moveTo>
                    <a:pt x="0" y="0"/>
                  </a:moveTo>
                  <a:lnTo>
                    <a:pt x="1999488" y="0"/>
                  </a:lnTo>
                  <a:lnTo>
                    <a:pt x="1999488" y="2560320"/>
                  </a:lnTo>
                  <a:lnTo>
                    <a:pt x="0" y="2560320"/>
                  </a:lnTo>
                  <a:close/>
                </a:path>
              </a:pathLst>
            </a:custGeom>
            <a:solidFill>
              <a:srgbClr val="F1F5F9"/>
            </a:solidFill>
          </p:spPr>
        </p:sp>
        <p:sp>
          <p:nvSpPr>
            <p:cNvPr name="Freeform 75" id="75"/>
            <p:cNvSpPr/>
            <p:nvPr/>
          </p:nvSpPr>
          <p:spPr>
            <a:xfrm flipH="false" flipV="false" rot="0">
              <a:off x="0" y="0"/>
              <a:ext cx="2033270" cy="2594102"/>
            </a:xfrm>
            <a:custGeom>
              <a:avLst/>
              <a:gdLst/>
              <a:ahLst/>
              <a:cxnLst/>
              <a:rect r="r" b="b" t="t" l="l"/>
              <a:pathLst>
                <a:path h="2594102" w="2033270">
                  <a:moveTo>
                    <a:pt x="16891" y="0"/>
                  </a:moveTo>
                  <a:lnTo>
                    <a:pt x="2016379" y="0"/>
                  </a:lnTo>
                  <a:cubicBezTo>
                    <a:pt x="2025777" y="0"/>
                    <a:pt x="2033270" y="7620"/>
                    <a:pt x="2033270" y="16891"/>
                  </a:cubicBezTo>
                  <a:lnTo>
                    <a:pt x="2033270" y="2577211"/>
                  </a:lnTo>
                  <a:cubicBezTo>
                    <a:pt x="2033270" y="2586609"/>
                    <a:pt x="2025650" y="2594102"/>
                    <a:pt x="201637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2016379" y="2560320"/>
                  </a:lnTo>
                  <a:lnTo>
                    <a:pt x="2016379" y="2577211"/>
                  </a:lnTo>
                  <a:lnTo>
                    <a:pt x="1999488" y="2577211"/>
                  </a:lnTo>
                  <a:lnTo>
                    <a:pt x="1999488" y="16891"/>
                  </a:lnTo>
                  <a:lnTo>
                    <a:pt x="2016379" y="16891"/>
                  </a:lnTo>
                  <a:lnTo>
                    <a:pt x="2016379" y="33909"/>
                  </a:lnTo>
                  <a:lnTo>
                    <a:pt x="16891" y="33909"/>
                  </a:lnTo>
                  <a:close/>
                </a:path>
              </a:pathLst>
            </a:custGeom>
            <a:solidFill>
              <a:srgbClr val="B2EBF2"/>
            </a:solidFill>
          </p:spPr>
        </p:sp>
      </p:grpSp>
      <p:grpSp>
        <p:nvGrpSpPr>
          <p:cNvPr name="Group 76" id="76"/>
          <p:cNvGrpSpPr/>
          <p:nvPr/>
        </p:nvGrpSpPr>
        <p:grpSpPr>
          <a:xfrm rot="0">
            <a:off x="14986400" y="7900196"/>
            <a:ext cx="1499616" cy="822960"/>
            <a:chOff x="0" y="0"/>
            <a:chExt cx="1999488" cy="1097280"/>
          </a:xfrm>
        </p:grpSpPr>
        <p:sp>
          <p:nvSpPr>
            <p:cNvPr name="Freeform 77" id="77"/>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78" id="78"/>
            <p:cNvSpPr txBox="true"/>
            <p:nvPr/>
          </p:nvSpPr>
          <p:spPr>
            <a:xfrm>
              <a:off x="0" y="-9525"/>
              <a:ext cx="1999488" cy="1106805"/>
            </a:xfrm>
            <a:prstGeom prst="rect">
              <a:avLst/>
            </a:prstGeom>
          </p:spPr>
          <p:txBody>
            <a:bodyPr anchor="ctr" rtlCol="false" tIns="0" lIns="0" bIns="0" rIns="0"/>
            <a:lstStyle/>
            <a:p>
              <a:pPr algn="ctr">
                <a:lnSpc>
                  <a:spcPts val="3600"/>
                </a:lnSpc>
              </a:pPr>
              <a:r>
                <a:rPr lang="en-US" sz="3000" b="true">
                  <a:solidFill>
                    <a:srgbClr val="028090"/>
                  </a:solidFill>
                  <a:latin typeface="Trebuchet MS Bold"/>
                  <a:ea typeface="Trebuchet MS Bold"/>
                  <a:cs typeface="Trebuchet MS Bold"/>
                  <a:sym typeface="Trebuchet MS Bold"/>
                </a:rPr>
                <a:t>15%</a:t>
              </a:r>
            </a:p>
          </p:txBody>
        </p:sp>
      </p:grpSp>
      <p:grpSp>
        <p:nvGrpSpPr>
          <p:cNvPr name="Group 79" id="79"/>
          <p:cNvGrpSpPr/>
          <p:nvPr/>
        </p:nvGrpSpPr>
        <p:grpSpPr>
          <a:xfrm rot="0">
            <a:off x="14986400" y="8668292"/>
            <a:ext cx="1499616" cy="822960"/>
            <a:chOff x="0" y="0"/>
            <a:chExt cx="1999488" cy="1097280"/>
          </a:xfrm>
        </p:grpSpPr>
        <p:sp>
          <p:nvSpPr>
            <p:cNvPr name="Freeform 80" id="80"/>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81" id="81"/>
            <p:cNvSpPr txBox="true"/>
            <p:nvPr/>
          </p:nvSpPr>
          <p:spPr>
            <a:xfrm>
              <a:off x="0" y="-47625"/>
              <a:ext cx="1999488" cy="1144905"/>
            </a:xfrm>
            <a:prstGeom prst="rect">
              <a:avLst/>
            </a:prstGeom>
          </p:spPr>
          <p:txBody>
            <a:bodyPr anchor="ctr" rtlCol="false" tIns="0" lIns="0" bIns="0" rIns="0"/>
            <a:lstStyle/>
            <a:p>
              <a:pPr algn="ctr">
                <a:lnSpc>
                  <a:spcPts val="1800"/>
                </a:lnSpc>
              </a:pPr>
              <a:r>
                <a:rPr lang="en-US" sz="1500">
                  <a:solidFill>
                    <a:srgbClr val="64748B"/>
                  </a:solidFill>
                  <a:latin typeface="Agrandir Narrow"/>
                  <a:ea typeface="Agrandir Narrow"/>
                  <a:cs typeface="Agrandir Narrow"/>
                  <a:sym typeface="Agrandir Narrow"/>
                </a:rPr>
                <a:t>Poor</a:t>
              </a:r>
            </a:p>
          </p:txBody>
        </p:sp>
      </p:grpSp>
      <p:grpSp>
        <p:nvGrpSpPr>
          <p:cNvPr name="Group 82" id="82"/>
          <p:cNvGrpSpPr/>
          <p:nvPr/>
        </p:nvGrpSpPr>
        <p:grpSpPr>
          <a:xfrm rot="0">
            <a:off x="16583047" y="7777772"/>
            <a:ext cx="1525019" cy="1945643"/>
            <a:chOff x="0" y="0"/>
            <a:chExt cx="2033359" cy="2594191"/>
          </a:xfrm>
        </p:grpSpPr>
        <p:sp>
          <p:nvSpPr>
            <p:cNvPr name="Freeform 83" id="83"/>
            <p:cNvSpPr/>
            <p:nvPr/>
          </p:nvSpPr>
          <p:spPr>
            <a:xfrm flipH="false" flipV="false" rot="0">
              <a:off x="16891" y="16891"/>
              <a:ext cx="1999488" cy="2560320"/>
            </a:xfrm>
            <a:custGeom>
              <a:avLst/>
              <a:gdLst/>
              <a:ahLst/>
              <a:cxnLst/>
              <a:rect r="r" b="b" t="t" l="l"/>
              <a:pathLst>
                <a:path h="2560320" w="1999488">
                  <a:moveTo>
                    <a:pt x="0" y="0"/>
                  </a:moveTo>
                  <a:lnTo>
                    <a:pt x="1999488" y="0"/>
                  </a:lnTo>
                  <a:lnTo>
                    <a:pt x="1999488" y="2560320"/>
                  </a:lnTo>
                  <a:lnTo>
                    <a:pt x="0" y="2560320"/>
                  </a:lnTo>
                  <a:close/>
                </a:path>
              </a:pathLst>
            </a:custGeom>
            <a:solidFill>
              <a:srgbClr val="F1F5F9"/>
            </a:solidFill>
          </p:spPr>
        </p:sp>
        <p:sp>
          <p:nvSpPr>
            <p:cNvPr name="Freeform 84" id="84"/>
            <p:cNvSpPr/>
            <p:nvPr/>
          </p:nvSpPr>
          <p:spPr>
            <a:xfrm flipH="false" flipV="false" rot="0">
              <a:off x="0" y="0"/>
              <a:ext cx="2033270" cy="2594102"/>
            </a:xfrm>
            <a:custGeom>
              <a:avLst/>
              <a:gdLst/>
              <a:ahLst/>
              <a:cxnLst/>
              <a:rect r="r" b="b" t="t" l="l"/>
              <a:pathLst>
                <a:path h="2594102" w="2033270">
                  <a:moveTo>
                    <a:pt x="16891" y="0"/>
                  </a:moveTo>
                  <a:lnTo>
                    <a:pt x="2016379" y="0"/>
                  </a:lnTo>
                  <a:cubicBezTo>
                    <a:pt x="2025777" y="0"/>
                    <a:pt x="2033270" y="7620"/>
                    <a:pt x="2033270" y="16891"/>
                  </a:cubicBezTo>
                  <a:lnTo>
                    <a:pt x="2033270" y="2577211"/>
                  </a:lnTo>
                  <a:cubicBezTo>
                    <a:pt x="2033270" y="2586609"/>
                    <a:pt x="2025650" y="2594102"/>
                    <a:pt x="2016379" y="2594102"/>
                  </a:cubicBezTo>
                  <a:lnTo>
                    <a:pt x="16891" y="2594102"/>
                  </a:lnTo>
                  <a:cubicBezTo>
                    <a:pt x="7493" y="2594102"/>
                    <a:pt x="0" y="2586482"/>
                    <a:pt x="0" y="2577211"/>
                  </a:cubicBezTo>
                  <a:lnTo>
                    <a:pt x="0" y="16891"/>
                  </a:lnTo>
                  <a:cubicBezTo>
                    <a:pt x="0" y="7620"/>
                    <a:pt x="7620" y="0"/>
                    <a:pt x="16891" y="0"/>
                  </a:cubicBezTo>
                  <a:moveTo>
                    <a:pt x="16891" y="33909"/>
                  </a:moveTo>
                  <a:lnTo>
                    <a:pt x="16891" y="16891"/>
                  </a:lnTo>
                  <a:lnTo>
                    <a:pt x="33909" y="16891"/>
                  </a:lnTo>
                  <a:lnTo>
                    <a:pt x="33909" y="2577211"/>
                  </a:lnTo>
                  <a:lnTo>
                    <a:pt x="16891" y="2577211"/>
                  </a:lnTo>
                  <a:lnTo>
                    <a:pt x="16891" y="2560320"/>
                  </a:lnTo>
                  <a:lnTo>
                    <a:pt x="2016379" y="2560320"/>
                  </a:lnTo>
                  <a:lnTo>
                    <a:pt x="2016379" y="2577211"/>
                  </a:lnTo>
                  <a:lnTo>
                    <a:pt x="1999488" y="2577211"/>
                  </a:lnTo>
                  <a:lnTo>
                    <a:pt x="1999488" y="16891"/>
                  </a:lnTo>
                  <a:lnTo>
                    <a:pt x="2016379" y="16891"/>
                  </a:lnTo>
                  <a:lnTo>
                    <a:pt x="2016379" y="33909"/>
                  </a:lnTo>
                  <a:lnTo>
                    <a:pt x="16891" y="33909"/>
                  </a:lnTo>
                  <a:close/>
                </a:path>
              </a:pathLst>
            </a:custGeom>
            <a:solidFill>
              <a:srgbClr val="B2EBF2"/>
            </a:solidFill>
          </p:spPr>
        </p:sp>
      </p:grpSp>
      <p:grpSp>
        <p:nvGrpSpPr>
          <p:cNvPr name="Group 85" id="85"/>
          <p:cNvGrpSpPr/>
          <p:nvPr/>
        </p:nvGrpSpPr>
        <p:grpSpPr>
          <a:xfrm rot="0">
            <a:off x="16595744" y="7900196"/>
            <a:ext cx="1499616" cy="822960"/>
            <a:chOff x="0" y="0"/>
            <a:chExt cx="1999488" cy="1097280"/>
          </a:xfrm>
        </p:grpSpPr>
        <p:sp>
          <p:nvSpPr>
            <p:cNvPr name="Freeform 86" id="86"/>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87" id="87"/>
            <p:cNvSpPr txBox="true"/>
            <p:nvPr/>
          </p:nvSpPr>
          <p:spPr>
            <a:xfrm>
              <a:off x="0" y="-9525"/>
              <a:ext cx="1999488" cy="1106805"/>
            </a:xfrm>
            <a:prstGeom prst="rect">
              <a:avLst/>
            </a:prstGeom>
          </p:spPr>
          <p:txBody>
            <a:bodyPr anchor="ctr" rtlCol="false" tIns="0" lIns="0" bIns="0" rIns="0"/>
            <a:lstStyle/>
            <a:p>
              <a:pPr algn="ctr">
                <a:lnSpc>
                  <a:spcPts val="3600"/>
                </a:lnSpc>
              </a:pPr>
              <a:r>
                <a:rPr lang="en-US" sz="3000" b="true">
                  <a:solidFill>
                    <a:srgbClr val="028090"/>
                  </a:solidFill>
                  <a:latin typeface="Trebuchet MS Bold"/>
                  <a:ea typeface="Trebuchet MS Bold"/>
                  <a:cs typeface="Trebuchet MS Bold"/>
                  <a:sym typeface="Trebuchet MS Bold"/>
                </a:rPr>
                <a:t>10%</a:t>
              </a:r>
            </a:p>
          </p:txBody>
        </p:sp>
      </p:grpSp>
      <p:grpSp>
        <p:nvGrpSpPr>
          <p:cNvPr name="Group 88" id="88"/>
          <p:cNvGrpSpPr/>
          <p:nvPr/>
        </p:nvGrpSpPr>
        <p:grpSpPr>
          <a:xfrm rot="0">
            <a:off x="16595744" y="8668292"/>
            <a:ext cx="1499616" cy="822960"/>
            <a:chOff x="0" y="0"/>
            <a:chExt cx="1999488" cy="1097280"/>
          </a:xfrm>
        </p:grpSpPr>
        <p:sp>
          <p:nvSpPr>
            <p:cNvPr name="Freeform 89" id="89"/>
            <p:cNvSpPr/>
            <p:nvPr/>
          </p:nvSpPr>
          <p:spPr>
            <a:xfrm flipH="false" flipV="false" rot="0">
              <a:off x="0" y="0"/>
              <a:ext cx="1999488" cy="1097280"/>
            </a:xfrm>
            <a:custGeom>
              <a:avLst/>
              <a:gdLst/>
              <a:ahLst/>
              <a:cxnLst/>
              <a:rect r="r" b="b" t="t" l="l"/>
              <a:pathLst>
                <a:path h="1097280" w="1999488">
                  <a:moveTo>
                    <a:pt x="0" y="0"/>
                  </a:moveTo>
                  <a:lnTo>
                    <a:pt x="1999488" y="0"/>
                  </a:lnTo>
                  <a:lnTo>
                    <a:pt x="1999488" y="1097280"/>
                  </a:lnTo>
                  <a:lnTo>
                    <a:pt x="0" y="1097280"/>
                  </a:lnTo>
                  <a:close/>
                </a:path>
              </a:pathLst>
            </a:custGeom>
            <a:blipFill>
              <a:blip r:embed="rId2">
                <a:alphaModFix amt="0"/>
              </a:blip>
              <a:stretch>
                <a:fillRect l="-20410" t="0" r="-20410" b="0"/>
              </a:stretch>
            </a:blipFill>
          </p:spPr>
        </p:sp>
        <p:sp>
          <p:nvSpPr>
            <p:cNvPr name="TextBox 90" id="90"/>
            <p:cNvSpPr txBox="true"/>
            <p:nvPr/>
          </p:nvSpPr>
          <p:spPr>
            <a:xfrm>
              <a:off x="0" y="-47625"/>
              <a:ext cx="1999488" cy="1144905"/>
            </a:xfrm>
            <a:prstGeom prst="rect">
              <a:avLst/>
            </a:prstGeom>
          </p:spPr>
          <p:txBody>
            <a:bodyPr anchor="ctr" rtlCol="false" tIns="0" lIns="0" bIns="0" rIns="0"/>
            <a:lstStyle/>
            <a:p>
              <a:pPr algn="ctr">
                <a:lnSpc>
                  <a:spcPts val="1800"/>
                </a:lnSpc>
              </a:pPr>
              <a:r>
                <a:rPr lang="en-US" sz="1500">
                  <a:solidFill>
                    <a:srgbClr val="64748B"/>
                  </a:solidFill>
                  <a:latin typeface="Agrandir Narrow"/>
                  <a:ea typeface="Agrandir Narrow"/>
                  <a:cs typeface="Agrandir Narrow"/>
                  <a:sym typeface="Agrandir Narrow"/>
                </a:rPr>
                <a:t>Not Eligible</a:t>
              </a:r>
            </a:p>
          </p:txBody>
        </p:sp>
      </p:grpSp>
      <p:sp>
        <p:nvSpPr>
          <p:cNvPr name="TextBox 91" id="91"/>
          <p:cNvSpPr txBox="true"/>
          <p:nvPr/>
        </p:nvSpPr>
        <p:spPr>
          <a:xfrm rot="0">
            <a:off x="2909888" y="1335985"/>
            <a:ext cx="12468225" cy="409575"/>
          </a:xfrm>
          <a:prstGeom prst="rect">
            <a:avLst/>
          </a:prstGeom>
        </p:spPr>
        <p:txBody>
          <a:bodyPr anchor="t" rtlCol="false" tIns="0" lIns="0" bIns="0" rIns="0">
            <a:spAutoFit/>
          </a:bodyPr>
          <a:lstStyle/>
          <a:p>
            <a:pPr algn="ctr">
              <a:lnSpc>
                <a:spcPts val="2759"/>
              </a:lnSpc>
              <a:spcBef>
                <a:spcPct val="0"/>
              </a:spcBef>
            </a:pPr>
            <a:r>
              <a:rPr lang="en-US" b="true" sz="2299">
                <a:solidFill>
                  <a:srgbClr val="000000"/>
                </a:solidFill>
                <a:latin typeface="Agrandir Narrow Bold"/>
                <a:ea typeface="Agrandir Narrow Bold"/>
                <a:cs typeface="Agrandir Narrow Bold"/>
                <a:sym typeface="Agrandir Narrow Bold"/>
              </a:rPr>
              <a:t>10,000+ applicants processed (simulated) — Score distribution optimised for loan officer focus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6061472" y="384150"/>
            <a:ext cx="6165056" cy="69215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Agrandir Narrow Bold"/>
                <a:ea typeface="Agrandir Narrow Bold"/>
                <a:cs typeface="Agrandir Narrow Bold"/>
                <a:sym typeface="Agrandir Narrow Bold"/>
              </a:rPr>
              <a:t>Compliance + Expected Impact</a:t>
            </a:r>
          </a:p>
        </p:txBody>
      </p:sp>
      <p:grpSp>
        <p:nvGrpSpPr>
          <p:cNvPr name="Group 6" id="6"/>
          <p:cNvGrpSpPr/>
          <p:nvPr/>
        </p:nvGrpSpPr>
        <p:grpSpPr>
          <a:xfrm rot="0">
            <a:off x="9685840" y="1475693"/>
            <a:ext cx="8046720" cy="475488"/>
            <a:chOff x="0" y="0"/>
            <a:chExt cx="10728960" cy="633984"/>
          </a:xfrm>
        </p:grpSpPr>
        <p:sp>
          <p:nvSpPr>
            <p:cNvPr name="Freeform 7" id="7"/>
            <p:cNvSpPr/>
            <p:nvPr/>
          </p:nvSpPr>
          <p:spPr>
            <a:xfrm flipH="false" flipV="false" rot="0">
              <a:off x="0" y="0"/>
              <a:ext cx="10728960" cy="633984"/>
            </a:xfrm>
            <a:custGeom>
              <a:avLst/>
              <a:gdLst/>
              <a:ahLst/>
              <a:cxnLst/>
              <a:rect r="r" b="b" t="t" l="l"/>
              <a:pathLst>
                <a:path h="633984" w="10728960">
                  <a:moveTo>
                    <a:pt x="0" y="0"/>
                  </a:moveTo>
                  <a:lnTo>
                    <a:pt x="10728960" y="0"/>
                  </a:lnTo>
                  <a:lnTo>
                    <a:pt x="10728960" y="633984"/>
                  </a:lnTo>
                  <a:lnTo>
                    <a:pt x="0" y="633984"/>
                  </a:lnTo>
                  <a:close/>
                </a:path>
              </a:pathLst>
            </a:custGeom>
            <a:blipFill>
              <a:blip r:embed="rId2">
                <a:alphaModFix amt="0"/>
              </a:blip>
              <a:stretch>
                <a:fillRect l="0" t="-279746" r="0" b="-279746"/>
              </a:stretch>
            </a:blipFill>
          </p:spPr>
        </p:sp>
        <p:sp>
          <p:nvSpPr>
            <p:cNvPr name="TextBox 8" id="8"/>
            <p:cNvSpPr txBox="true"/>
            <p:nvPr/>
          </p:nvSpPr>
          <p:spPr>
            <a:xfrm>
              <a:off x="0" y="-66675"/>
              <a:ext cx="10728960" cy="700659"/>
            </a:xfrm>
            <a:prstGeom prst="rect">
              <a:avLst/>
            </a:prstGeom>
          </p:spPr>
          <p:txBody>
            <a:bodyPr anchor="ctr" rtlCol="false" tIns="0" lIns="0" bIns="0" rIns="0"/>
            <a:lstStyle/>
            <a:p>
              <a:pPr algn="ctr">
                <a:lnSpc>
                  <a:spcPts val="2759"/>
                </a:lnSpc>
              </a:pPr>
              <a:r>
                <a:rPr lang="en-US" b="true" sz="2299">
                  <a:solidFill>
                    <a:srgbClr val="000000"/>
                  </a:solidFill>
                  <a:latin typeface="Agrandir Narrow Bold"/>
                  <a:ea typeface="Agrandir Narrow Bold"/>
                  <a:cs typeface="Agrandir Narrow Bold"/>
                  <a:sym typeface="Agrandir Narrow Bold"/>
                </a:rPr>
                <a:t>PS1 COMPLIANCE CHECKLIST</a:t>
              </a:r>
            </a:p>
          </p:txBody>
        </p:sp>
      </p:grpSp>
      <p:graphicFrame>
        <p:nvGraphicFramePr>
          <p:cNvPr name="Table 9" id="9"/>
          <p:cNvGraphicFramePr>
            <a:graphicFrameLocks noGrp="true"/>
          </p:cNvGraphicFramePr>
          <p:nvPr/>
        </p:nvGraphicFramePr>
        <p:xfrm>
          <a:off x="9549798" y="2223965"/>
          <a:ext cx="8318805" cy="7472160"/>
        </p:xfrm>
        <a:graphic>
          <a:graphicData uri="http://schemas.openxmlformats.org/drawingml/2006/table">
            <a:tbl>
              <a:tblPr/>
              <a:tblGrid>
                <a:gridCol w="4522398"/>
                <a:gridCol w="3796408"/>
              </a:tblGrid>
              <a:tr h="657672">
                <a:tc>
                  <a:txBody>
                    <a:bodyPr anchor="t" rtlCol="false"/>
                    <a:lstStyle/>
                    <a:p>
                      <a:pPr algn="ctr">
                        <a:lnSpc>
                          <a:spcPts val="2879"/>
                        </a:lnSpc>
                        <a:defRPr/>
                      </a:pPr>
                      <a:r>
                        <a:rPr lang="en-US" sz="2399" b="true">
                          <a:solidFill>
                            <a:srgbClr val="FFFFFF"/>
                          </a:solidFill>
                          <a:latin typeface="Agrandir Narrow Bold"/>
                          <a:ea typeface="Agrandir Narrow Bold"/>
                          <a:cs typeface="Agrandir Narrow Bold"/>
                          <a:sym typeface="Agrandir Narrow Bold"/>
                        </a:rPr>
                        <a:t>Requirement</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0369A1"/>
                    </a:solidFill>
                  </a:tcPr>
                </a:tc>
                <a:tc>
                  <a:txBody>
                    <a:bodyPr anchor="t" rtlCol="false"/>
                    <a:lstStyle/>
                    <a:p>
                      <a:pPr algn="ctr">
                        <a:lnSpc>
                          <a:spcPts val="2879"/>
                        </a:lnSpc>
                        <a:defRPr/>
                      </a:pPr>
                      <a:r>
                        <a:rPr lang="en-US" sz="2399" b="true">
                          <a:solidFill>
                            <a:srgbClr val="FFFFFF"/>
                          </a:solidFill>
                          <a:latin typeface="Agrandir Narrow Bold"/>
                          <a:ea typeface="Agrandir Narrow Bold"/>
                          <a:cs typeface="Agrandir Narrow Bold"/>
                          <a:sym typeface="Agrandir Narrow Bold"/>
                        </a:rPr>
                        <a:t>Implementation</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0369A1"/>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Phone bill payment consistency</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D2 Telecom Worker</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E-commerce purchase behavior</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D3 E-Commerce Worker</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Geolocation stability</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D4 Worker (district-level only)</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Questionnaire-based risk</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D5 Psychometric Worker</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Merchant ratings</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D6 Worker</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Bank account cash flow</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D1 UPI/Bank Worker</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Psychometric &amp; behavioral models</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XGBoost + LightGBM blend</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867365">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Consent-based data flow</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DPDP-compliant per-source consent</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867365">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Privacy &amp; encryption compliance</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No PII stored, derived scores only</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r h="634970">
                <a:tc>
                  <a:txBody>
                    <a:bodyPr anchor="t" rtlCol="false"/>
                    <a:lstStyle/>
                    <a:p>
                      <a:pPr algn="l">
                        <a:lnSpc>
                          <a:spcPts val="2399"/>
                        </a:lnSpc>
                        <a:defRPr/>
                      </a:pPr>
                      <a:r>
                        <a:rPr lang="en-US" sz="1999">
                          <a:solidFill>
                            <a:srgbClr val="1E293B"/>
                          </a:solidFill>
                          <a:latin typeface="Agrandir Narrow"/>
                          <a:ea typeface="Agrandir Narrow"/>
                          <a:cs typeface="Agrandir Narrow"/>
                          <a:sym typeface="Agrandir Narrow"/>
                        </a:rPr>
                        <a:t>✓ Responsible lending practices</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c>
                  <a:txBody>
                    <a:bodyPr anchor="t" rtlCol="false"/>
                    <a:lstStyle/>
                    <a:p>
                      <a:pPr algn="l">
                        <a:lnSpc>
                          <a:spcPts val="2399"/>
                        </a:lnSpc>
                        <a:defRPr/>
                      </a:pPr>
                      <a:r>
                        <a:rPr lang="en-US" sz="1999" b="true">
                          <a:solidFill>
                            <a:srgbClr val="0369A1"/>
                          </a:solidFill>
                          <a:latin typeface="Agrandir Narrow Bold"/>
                          <a:ea typeface="Agrandir Narrow Bold"/>
                          <a:cs typeface="Agrandir Narrow Bold"/>
                          <a:sym typeface="Agrandir Narrow Bold"/>
                        </a:rPr>
                        <a:t>Hard blocks + DIR audit + SHAP</a:t>
                      </a:r>
                      <a:endParaRPr lang="en-US" sz="1100"/>
                    </a:p>
                  </a:txBody>
                  <a:tcPr marL="91440" marR="91440" marT="91440" marB="91440" anchor="ctr">
                    <a:lnL cmpd="sng" algn="ctr" cap="flat" w="5080">
                      <a:solidFill>
                        <a:srgbClr val="CBD5E1"/>
                      </a:solidFill>
                      <a:prstDash val="solid"/>
                      <a:round/>
                      <a:headEnd type="none" w="med" len="med"/>
                      <a:tailEnd type="none" w="med" len="med"/>
                    </a:lnL>
                    <a:lnR cmpd="sng" algn="ctr" cap="flat" w="5080">
                      <a:solidFill>
                        <a:srgbClr val="CBD5E1"/>
                      </a:solidFill>
                      <a:prstDash val="solid"/>
                      <a:round/>
                      <a:headEnd type="none" w="med" len="med"/>
                      <a:tailEnd type="none" w="med" len="med"/>
                    </a:lnR>
                    <a:lnT cmpd="sng" algn="ctr" cap="flat" w="5080">
                      <a:solidFill>
                        <a:srgbClr val="CBD5E1"/>
                      </a:solidFill>
                      <a:prstDash val="solid"/>
                      <a:round/>
                      <a:headEnd type="none" w="med" len="med"/>
                      <a:tailEnd type="none" w="med" len="med"/>
                    </a:lnT>
                    <a:lnB cmpd="sng" algn="ctr" cap="flat" w="5080">
                      <a:solidFill>
                        <a:srgbClr val="CBD5E1"/>
                      </a:solidFill>
                      <a:prstDash val="solid"/>
                      <a:round/>
                      <a:headEnd type="none" w="med" len="med"/>
                      <a:tailEnd type="none" w="med" len="med"/>
                    </a:lnB>
                    <a:solidFill>
                      <a:srgbClr val="FFFFFF"/>
                    </a:solidFill>
                  </a:tcPr>
                </a:tc>
              </a:tr>
            </a:tbl>
          </a:graphicData>
        </a:graphic>
      </p:graphicFrame>
      <p:grpSp>
        <p:nvGrpSpPr>
          <p:cNvPr name="Group 10" id="10"/>
          <p:cNvGrpSpPr/>
          <p:nvPr/>
        </p:nvGrpSpPr>
        <p:grpSpPr>
          <a:xfrm rot="0">
            <a:off x="208295" y="1419780"/>
            <a:ext cx="8321040" cy="587313"/>
            <a:chOff x="0" y="0"/>
            <a:chExt cx="11094720" cy="783084"/>
          </a:xfrm>
        </p:grpSpPr>
        <p:sp>
          <p:nvSpPr>
            <p:cNvPr name="Freeform 11" id="11"/>
            <p:cNvSpPr/>
            <p:nvPr/>
          </p:nvSpPr>
          <p:spPr>
            <a:xfrm flipH="false" flipV="false" rot="0">
              <a:off x="0" y="0"/>
              <a:ext cx="11094720" cy="783084"/>
            </a:xfrm>
            <a:custGeom>
              <a:avLst/>
              <a:gdLst/>
              <a:ahLst/>
              <a:cxnLst/>
              <a:rect r="r" b="b" t="t" l="l"/>
              <a:pathLst>
                <a:path h="783084" w="11094720">
                  <a:moveTo>
                    <a:pt x="0" y="0"/>
                  </a:moveTo>
                  <a:lnTo>
                    <a:pt x="11094720" y="0"/>
                  </a:lnTo>
                  <a:lnTo>
                    <a:pt x="11094720" y="783084"/>
                  </a:lnTo>
                  <a:lnTo>
                    <a:pt x="0" y="783084"/>
                  </a:lnTo>
                  <a:close/>
                </a:path>
              </a:pathLst>
            </a:custGeom>
            <a:blipFill>
              <a:blip r:embed="rId2">
                <a:alphaModFix amt="0"/>
              </a:blip>
              <a:stretch>
                <a:fillRect l="0" t="-235583" r="0" b="-216543"/>
              </a:stretch>
            </a:blipFill>
          </p:spPr>
        </p:sp>
        <p:sp>
          <p:nvSpPr>
            <p:cNvPr name="TextBox 12" id="12"/>
            <p:cNvSpPr txBox="true"/>
            <p:nvPr/>
          </p:nvSpPr>
          <p:spPr>
            <a:xfrm>
              <a:off x="0" y="-76200"/>
              <a:ext cx="11094720" cy="859284"/>
            </a:xfrm>
            <a:prstGeom prst="rect">
              <a:avLst/>
            </a:prstGeom>
          </p:spPr>
          <p:txBody>
            <a:bodyPr anchor="ctr" rtlCol="false" tIns="0" lIns="0" bIns="0" rIns="0"/>
            <a:lstStyle/>
            <a:p>
              <a:pPr algn="ctr">
                <a:lnSpc>
                  <a:spcPts val="2879"/>
                </a:lnSpc>
              </a:pPr>
              <a:r>
                <a:rPr lang="en-US" b="true" sz="2399">
                  <a:solidFill>
                    <a:srgbClr val="000000"/>
                  </a:solidFill>
                  <a:latin typeface="Agrandir Narrow Bold"/>
                  <a:ea typeface="Agrandir Narrow Bold"/>
                  <a:cs typeface="Agrandir Narrow Bold"/>
                  <a:sym typeface="Agrandir Narrow Bold"/>
                </a:rPr>
                <a:t>DPDP ACT COMPLIANCE</a:t>
              </a:r>
            </a:p>
          </p:txBody>
        </p:sp>
      </p:grpSp>
      <p:grpSp>
        <p:nvGrpSpPr>
          <p:cNvPr name="Group 13" id="13"/>
          <p:cNvGrpSpPr/>
          <p:nvPr/>
        </p:nvGrpSpPr>
        <p:grpSpPr>
          <a:xfrm rot="0">
            <a:off x="605554" y="2355339"/>
            <a:ext cx="8331203" cy="1367890"/>
            <a:chOff x="0" y="0"/>
            <a:chExt cx="11108271" cy="1823854"/>
          </a:xfrm>
        </p:grpSpPr>
        <p:sp>
          <p:nvSpPr>
            <p:cNvPr name="Freeform 14" id="14"/>
            <p:cNvSpPr/>
            <p:nvPr/>
          </p:nvSpPr>
          <p:spPr>
            <a:xfrm flipH="false" flipV="false" rot="0">
              <a:off x="6731" y="8314"/>
              <a:ext cx="11094720" cy="1807116"/>
            </a:xfrm>
            <a:custGeom>
              <a:avLst/>
              <a:gdLst/>
              <a:ahLst/>
              <a:cxnLst/>
              <a:rect r="r" b="b" t="t" l="l"/>
              <a:pathLst>
                <a:path h="1807116" w="11094720">
                  <a:moveTo>
                    <a:pt x="0" y="0"/>
                  </a:moveTo>
                  <a:lnTo>
                    <a:pt x="11094720" y="0"/>
                  </a:lnTo>
                  <a:lnTo>
                    <a:pt x="11094720" y="1807116"/>
                  </a:lnTo>
                  <a:lnTo>
                    <a:pt x="0" y="1807116"/>
                  </a:lnTo>
                  <a:close/>
                </a:path>
              </a:pathLst>
            </a:custGeom>
            <a:solidFill>
              <a:srgbClr val="FFFFFF"/>
            </a:solidFill>
          </p:spPr>
        </p:sp>
        <p:sp>
          <p:nvSpPr>
            <p:cNvPr name="Freeform 15" id="15"/>
            <p:cNvSpPr/>
            <p:nvPr/>
          </p:nvSpPr>
          <p:spPr>
            <a:xfrm flipH="false" flipV="false" rot="0">
              <a:off x="0" y="0"/>
              <a:ext cx="11108182" cy="1823744"/>
            </a:xfrm>
            <a:custGeom>
              <a:avLst/>
              <a:gdLst/>
              <a:ahLst/>
              <a:cxnLst/>
              <a:rect r="r" b="b" t="t" l="l"/>
              <a:pathLst>
                <a:path h="1823744" w="11108182">
                  <a:moveTo>
                    <a:pt x="6731" y="0"/>
                  </a:moveTo>
                  <a:lnTo>
                    <a:pt x="11101451" y="0"/>
                  </a:lnTo>
                  <a:cubicBezTo>
                    <a:pt x="11105134" y="0"/>
                    <a:pt x="11108182" y="3765"/>
                    <a:pt x="11108182" y="8314"/>
                  </a:cubicBezTo>
                  <a:lnTo>
                    <a:pt x="11108182" y="1815430"/>
                  </a:lnTo>
                  <a:cubicBezTo>
                    <a:pt x="11108182" y="1819979"/>
                    <a:pt x="11105134" y="1823744"/>
                    <a:pt x="11101451" y="1823744"/>
                  </a:cubicBezTo>
                  <a:lnTo>
                    <a:pt x="6731" y="1823744"/>
                  </a:lnTo>
                  <a:cubicBezTo>
                    <a:pt x="3048" y="1823744"/>
                    <a:pt x="0" y="1819979"/>
                    <a:pt x="0" y="1815430"/>
                  </a:cubicBezTo>
                  <a:lnTo>
                    <a:pt x="0" y="8314"/>
                  </a:lnTo>
                  <a:cubicBezTo>
                    <a:pt x="0" y="3765"/>
                    <a:pt x="3048" y="0"/>
                    <a:pt x="6731" y="0"/>
                  </a:cubicBezTo>
                  <a:moveTo>
                    <a:pt x="6731" y="16785"/>
                  </a:moveTo>
                  <a:lnTo>
                    <a:pt x="6731" y="8314"/>
                  </a:lnTo>
                  <a:lnTo>
                    <a:pt x="13462" y="8314"/>
                  </a:lnTo>
                  <a:lnTo>
                    <a:pt x="13462" y="1815430"/>
                  </a:lnTo>
                  <a:lnTo>
                    <a:pt x="6731" y="1815430"/>
                  </a:lnTo>
                  <a:lnTo>
                    <a:pt x="6731" y="1807116"/>
                  </a:lnTo>
                  <a:lnTo>
                    <a:pt x="11101451" y="1807116"/>
                  </a:lnTo>
                  <a:lnTo>
                    <a:pt x="11101451" y="1815430"/>
                  </a:lnTo>
                  <a:lnTo>
                    <a:pt x="11094720" y="1815430"/>
                  </a:lnTo>
                  <a:lnTo>
                    <a:pt x="11094720" y="8314"/>
                  </a:lnTo>
                  <a:lnTo>
                    <a:pt x="11101451" y="8314"/>
                  </a:lnTo>
                  <a:lnTo>
                    <a:pt x="11101451" y="16628"/>
                  </a:lnTo>
                  <a:lnTo>
                    <a:pt x="6731" y="16628"/>
                  </a:lnTo>
                  <a:close/>
                </a:path>
              </a:pathLst>
            </a:custGeom>
            <a:solidFill>
              <a:srgbClr val="CBD5E1"/>
            </a:solidFill>
          </p:spPr>
        </p:sp>
      </p:grpSp>
      <p:grpSp>
        <p:nvGrpSpPr>
          <p:cNvPr name="Group 16" id="16"/>
          <p:cNvGrpSpPr/>
          <p:nvPr/>
        </p:nvGrpSpPr>
        <p:grpSpPr>
          <a:xfrm rot="0">
            <a:off x="597934" y="2345927"/>
            <a:ext cx="135131" cy="1386715"/>
            <a:chOff x="0" y="0"/>
            <a:chExt cx="180175" cy="1848953"/>
          </a:xfrm>
        </p:grpSpPr>
        <p:sp>
          <p:nvSpPr>
            <p:cNvPr name="Freeform 17" id="17"/>
            <p:cNvSpPr/>
            <p:nvPr/>
          </p:nvSpPr>
          <p:spPr>
            <a:xfrm flipH="false" flipV="false" rot="0">
              <a:off x="16891" y="20863"/>
              <a:ext cx="146304" cy="1807116"/>
            </a:xfrm>
            <a:custGeom>
              <a:avLst/>
              <a:gdLst/>
              <a:ahLst/>
              <a:cxnLst/>
              <a:rect r="r" b="b" t="t" l="l"/>
              <a:pathLst>
                <a:path h="1807116" w="146304">
                  <a:moveTo>
                    <a:pt x="0" y="0"/>
                  </a:moveTo>
                  <a:lnTo>
                    <a:pt x="146304" y="0"/>
                  </a:lnTo>
                  <a:lnTo>
                    <a:pt x="146304" y="1807117"/>
                  </a:lnTo>
                  <a:lnTo>
                    <a:pt x="0" y="1807117"/>
                  </a:lnTo>
                  <a:close/>
                </a:path>
              </a:pathLst>
            </a:custGeom>
            <a:solidFill>
              <a:srgbClr val="004AAD"/>
            </a:solidFill>
          </p:spPr>
        </p:sp>
        <p:sp>
          <p:nvSpPr>
            <p:cNvPr name="Freeform 18" id="18"/>
            <p:cNvSpPr/>
            <p:nvPr/>
          </p:nvSpPr>
          <p:spPr>
            <a:xfrm flipH="false" flipV="false" rot="0">
              <a:off x="0" y="0"/>
              <a:ext cx="180086" cy="1848843"/>
            </a:xfrm>
            <a:custGeom>
              <a:avLst/>
              <a:gdLst/>
              <a:ahLst/>
              <a:cxnLst/>
              <a:rect r="r" b="b" t="t" l="l"/>
              <a:pathLst>
                <a:path h="1848843" w="180086">
                  <a:moveTo>
                    <a:pt x="16891" y="0"/>
                  </a:moveTo>
                  <a:lnTo>
                    <a:pt x="163195" y="0"/>
                  </a:lnTo>
                  <a:cubicBezTo>
                    <a:pt x="172593" y="0"/>
                    <a:pt x="180086" y="9412"/>
                    <a:pt x="180086" y="20863"/>
                  </a:cubicBezTo>
                  <a:lnTo>
                    <a:pt x="180086" y="1827980"/>
                  </a:lnTo>
                  <a:cubicBezTo>
                    <a:pt x="180086" y="1839588"/>
                    <a:pt x="172466" y="1848843"/>
                    <a:pt x="163195" y="1848843"/>
                  </a:cubicBezTo>
                  <a:lnTo>
                    <a:pt x="16891" y="1848843"/>
                  </a:lnTo>
                  <a:cubicBezTo>
                    <a:pt x="7493" y="1848843"/>
                    <a:pt x="0" y="1839431"/>
                    <a:pt x="0" y="1827980"/>
                  </a:cubicBezTo>
                  <a:lnTo>
                    <a:pt x="0" y="20863"/>
                  </a:lnTo>
                  <a:cubicBezTo>
                    <a:pt x="0" y="9412"/>
                    <a:pt x="7620" y="0"/>
                    <a:pt x="16891" y="0"/>
                  </a:cubicBezTo>
                  <a:moveTo>
                    <a:pt x="16891" y="41884"/>
                  </a:moveTo>
                  <a:lnTo>
                    <a:pt x="16891" y="20863"/>
                  </a:lnTo>
                  <a:lnTo>
                    <a:pt x="33909" y="20863"/>
                  </a:lnTo>
                  <a:lnTo>
                    <a:pt x="33909" y="1827980"/>
                  </a:lnTo>
                  <a:lnTo>
                    <a:pt x="16891" y="1827980"/>
                  </a:lnTo>
                  <a:lnTo>
                    <a:pt x="16891" y="1807116"/>
                  </a:lnTo>
                  <a:lnTo>
                    <a:pt x="163195" y="1807116"/>
                  </a:lnTo>
                  <a:lnTo>
                    <a:pt x="163195" y="1827980"/>
                  </a:lnTo>
                  <a:lnTo>
                    <a:pt x="146304" y="1827980"/>
                  </a:lnTo>
                  <a:lnTo>
                    <a:pt x="146304" y="20863"/>
                  </a:lnTo>
                  <a:lnTo>
                    <a:pt x="163195" y="20863"/>
                  </a:lnTo>
                  <a:lnTo>
                    <a:pt x="163195" y="41884"/>
                  </a:lnTo>
                  <a:lnTo>
                    <a:pt x="16891" y="41884"/>
                  </a:lnTo>
                  <a:close/>
                </a:path>
              </a:pathLst>
            </a:custGeom>
            <a:solidFill>
              <a:srgbClr val="004AAD"/>
            </a:solidFill>
          </p:spPr>
        </p:sp>
      </p:grpSp>
      <p:grpSp>
        <p:nvGrpSpPr>
          <p:cNvPr name="Group 19" id="19"/>
          <p:cNvGrpSpPr/>
          <p:nvPr/>
        </p:nvGrpSpPr>
        <p:grpSpPr>
          <a:xfrm rot="0">
            <a:off x="848375" y="2451966"/>
            <a:ext cx="7680960" cy="542135"/>
            <a:chOff x="0" y="0"/>
            <a:chExt cx="10241280" cy="722846"/>
          </a:xfrm>
        </p:grpSpPr>
        <p:sp>
          <p:nvSpPr>
            <p:cNvPr name="Freeform 20" id="20"/>
            <p:cNvSpPr/>
            <p:nvPr/>
          </p:nvSpPr>
          <p:spPr>
            <a:xfrm flipH="false" flipV="false" rot="0">
              <a:off x="0" y="0"/>
              <a:ext cx="10241280" cy="722846"/>
            </a:xfrm>
            <a:custGeom>
              <a:avLst/>
              <a:gdLst/>
              <a:ahLst/>
              <a:cxnLst/>
              <a:rect r="r" b="b" t="t" l="l"/>
              <a:pathLst>
                <a:path h="722846" w="10241280">
                  <a:moveTo>
                    <a:pt x="0" y="0"/>
                  </a:moveTo>
                  <a:lnTo>
                    <a:pt x="10241280" y="0"/>
                  </a:lnTo>
                  <a:lnTo>
                    <a:pt x="10241280" y="722846"/>
                  </a:lnTo>
                  <a:lnTo>
                    <a:pt x="0" y="722846"/>
                  </a:lnTo>
                  <a:close/>
                </a:path>
              </a:pathLst>
            </a:custGeom>
            <a:blipFill>
              <a:blip r:embed="rId2">
                <a:alphaModFix amt="0"/>
              </a:blip>
              <a:stretch>
                <a:fillRect l="0" t="-235583" r="0" b="-216543"/>
              </a:stretch>
            </a:blipFill>
          </p:spPr>
        </p:sp>
        <p:sp>
          <p:nvSpPr>
            <p:cNvPr name="TextBox 21" id="21"/>
            <p:cNvSpPr txBox="true"/>
            <p:nvPr/>
          </p:nvSpPr>
          <p:spPr>
            <a:xfrm>
              <a:off x="0" y="-66675"/>
              <a:ext cx="10241280" cy="789521"/>
            </a:xfrm>
            <a:prstGeom prst="rect">
              <a:avLst/>
            </a:prstGeom>
          </p:spPr>
          <p:txBody>
            <a:bodyPr anchor="ctr" rtlCol="false" tIns="0" lIns="0" bIns="0" rIns="0"/>
            <a:lstStyle/>
            <a:p>
              <a:pPr algn="l">
                <a:lnSpc>
                  <a:spcPts val="2759"/>
                </a:lnSpc>
              </a:pPr>
              <a:r>
                <a:rPr lang="en-US" b="true" sz="2299">
                  <a:solidFill>
                    <a:srgbClr val="000000"/>
                  </a:solidFill>
                  <a:latin typeface="Agrandir Narrow Bold"/>
                  <a:ea typeface="Agrandir Narrow Bold"/>
                  <a:cs typeface="Agrandir Narrow Bold"/>
                  <a:sym typeface="Agrandir Narrow Bold"/>
                </a:rPr>
                <a:t>Consent-First by Design</a:t>
              </a:r>
            </a:p>
          </p:txBody>
        </p:sp>
      </p:grpSp>
      <p:grpSp>
        <p:nvGrpSpPr>
          <p:cNvPr name="Group 22" id="22"/>
          <p:cNvGrpSpPr/>
          <p:nvPr/>
        </p:nvGrpSpPr>
        <p:grpSpPr>
          <a:xfrm rot="0">
            <a:off x="848375" y="2948923"/>
            <a:ext cx="7680960" cy="721195"/>
            <a:chOff x="0" y="0"/>
            <a:chExt cx="10241280" cy="961593"/>
          </a:xfrm>
        </p:grpSpPr>
        <p:sp>
          <p:nvSpPr>
            <p:cNvPr name="Freeform 23" id="23"/>
            <p:cNvSpPr/>
            <p:nvPr/>
          </p:nvSpPr>
          <p:spPr>
            <a:xfrm flipH="false" flipV="false" rot="0">
              <a:off x="0" y="0"/>
              <a:ext cx="10241280" cy="961593"/>
            </a:xfrm>
            <a:custGeom>
              <a:avLst/>
              <a:gdLst/>
              <a:ahLst/>
              <a:cxnLst/>
              <a:rect r="r" b="b" t="t" l="l"/>
              <a:pathLst>
                <a:path h="961593" w="10241280">
                  <a:moveTo>
                    <a:pt x="0" y="0"/>
                  </a:moveTo>
                  <a:lnTo>
                    <a:pt x="10241280" y="0"/>
                  </a:lnTo>
                  <a:lnTo>
                    <a:pt x="10241280" y="961593"/>
                  </a:lnTo>
                  <a:lnTo>
                    <a:pt x="0" y="961593"/>
                  </a:lnTo>
                  <a:close/>
                </a:path>
              </a:pathLst>
            </a:custGeom>
            <a:blipFill>
              <a:blip r:embed="rId2">
                <a:alphaModFix amt="0"/>
              </a:blip>
              <a:stretch>
                <a:fillRect l="0" t="-172020" r="0" b="-143023"/>
              </a:stretch>
            </a:blipFill>
          </p:spPr>
        </p:sp>
        <p:sp>
          <p:nvSpPr>
            <p:cNvPr name="TextBox 24" id="24"/>
            <p:cNvSpPr txBox="true"/>
            <p:nvPr/>
          </p:nvSpPr>
          <p:spPr>
            <a:xfrm>
              <a:off x="0" y="-66675"/>
              <a:ext cx="10241280" cy="1028268"/>
            </a:xfrm>
            <a:prstGeom prst="rect">
              <a:avLst/>
            </a:prstGeom>
          </p:spPr>
          <p:txBody>
            <a:bodyPr anchor="ctr" rtlCol="false" tIns="0" lIns="0" bIns="0" rIns="0"/>
            <a:lstStyle/>
            <a:p>
              <a:pPr algn="l">
                <a:lnSpc>
                  <a:spcPts val="2519"/>
                </a:lnSpc>
              </a:pPr>
              <a:r>
                <a:rPr lang="en-US" sz="2099">
                  <a:solidFill>
                    <a:srgbClr val="000000"/>
                  </a:solidFill>
                  <a:latin typeface="Agrandir Narrow"/>
                  <a:ea typeface="Agrandir Narrow"/>
                  <a:cs typeface="Agrandir Narrow"/>
                  <a:sym typeface="Agrandir Narrow"/>
                </a:rPr>
                <a:t>Every data source requires explicit per-source opt-in before access</a:t>
              </a:r>
            </a:p>
          </p:txBody>
        </p:sp>
      </p:grpSp>
      <p:grpSp>
        <p:nvGrpSpPr>
          <p:cNvPr name="Group 25" id="25"/>
          <p:cNvGrpSpPr/>
          <p:nvPr/>
        </p:nvGrpSpPr>
        <p:grpSpPr>
          <a:xfrm rot="0">
            <a:off x="605554" y="3846210"/>
            <a:ext cx="8331203" cy="1367890"/>
            <a:chOff x="0" y="0"/>
            <a:chExt cx="11108271" cy="1823854"/>
          </a:xfrm>
        </p:grpSpPr>
        <p:sp>
          <p:nvSpPr>
            <p:cNvPr name="Freeform 26" id="26"/>
            <p:cNvSpPr/>
            <p:nvPr/>
          </p:nvSpPr>
          <p:spPr>
            <a:xfrm flipH="false" flipV="false" rot="0">
              <a:off x="6731" y="8314"/>
              <a:ext cx="11094720" cy="1807116"/>
            </a:xfrm>
            <a:custGeom>
              <a:avLst/>
              <a:gdLst/>
              <a:ahLst/>
              <a:cxnLst/>
              <a:rect r="r" b="b" t="t" l="l"/>
              <a:pathLst>
                <a:path h="1807116" w="11094720">
                  <a:moveTo>
                    <a:pt x="0" y="0"/>
                  </a:moveTo>
                  <a:lnTo>
                    <a:pt x="11094720" y="0"/>
                  </a:lnTo>
                  <a:lnTo>
                    <a:pt x="11094720" y="1807116"/>
                  </a:lnTo>
                  <a:lnTo>
                    <a:pt x="0" y="1807116"/>
                  </a:lnTo>
                  <a:close/>
                </a:path>
              </a:pathLst>
            </a:custGeom>
            <a:solidFill>
              <a:srgbClr val="FFFFFF"/>
            </a:solidFill>
          </p:spPr>
        </p:sp>
        <p:sp>
          <p:nvSpPr>
            <p:cNvPr name="Freeform 27" id="27"/>
            <p:cNvSpPr/>
            <p:nvPr/>
          </p:nvSpPr>
          <p:spPr>
            <a:xfrm flipH="false" flipV="false" rot="0">
              <a:off x="0" y="0"/>
              <a:ext cx="11108182" cy="1823744"/>
            </a:xfrm>
            <a:custGeom>
              <a:avLst/>
              <a:gdLst/>
              <a:ahLst/>
              <a:cxnLst/>
              <a:rect r="r" b="b" t="t" l="l"/>
              <a:pathLst>
                <a:path h="1823744" w="11108182">
                  <a:moveTo>
                    <a:pt x="6731" y="0"/>
                  </a:moveTo>
                  <a:lnTo>
                    <a:pt x="11101451" y="0"/>
                  </a:lnTo>
                  <a:cubicBezTo>
                    <a:pt x="11105134" y="0"/>
                    <a:pt x="11108182" y="3765"/>
                    <a:pt x="11108182" y="8314"/>
                  </a:cubicBezTo>
                  <a:lnTo>
                    <a:pt x="11108182" y="1815430"/>
                  </a:lnTo>
                  <a:cubicBezTo>
                    <a:pt x="11108182" y="1819979"/>
                    <a:pt x="11105134" y="1823744"/>
                    <a:pt x="11101451" y="1823744"/>
                  </a:cubicBezTo>
                  <a:lnTo>
                    <a:pt x="6731" y="1823744"/>
                  </a:lnTo>
                  <a:cubicBezTo>
                    <a:pt x="3048" y="1823744"/>
                    <a:pt x="0" y="1819979"/>
                    <a:pt x="0" y="1815430"/>
                  </a:cubicBezTo>
                  <a:lnTo>
                    <a:pt x="0" y="8314"/>
                  </a:lnTo>
                  <a:cubicBezTo>
                    <a:pt x="0" y="3765"/>
                    <a:pt x="3048" y="0"/>
                    <a:pt x="6731" y="0"/>
                  </a:cubicBezTo>
                  <a:moveTo>
                    <a:pt x="6731" y="16785"/>
                  </a:moveTo>
                  <a:lnTo>
                    <a:pt x="6731" y="8314"/>
                  </a:lnTo>
                  <a:lnTo>
                    <a:pt x="13462" y="8314"/>
                  </a:lnTo>
                  <a:lnTo>
                    <a:pt x="13462" y="1815430"/>
                  </a:lnTo>
                  <a:lnTo>
                    <a:pt x="6731" y="1815430"/>
                  </a:lnTo>
                  <a:lnTo>
                    <a:pt x="6731" y="1807116"/>
                  </a:lnTo>
                  <a:lnTo>
                    <a:pt x="11101451" y="1807116"/>
                  </a:lnTo>
                  <a:lnTo>
                    <a:pt x="11101451" y="1815430"/>
                  </a:lnTo>
                  <a:lnTo>
                    <a:pt x="11094720" y="1815430"/>
                  </a:lnTo>
                  <a:lnTo>
                    <a:pt x="11094720" y="8314"/>
                  </a:lnTo>
                  <a:lnTo>
                    <a:pt x="11101451" y="8314"/>
                  </a:lnTo>
                  <a:lnTo>
                    <a:pt x="11101451" y="16628"/>
                  </a:lnTo>
                  <a:lnTo>
                    <a:pt x="6731" y="16628"/>
                  </a:lnTo>
                  <a:close/>
                </a:path>
              </a:pathLst>
            </a:custGeom>
            <a:solidFill>
              <a:srgbClr val="CBD5E1"/>
            </a:solidFill>
          </p:spPr>
        </p:sp>
      </p:grpSp>
      <p:grpSp>
        <p:nvGrpSpPr>
          <p:cNvPr name="Group 28" id="28"/>
          <p:cNvGrpSpPr/>
          <p:nvPr/>
        </p:nvGrpSpPr>
        <p:grpSpPr>
          <a:xfrm rot="0">
            <a:off x="597934" y="3836798"/>
            <a:ext cx="135131" cy="1386715"/>
            <a:chOff x="0" y="0"/>
            <a:chExt cx="180175" cy="1848953"/>
          </a:xfrm>
        </p:grpSpPr>
        <p:sp>
          <p:nvSpPr>
            <p:cNvPr name="Freeform 29" id="29"/>
            <p:cNvSpPr/>
            <p:nvPr/>
          </p:nvSpPr>
          <p:spPr>
            <a:xfrm flipH="false" flipV="false" rot="0">
              <a:off x="16891" y="20863"/>
              <a:ext cx="146304" cy="1807116"/>
            </a:xfrm>
            <a:custGeom>
              <a:avLst/>
              <a:gdLst/>
              <a:ahLst/>
              <a:cxnLst/>
              <a:rect r="r" b="b" t="t" l="l"/>
              <a:pathLst>
                <a:path h="1807116" w="146304">
                  <a:moveTo>
                    <a:pt x="0" y="0"/>
                  </a:moveTo>
                  <a:lnTo>
                    <a:pt x="146304" y="0"/>
                  </a:lnTo>
                  <a:lnTo>
                    <a:pt x="146304" y="1807117"/>
                  </a:lnTo>
                  <a:lnTo>
                    <a:pt x="0" y="1807117"/>
                  </a:lnTo>
                  <a:close/>
                </a:path>
              </a:pathLst>
            </a:custGeom>
            <a:solidFill>
              <a:srgbClr val="004AAD"/>
            </a:solidFill>
          </p:spPr>
        </p:sp>
        <p:sp>
          <p:nvSpPr>
            <p:cNvPr name="Freeform 30" id="30"/>
            <p:cNvSpPr/>
            <p:nvPr/>
          </p:nvSpPr>
          <p:spPr>
            <a:xfrm flipH="false" flipV="false" rot="0">
              <a:off x="0" y="0"/>
              <a:ext cx="180086" cy="1848843"/>
            </a:xfrm>
            <a:custGeom>
              <a:avLst/>
              <a:gdLst/>
              <a:ahLst/>
              <a:cxnLst/>
              <a:rect r="r" b="b" t="t" l="l"/>
              <a:pathLst>
                <a:path h="1848843" w="180086">
                  <a:moveTo>
                    <a:pt x="16891" y="0"/>
                  </a:moveTo>
                  <a:lnTo>
                    <a:pt x="163195" y="0"/>
                  </a:lnTo>
                  <a:cubicBezTo>
                    <a:pt x="172593" y="0"/>
                    <a:pt x="180086" y="9412"/>
                    <a:pt x="180086" y="20863"/>
                  </a:cubicBezTo>
                  <a:lnTo>
                    <a:pt x="180086" y="1827980"/>
                  </a:lnTo>
                  <a:cubicBezTo>
                    <a:pt x="180086" y="1839588"/>
                    <a:pt x="172466" y="1848843"/>
                    <a:pt x="163195" y="1848843"/>
                  </a:cubicBezTo>
                  <a:lnTo>
                    <a:pt x="16891" y="1848843"/>
                  </a:lnTo>
                  <a:cubicBezTo>
                    <a:pt x="7493" y="1848843"/>
                    <a:pt x="0" y="1839431"/>
                    <a:pt x="0" y="1827980"/>
                  </a:cubicBezTo>
                  <a:lnTo>
                    <a:pt x="0" y="20863"/>
                  </a:lnTo>
                  <a:cubicBezTo>
                    <a:pt x="0" y="9412"/>
                    <a:pt x="7620" y="0"/>
                    <a:pt x="16891" y="0"/>
                  </a:cubicBezTo>
                  <a:moveTo>
                    <a:pt x="16891" y="41884"/>
                  </a:moveTo>
                  <a:lnTo>
                    <a:pt x="16891" y="20863"/>
                  </a:lnTo>
                  <a:lnTo>
                    <a:pt x="33909" y="20863"/>
                  </a:lnTo>
                  <a:lnTo>
                    <a:pt x="33909" y="1827980"/>
                  </a:lnTo>
                  <a:lnTo>
                    <a:pt x="16891" y="1827980"/>
                  </a:lnTo>
                  <a:lnTo>
                    <a:pt x="16891" y="1807116"/>
                  </a:lnTo>
                  <a:lnTo>
                    <a:pt x="163195" y="1807116"/>
                  </a:lnTo>
                  <a:lnTo>
                    <a:pt x="163195" y="1827980"/>
                  </a:lnTo>
                  <a:lnTo>
                    <a:pt x="146304" y="1827980"/>
                  </a:lnTo>
                  <a:lnTo>
                    <a:pt x="146304" y="20863"/>
                  </a:lnTo>
                  <a:lnTo>
                    <a:pt x="163195" y="20863"/>
                  </a:lnTo>
                  <a:lnTo>
                    <a:pt x="163195" y="41884"/>
                  </a:lnTo>
                  <a:lnTo>
                    <a:pt x="16891" y="41884"/>
                  </a:lnTo>
                  <a:close/>
                </a:path>
              </a:pathLst>
            </a:custGeom>
            <a:solidFill>
              <a:srgbClr val="004AAD"/>
            </a:solidFill>
          </p:spPr>
        </p:sp>
      </p:grpSp>
      <p:grpSp>
        <p:nvGrpSpPr>
          <p:cNvPr name="Group 31" id="31"/>
          <p:cNvGrpSpPr/>
          <p:nvPr/>
        </p:nvGrpSpPr>
        <p:grpSpPr>
          <a:xfrm rot="0">
            <a:off x="848375" y="3942837"/>
            <a:ext cx="7680960" cy="542135"/>
            <a:chOff x="0" y="0"/>
            <a:chExt cx="10241280" cy="722846"/>
          </a:xfrm>
        </p:grpSpPr>
        <p:sp>
          <p:nvSpPr>
            <p:cNvPr name="Freeform 32" id="32"/>
            <p:cNvSpPr/>
            <p:nvPr/>
          </p:nvSpPr>
          <p:spPr>
            <a:xfrm flipH="false" flipV="false" rot="0">
              <a:off x="0" y="0"/>
              <a:ext cx="10241280" cy="722846"/>
            </a:xfrm>
            <a:custGeom>
              <a:avLst/>
              <a:gdLst/>
              <a:ahLst/>
              <a:cxnLst/>
              <a:rect r="r" b="b" t="t" l="l"/>
              <a:pathLst>
                <a:path h="722846" w="10241280">
                  <a:moveTo>
                    <a:pt x="0" y="0"/>
                  </a:moveTo>
                  <a:lnTo>
                    <a:pt x="10241280" y="0"/>
                  </a:lnTo>
                  <a:lnTo>
                    <a:pt x="10241280" y="722846"/>
                  </a:lnTo>
                  <a:lnTo>
                    <a:pt x="0" y="722846"/>
                  </a:lnTo>
                  <a:close/>
                </a:path>
              </a:pathLst>
            </a:custGeom>
            <a:blipFill>
              <a:blip r:embed="rId2">
                <a:alphaModFix amt="0"/>
              </a:blip>
              <a:stretch>
                <a:fillRect l="0" t="-235583" r="0" b="-216543"/>
              </a:stretch>
            </a:blipFill>
          </p:spPr>
        </p:sp>
        <p:sp>
          <p:nvSpPr>
            <p:cNvPr name="TextBox 33" id="33"/>
            <p:cNvSpPr txBox="true"/>
            <p:nvPr/>
          </p:nvSpPr>
          <p:spPr>
            <a:xfrm>
              <a:off x="0" y="-66675"/>
              <a:ext cx="10241280" cy="789521"/>
            </a:xfrm>
            <a:prstGeom prst="rect">
              <a:avLst/>
            </a:prstGeom>
          </p:spPr>
          <p:txBody>
            <a:bodyPr anchor="ctr" rtlCol="false" tIns="0" lIns="0" bIns="0" rIns="0"/>
            <a:lstStyle/>
            <a:p>
              <a:pPr algn="l">
                <a:lnSpc>
                  <a:spcPts val="2759"/>
                </a:lnSpc>
              </a:pPr>
              <a:r>
                <a:rPr lang="en-US" b="true" sz="2299">
                  <a:solidFill>
                    <a:srgbClr val="000000"/>
                  </a:solidFill>
                  <a:latin typeface="Agrandir Narrow Bold"/>
                  <a:ea typeface="Agrandir Narrow Bold"/>
                  <a:cs typeface="Agrandir Narrow Bold"/>
                  <a:sym typeface="Agrandir Narrow Bold"/>
                </a:rPr>
                <a:t>DPDP Act 2023</a:t>
              </a:r>
            </a:p>
          </p:txBody>
        </p:sp>
      </p:grpSp>
      <p:grpSp>
        <p:nvGrpSpPr>
          <p:cNvPr name="Group 34" id="34"/>
          <p:cNvGrpSpPr/>
          <p:nvPr/>
        </p:nvGrpSpPr>
        <p:grpSpPr>
          <a:xfrm rot="0">
            <a:off x="848375" y="4439794"/>
            <a:ext cx="7680960" cy="721195"/>
            <a:chOff x="0" y="0"/>
            <a:chExt cx="10241280" cy="961593"/>
          </a:xfrm>
        </p:grpSpPr>
        <p:sp>
          <p:nvSpPr>
            <p:cNvPr name="Freeform 35" id="35"/>
            <p:cNvSpPr/>
            <p:nvPr/>
          </p:nvSpPr>
          <p:spPr>
            <a:xfrm flipH="false" flipV="false" rot="0">
              <a:off x="0" y="0"/>
              <a:ext cx="10241280" cy="961593"/>
            </a:xfrm>
            <a:custGeom>
              <a:avLst/>
              <a:gdLst/>
              <a:ahLst/>
              <a:cxnLst/>
              <a:rect r="r" b="b" t="t" l="l"/>
              <a:pathLst>
                <a:path h="961593" w="10241280">
                  <a:moveTo>
                    <a:pt x="0" y="0"/>
                  </a:moveTo>
                  <a:lnTo>
                    <a:pt x="10241280" y="0"/>
                  </a:lnTo>
                  <a:lnTo>
                    <a:pt x="10241280" y="961593"/>
                  </a:lnTo>
                  <a:lnTo>
                    <a:pt x="0" y="961593"/>
                  </a:lnTo>
                  <a:close/>
                </a:path>
              </a:pathLst>
            </a:custGeom>
            <a:blipFill>
              <a:blip r:embed="rId2">
                <a:alphaModFix amt="0"/>
              </a:blip>
              <a:stretch>
                <a:fillRect l="0" t="-172020" r="0" b="-143023"/>
              </a:stretch>
            </a:blipFill>
          </p:spPr>
        </p:sp>
        <p:sp>
          <p:nvSpPr>
            <p:cNvPr name="TextBox 36" id="36"/>
            <p:cNvSpPr txBox="true"/>
            <p:nvPr/>
          </p:nvSpPr>
          <p:spPr>
            <a:xfrm>
              <a:off x="0" y="-66675"/>
              <a:ext cx="10241280" cy="1028268"/>
            </a:xfrm>
            <a:prstGeom prst="rect">
              <a:avLst/>
            </a:prstGeom>
          </p:spPr>
          <p:txBody>
            <a:bodyPr anchor="ctr" rtlCol="false" tIns="0" lIns="0" bIns="0" rIns="0"/>
            <a:lstStyle/>
            <a:p>
              <a:pPr algn="l">
                <a:lnSpc>
                  <a:spcPts val="2519"/>
                </a:lnSpc>
              </a:pPr>
              <a:r>
                <a:rPr lang="en-US" sz="2099">
                  <a:solidFill>
                    <a:srgbClr val="000000"/>
                  </a:solidFill>
                  <a:latin typeface="Agrandir Narrow"/>
                  <a:ea typeface="Agrandir Narrow"/>
                  <a:cs typeface="Agrandir Narrow"/>
                  <a:sym typeface="Agrandir Narrow"/>
                </a:rPr>
                <a:t>Data minimization &amp; purpose limitation enforced. No PII stored — derived scores only</a:t>
              </a:r>
            </a:p>
          </p:txBody>
        </p:sp>
      </p:grpSp>
      <p:grpSp>
        <p:nvGrpSpPr>
          <p:cNvPr name="Group 37" id="37"/>
          <p:cNvGrpSpPr/>
          <p:nvPr/>
        </p:nvGrpSpPr>
        <p:grpSpPr>
          <a:xfrm rot="0">
            <a:off x="605554" y="5337081"/>
            <a:ext cx="8331203" cy="1367890"/>
            <a:chOff x="0" y="0"/>
            <a:chExt cx="11108271" cy="1823854"/>
          </a:xfrm>
        </p:grpSpPr>
        <p:sp>
          <p:nvSpPr>
            <p:cNvPr name="Freeform 38" id="38"/>
            <p:cNvSpPr/>
            <p:nvPr/>
          </p:nvSpPr>
          <p:spPr>
            <a:xfrm flipH="false" flipV="false" rot="0">
              <a:off x="6731" y="8314"/>
              <a:ext cx="11094720" cy="1807116"/>
            </a:xfrm>
            <a:custGeom>
              <a:avLst/>
              <a:gdLst/>
              <a:ahLst/>
              <a:cxnLst/>
              <a:rect r="r" b="b" t="t" l="l"/>
              <a:pathLst>
                <a:path h="1807116" w="11094720">
                  <a:moveTo>
                    <a:pt x="0" y="0"/>
                  </a:moveTo>
                  <a:lnTo>
                    <a:pt x="11094720" y="0"/>
                  </a:lnTo>
                  <a:lnTo>
                    <a:pt x="11094720" y="1807116"/>
                  </a:lnTo>
                  <a:lnTo>
                    <a:pt x="0" y="1807116"/>
                  </a:lnTo>
                  <a:close/>
                </a:path>
              </a:pathLst>
            </a:custGeom>
            <a:solidFill>
              <a:srgbClr val="FFFFFF"/>
            </a:solidFill>
          </p:spPr>
        </p:sp>
        <p:sp>
          <p:nvSpPr>
            <p:cNvPr name="Freeform 39" id="39"/>
            <p:cNvSpPr/>
            <p:nvPr/>
          </p:nvSpPr>
          <p:spPr>
            <a:xfrm flipH="false" flipV="false" rot="0">
              <a:off x="0" y="0"/>
              <a:ext cx="11108182" cy="1823744"/>
            </a:xfrm>
            <a:custGeom>
              <a:avLst/>
              <a:gdLst/>
              <a:ahLst/>
              <a:cxnLst/>
              <a:rect r="r" b="b" t="t" l="l"/>
              <a:pathLst>
                <a:path h="1823744" w="11108182">
                  <a:moveTo>
                    <a:pt x="6731" y="0"/>
                  </a:moveTo>
                  <a:lnTo>
                    <a:pt x="11101451" y="0"/>
                  </a:lnTo>
                  <a:cubicBezTo>
                    <a:pt x="11105134" y="0"/>
                    <a:pt x="11108182" y="3765"/>
                    <a:pt x="11108182" y="8314"/>
                  </a:cubicBezTo>
                  <a:lnTo>
                    <a:pt x="11108182" y="1815430"/>
                  </a:lnTo>
                  <a:cubicBezTo>
                    <a:pt x="11108182" y="1819979"/>
                    <a:pt x="11105134" y="1823744"/>
                    <a:pt x="11101451" y="1823744"/>
                  </a:cubicBezTo>
                  <a:lnTo>
                    <a:pt x="6731" y="1823744"/>
                  </a:lnTo>
                  <a:cubicBezTo>
                    <a:pt x="3048" y="1823744"/>
                    <a:pt x="0" y="1819979"/>
                    <a:pt x="0" y="1815430"/>
                  </a:cubicBezTo>
                  <a:lnTo>
                    <a:pt x="0" y="8314"/>
                  </a:lnTo>
                  <a:cubicBezTo>
                    <a:pt x="0" y="3765"/>
                    <a:pt x="3048" y="0"/>
                    <a:pt x="6731" y="0"/>
                  </a:cubicBezTo>
                  <a:moveTo>
                    <a:pt x="6731" y="16785"/>
                  </a:moveTo>
                  <a:lnTo>
                    <a:pt x="6731" y="8314"/>
                  </a:lnTo>
                  <a:lnTo>
                    <a:pt x="13462" y="8314"/>
                  </a:lnTo>
                  <a:lnTo>
                    <a:pt x="13462" y="1815430"/>
                  </a:lnTo>
                  <a:lnTo>
                    <a:pt x="6731" y="1815430"/>
                  </a:lnTo>
                  <a:lnTo>
                    <a:pt x="6731" y="1807116"/>
                  </a:lnTo>
                  <a:lnTo>
                    <a:pt x="11101451" y="1807116"/>
                  </a:lnTo>
                  <a:lnTo>
                    <a:pt x="11101451" y="1815430"/>
                  </a:lnTo>
                  <a:lnTo>
                    <a:pt x="11094720" y="1815430"/>
                  </a:lnTo>
                  <a:lnTo>
                    <a:pt x="11094720" y="8314"/>
                  </a:lnTo>
                  <a:lnTo>
                    <a:pt x="11101451" y="8314"/>
                  </a:lnTo>
                  <a:lnTo>
                    <a:pt x="11101451" y="16628"/>
                  </a:lnTo>
                  <a:lnTo>
                    <a:pt x="6731" y="16628"/>
                  </a:lnTo>
                  <a:close/>
                </a:path>
              </a:pathLst>
            </a:custGeom>
            <a:solidFill>
              <a:srgbClr val="CBD5E1"/>
            </a:solidFill>
          </p:spPr>
        </p:sp>
      </p:grpSp>
      <p:grpSp>
        <p:nvGrpSpPr>
          <p:cNvPr name="Group 40" id="40"/>
          <p:cNvGrpSpPr/>
          <p:nvPr/>
        </p:nvGrpSpPr>
        <p:grpSpPr>
          <a:xfrm rot="0">
            <a:off x="597934" y="5327669"/>
            <a:ext cx="135131" cy="1386715"/>
            <a:chOff x="0" y="0"/>
            <a:chExt cx="180175" cy="1848953"/>
          </a:xfrm>
        </p:grpSpPr>
        <p:sp>
          <p:nvSpPr>
            <p:cNvPr name="Freeform 41" id="41"/>
            <p:cNvSpPr/>
            <p:nvPr/>
          </p:nvSpPr>
          <p:spPr>
            <a:xfrm flipH="false" flipV="false" rot="0">
              <a:off x="16891" y="20863"/>
              <a:ext cx="146304" cy="1807116"/>
            </a:xfrm>
            <a:custGeom>
              <a:avLst/>
              <a:gdLst/>
              <a:ahLst/>
              <a:cxnLst/>
              <a:rect r="r" b="b" t="t" l="l"/>
              <a:pathLst>
                <a:path h="1807116" w="146304">
                  <a:moveTo>
                    <a:pt x="0" y="0"/>
                  </a:moveTo>
                  <a:lnTo>
                    <a:pt x="146304" y="0"/>
                  </a:lnTo>
                  <a:lnTo>
                    <a:pt x="146304" y="1807117"/>
                  </a:lnTo>
                  <a:lnTo>
                    <a:pt x="0" y="1807117"/>
                  </a:lnTo>
                  <a:close/>
                </a:path>
              </a:pathLst>
            </a:custGeom>
            <a:solidFill>
              <a:srgbClr val="004AAD"/>
            </a:solidFill>
          </p:spPr>
        </p:sp>
        <p:sp>
          <p:nvSpPr>
            <p:cNvPr name="Freeform 42" id="42"/>
            <p:cNvSpPr/>
            <p:nvPr/>
          </p:nvSpPr>
          <p:spPr>
            <a:xfrm flipH="false" flipV="false" rot="0">
              <a:off x="0" y="0"/>
              <a:ext cx="180086" cy="1848843"/>
            </a:xfrm>
            <a:custGeom>
              <a:avLst/>
              <a:gdLst/>
              <a:ahLst/>
              <a:cxnLst/>
              <a:rect r="r" b="b" t="t" l="l"/>
              <a:pathLst>
                <a:path h="1848843" w="180086">
                  <a:moveTo>
                    <a:pt x="16891" y="0"/>
                  </a:moveTo>
                  <a:lnTo>
                    <a:pt x="163195" y="0"/>
                  </a:lnTo>
                  <a:cubicBezTo>
                    <a:pt x="172593" y="0"/>
                    <a:pt x="180086" y="9412"/>
                    <a:pt x="180086" y="20863"/>
                  </a:cubicBezTo>
                  <a:lnTo>
                    <a:pt x="180086" y="1827980"/>
                  </a:lnTo>
                  <a:cubicBezTo>
                    <a:pt x="180086" y="1839588"/>
                    <a:pt x="172466" y="1848843"/>
                    <a:pt x="163195" y="1848843"/>
                  </a:cubicBezTo>
                  <a:lnTo>
                    <a:pt x="16891" y="1848843"/>
                  </a:lnTo>
                  <a:cubicBezTo>
                    <a:pt x="7493" y="1848843"/>
                    <a:pt x="0" y="1839431"/>
                    <a:pt x="0" y="1827980"/>
                  </a:cubicBezTo>
                  <a:lnTo>
                    <a:pt x="0" y="20863"/>
                  </a:lnTo>
                  <a:cubicBezTo>
                    <a:pt x="0" y="9412"/>
                    <a:pt x="7620" y="0"/>
                    <a:pt x="16891" y="0"/>
                  </a:cubicBezTo>
                  <a:moveTo>
                    <a:pt x="16891" y="41884"/>
                  </a:moveTo>
                  <a:lnTo>
                    <a:pt x="16891" y="20863"/>
                  </a:lnTo>
                  <a:lnTo>
                    <a:pt x="33909" y="20863"/>
                  </a:lnTo>
                  <a:lnTo>
                    <a:pt x="33909" y="1827980"/>
                  </a:lnTo>
                  <a:lnTo>
                    <a:pt x="16891" y="1827980"/>
                  </a:lnTo>
                  <a:lnTo>
                    <a:pt x="16891" y="1807116"/>
                  </a:lnTo>
                  <a:lnTo>
                    <a:pt x="163195" y="1807116"/>
                  </a:lnTo>
                  <a:lnTo>
                    <a:pt x="163195" y="1827980"/>
                  </a:lnTo>
                  <a:lnTo>
                    <a:pt x="146304" y="1827980"/>
                  </a:lnTo>
                  <a:lnTo>
                    <a:pt x="146304" y="20863"/>
                  </a:lnTo>
                  <a:lnTo>
                    <a:pt x="163195" y="20863"/>
                  </a:lnTo>
                  <a:lnTo>
                    <a:pt x="163195" y="41884"/>
                  </a:lnTo>
                  <a:lnTo>
                    <a:pt x="16891" y="41884"/>
                  </a:lnTo>
                  <a:close/>
                </a:path>
              </a:pathLst>
            </a:custGeom>
            <a:solidFill>
              <a:srgbClr val="004AAD"/>
            </a:solidFill>
          </p:spPr>
        </p:sp>
      </p:grpSp>
      <p:grpSp>
        <p:nvGrpSpPr>
          <p:cNvPr name="Group 43" id="43"/>
          <p:cNvGrpSpPr/>
          <p:nvPr/>
        </p:nvGrpSpPr>
        <p:grpSpPr>
          <a:xfrm rot="0">
            <a:off x="848375" y="5433707"/>
            <a:ext cx="7680960" cy="542135"/>
            <a:chOff x="0" y="0"/>
            <a:chExt cx="10241280" cy="722846"/>
          </a:xfrm>
        </p:grpSpPr>
        <p:sp>
          <p:nvSpPr>
            <p:cNvPr name="Freeform 44" id="44"/>
            <p:cNvSpPr/>
            <p:nvPr/>
          </p:nvSpPr>
          <p:spPr>
            <a:xfrm flipH="false" flipV="false" rot="0">
              <a:off x="0" y="0"/>
              <a:ext cx="10241280" cy="722846"/>
            </a:xfrm>
            <a:custGeom>
              <a:avLst/>
              <a:gdLst/>
              <a:ahLst/>
              <a:cxnLst/>
              <a:rect r="r" b="b" t="t" l="l"/>
              <a:pathLst>
                <a:path h="722846" w="10241280">
                  <a:moveTo>
                    <a:pt x="0" y="0"/>
                  </a:moveTo>
                  <a:lnTo>
                    <a:pt x="10241280" y="0"/>
                  </a:lnTo>
                  <a:lnTo>
                    <a:pt x="10241280" y="722846"/>
                  </a:lnTo>
                  <a:lnTo>
                    <a:pt x="0" y="722846"/>
                  </a:lnTo>
                  <a:close/>
                </a:path>
              </a:pathLst>
            </a:custGeom>
            <a:blipFill>
              <a:blip r:embed="rId2">
                <a:alphaModFix amt="0"/>
              </a:blip>
              <a:stretch>
                <a:fillRect l="0" t="-235583" r="0" b="-216543"/>
              </a:stretch>
            </a:blipFill>
          </p:spPr>
        </p:sp>
        <p:sp>
          <p:nvSpPr>
            <p:cNvPr name="TextBox 45" id="45"/>
            <p:cNvSpPr txBox="true"/>
            <p:nvPr/>
          </p:nvSpPr>
          <p:spPr>
            <a:xfrm>
              <a:off x="0" y="-66675"/>
              <a:ext cx="10241280" cy="789521"/>
            </a:xfrm>
            <a:prstGeom prst="rect">
              <a:avLst/>
            </a:prstGeom>
          </p:spPr>
          <p:txBody>
            <a:bodyPr anchor="ctr" rtlCol="false" tIns="0" lIns="0" bIns="0" rIns="0"/>
            <a:lstStyle/>
            <a:p>
              <a:pPr algn="l">
                <a:lnSpc>
                  <a:spcPts val="2759"/>
                </a:lnSpc>
              </a:pPr>
              <a:r>
                <a:rPr lang="en-US" b="true" sz="2299">
                  <a:solidFill>
                    <a:srgbClr val="000000"/>
                  </a:solidFill>
                  <a:latin typeface="Agrandir Narrow Bold"/>
                  <a:ea typeface="Agrandir Narrow Bold"/>
                  <a:cs typeface="Agrandir Narrow Bold"/>
                  <a:sym typeface="Agrandir Narrow Bold"/>
                </a:rPr>
                <a:t>RBI Fair Practices Code</a:t>
              </a:r>
            </a:p>
          </p:txBody>
        </p:sp>
      </p:grpSp>
      <p:grpSp>
        <p:nvGrpSpPr>
          <p:cNvPr name="Group 46" id="46"/>
          <p:cNvGrpSpPr/>
          <p:nvPr/>
        </p:nvGrpSpPr>
        <p:grpSpPr>
          <a:xfrm rot="0">
            <a:off x="848375" y="5930664"/>
            <a:ext cx="7680960" cy="721195"/>
            <a:chOff x="0" y="0"/>
            <a:chExt cx="10241280" cy="961593"/>
          </a:xfrm>
        </p:grpSpPr>
        <p:sp>
          <p:nvSpPr>
            <p:cNvPr name="Freeform 47" id="47"/>
            <p:cNvSpPr/>
            <p:nvPr/>
          </p:nvSpPr>
          <p:spPr>
            <a:xfrm flipH="false" flipV="false" rot="0">
              <a:off x="0" y="0"/>
              <a:ext cx="10241280" cy="961593"/>
            </a:xfrm>
            <a:custGeom>
              <a:avLst/>
              <a:gdLst/>
              <a:ahLst/>
              <a:cxnLst/>
              <a:rect r="r" b="b" t="t" l="l"/>
              <a:pathLst>
                <a:path h="961593" w="10241280">
                  <a:moveTo>
                    <a:pt x="0" y="0"/>
                  </a:moveTo>
                  <a:lnTo>
                    <a:pt x="10241280" y="0"/>
                  </a:lnTo>
                  <a:lnTo>
                    <a:pt x="10241280" y="961593"/>
                  </a:lnTo>
                  <a:lnTo>
                    <a:pt x="0" y="961593"/>
                  </a:lnTo>
                  <a:close/>
                </a:path>
              </a:pathLst>
            </a:custGeom>
            <a:blipFill>
              <a:blip r:embed="rId2">
                <a:alphaModFix amt="0"/>
              </a:blip>
              <a:stretch>
                <a:fillRect l="0" t="-172020" r="0" b="-143023"/>
              </a:stretch>
            </a:blipFill>
          </p:spPr>
        </p:sp>
        <p:sp>
          <p:nvSpPr>
            <p:cNvPr name="TextBox 48" id="48"/>
            <p:cNvSpPr txBox="true"/>
            <p:nvPr/>
          </p:nvSpPr>
          <p:spPr>
            <a:xfrm>
              <a:off x="0" y="-66675"/>
              <a:ext cx="10241280" cy="1028268"/>
            </a:xfrm>
            <a:prstGeom prst="rect">
              <a:avLst/>
            </a:prstGeom>
          </p:spPr>
          <p:txBody>
            <a:bodyPr anchor="ctr" rtlCol="false" tIns="0" lIns="0" bIns="0" rIns="0"/>
            <a:lstStyle/>
            <a:p>
              <a:pPr algn="l">
                <a:lnSpc>
                  <a:spcPts val="2519"/>
                </a:lnSpc>
              </a:pPr>
              <a:r>
                <a:rPr lang="en-US" sz="2099">
                  <a:solidFill>
                    <a:srgbClr val="000000"/>
                  </a:solidFill>
                  <a:latin typeface="Agrandir Narrow"/>
                  <a:ea typeface="Agrandir Narrow"/>
                  <a:cs typeface="Agrandir Narrow"/>
                  <a:sym typeface="Agrandir Narrow"/>
                </a:rPr>
                <a:t>SHAP explanation mandatory on every rejection. Full audit trail in PostgreSQL</a:t>
              </a:r>
            </a:p>
          </p:txBody>
        </p:sp>
      </p:grpSp>
      <p:grpSp>
        <p:nvGrpSpPr>
          <p:cNvPr name="Group 49" id="49"/>
          <p:cNvGrpSpPr/>
          <p:nvPr/>
        </p:nvGrpSpPr>
        <p:grpSpPr>
          <a:xfrm rot="0">
            <a:off x="605554" y="6827952"/>
            <a:ext cx="8331203" cy="1367890"/>
            <a:chOff x="0" y="0"/>
            <a:chExt cx="11108271" cy="1823854"/>
          </a:xfrm>
        </p:grpSpPr>
        <p:sp>
          <p:nvSpPr>
            <p:cNvPr name="Freeform 50" id="50"/>
            <p:cNvSpPr/>
            <p:nvPr/>
          </p:nvSpPr>
          <p:spPr>
            <a:xfrm flipH="false" flipV="false" rot="0">
              <a:off x="6731" y="8314"/>
              <a:ext cx="11094720" cy="1807116"/>
            </a:xfrm>
            <a:custGeom>
              <a:avLst/>
              <a:gdLst/>
              <a:ahLst/>
              <a:cxnLst/>
              <a:rect r="r" b="b" t="t" l="l"/>
              <a:pathLst>
                <a:path h="1807116" w="11094720">
                  <a:moveTo>
                    <a:pt x="0" y="0"/>
                  </a:moveTo>
                  <a:lnTo>
                    <a:pt x="11094720" y="0"/>
                  </a:lnTo>
                  <a:lnTo>
                    <a:pt x="11094720" y="1807116"/>
                  </a:lnTo>
                  <a:lnTo>
                    <a:pt x="0" y="1807116"/>
                  </a:lnTo>
                  <a:close/>
                </a:path>
              </a:pathLst>
            </a:custGeom>
            <a:solidFill>
              <a:srgbClr val="FFFFFF"/>
            </a:solidFill>
          </p:spPr>
        </p:sp>
        <p:sp>
          <p:nvSpPr>
            <p:cNvPr name="Freeform 51" id="51"/>
            <p:cNvSpPr/>
            <p:nvPr/>
          </p:nvSpPr>
          <p:spPr>
            <a:xfrm flipH="false" flipV="false" rot="0">
              <a:off x="0" y="0"/>
              <a:ext cx="11108182" cy="1823744"/>
            </a:xfrm>
            <a:custGeom>
              <a:avLst/>
              <a:gdLst/>
              <a:ahLst/>
              <a:cxnLst/>
              <a:rect r="r" b="b" t="t" l="l"/>
              <a:pathLst>
                <a:path h="1823744" w="11108182">
                  <a:moveTo>
                    <a:pt x="6731" y="0"/>
                  </a:moveTo>
                  <a:lnTo>
                    <a:pt x="11101451" y="0"/>
                  </a:lnTo>
                  <a:cubicBezTo>
                    <a:pt x="11105134" y="0"/>
                    <a:pt x="11108182" y="3765"/>
                    <a:pt x="11108182" y="8314"/>
                  </a:cubicBezTo>
                  <a:lnTo>
                    <a:pt x="11108182" y="1815430"/>
                  </a:lnTo>
                  <a:cubicBezTo>
                    <a:pt x="11108182" y="1819979"/>
                    <a:pt x="11105134" y="1823744"/>
                    <a:pt x="11101451" y="1823744"/>
                  </a:cubicBezTo>
                  <a:lnTo>
                    <a:pt x="6731" y="1823744"/>
                  </a:lnTo>
                  <a:cubicBezTo>
                    <a:pt x="3048" y="1823744"/>
                    <a:pt x="0" y="1819979"/>
                    <a:pt x="0" y="1815430"/>
                  </a:cubicBezTo>
                  <a:lnTo>
                    <a:pt x="0" y="8314"/>
                  </a:lnTo>
                  <a:cubicBezTo>
                    <a:pt x="0" y="3765"/>
                    <a:pt x="3048" y="0"/>
                    <a:pt x="6731" y="0"/>
                  </a:cubicBezTo>
                  <a:moveTo>
                    <a:pt x="6731" y="16785"/>
                  </a:moveTo>
                  <a:lnTo>
                    <a:pt x="6731" y="8314"/>
                  </a:lnTo>
                  <a:lnTo>
                    <a:pt x="13462" y="8314"/>
                  </a:lnTo>
                  <a:lnTo>
                    <a:pt x="13462" y="1815430"/>
                  </a:lnTo>
                  <a:lnTo>
                    <a:pt x="6731" y="1815430"/>
                  </a:lnTo>
                  <a:lnTo>
                    <a:pt x="6731" y="1807116"/>
                  </a:lnTo>
                  <a:lnTo>
                    <a:pt x="11101451" y="1807116"/>
                  </a:lnTo>
                  <a:lnTo>
                    <a:pt x="11101451" y="1815430"/>
                  </a:lnTo>
                  <a:lnTo>
                    <a:pt x="11094720" y="1815430"/>
                  </a:lnTo>
                  <a:lnTo>
                    <a:pt x="11094720" y="8314"/>
                  </a:lnTo>
                  <a:lnTo>
                    <a:pt x="11101451" y="8314"/>
                  </a:lnTo>
                  <a:lnTo>
                    <a:pt x="11101451" y="16628"/>
                  </a:lnTo>
                  <a:lnTo>
                    <a:pt x="6731" y="16628"/>
                  </a:lnTo>
                  <a:close/>
                </a:path>
              </a:pathLst>
            </a:custGeom>
            <a:solidFill>
              <a:srgbClr val="CBD5E1"/>
            </a:solidFill>
          </p:spPr>
        </p:sp>
      </p:grpSp>
      <p:grpSp>
        <p:nvGrpSpPr>
          <p:cNvPr name="Group 52" id="52"/>
          <p:cNvGrpSpPr/>
          <p:nvPr/>
        </p:nvGrpSpPr>
        <p:grpSpPr>
          <a:xfrm rot="0">
            <a:off x="597934" y="6818540"/>
            <a:ext cx="135131" cy="1386715"/>
            <a:chOff x="0" y="0"/>
            <a:chExt cx="180175" cy="1848953"/>
          </a:xfrm>
        </p:grpSpPr>
        <p:sp>
          <p:nvSpPr>
            <p:cNvPr name="Freeform 53" id="53"/>
            <p:cNvSpPr/>
            <p:nvPr/>
          </p:nvSpPr>
          <p:spPr>
            <a:xfrm flipH="false" flipV="false" rot="0">
              <a:off x="16891" y="20863"/>
              <a:ext cx="146304" cy="1807116"/>
            </a:xfrm>
            <a:custGeom>
              <a:avLst/>
              <a:gdLst/>
              <a:ahLst/>
              <a:cxnLst/>
              <a:rect r="r" b="b" t="t" l="l"/>
              <a:pathLst>
                <a:path h="1807116" w="146304">
                  <a:moveTo>
                    <a:pt x="0" y="0"/>
                  </a:moveTo>
                  <a:lnTo>
                    <a:pt x="146304" y="0"/>
                  </a:lnTo>
                  <a:lnTo>
                    <a:pt x="146304" y="1807117"/>
                  </a:lnTo>
                  <a:lnTo>
                    <a:pt x="0" y="1807117"/>
                  </a:lnTo>
                  <a:close/>
                </a:path>
              </a:pathLst>
            </a:custGeom>
            <a:solidFill>
              <a:srgbClr val="004AAD"/>
            </a:solidFill>
          </p:spPr>
        </p:sp>
        <p:sp>
          <p:nvSpPr>
            <p:cNvPr name="Freeform 54" id="54"/>
            <p:cNvSpPr/>
            <p:nvPr/>
          </p:nvSpPr>
          <p:spPr>
            <a:xfrm flipH="false" flipV="false" rot="0">
              <a:off x="0" y="0"/>
              <a:ext cx="180086" cy="1848843"/>
            </a:xfrm>
            <a:custGeom>
              <a:avLst/>
              <a:gdLst/>
              <a:ahLst/>
              <a:cxnLst/>
              <a:rect r="r" b="b" t="t" l="l"/>
              <a:pathLst>
                <a:path h="1848843" w="180086">
                  <a:moveTo>
                    <a:pt x="16891" y="0"/>
                  </a:moveTo>
                  <a:lnTo>
                    <a:pt x="163195" y="0"/>
                  </a:lnTo>
                  <a:cubicBezTo>
                    <a:pt x="172593" y="0"/>
                    <a:pt x="180086" y="9412"/>
                    <a:pt x="180086" y="20863"/>
                  </a:cubicBezTo>
                  <a:lnTo>
                    <a:pt x="180086" y="1827980"/>
                  </a:lnTo>
                  <a:cubicBezTo>
                    <a:pt x="180086" y="1839588"/>
                    <a:pt x="172466" y="1848843"/>
                    <a:pt x="163195" y="1848843"/>
                  </a:cubicBezTo>
                  <a:lnTo>
                    <a:pt x="16891" y="1848843"/>
                  </a:lnTo>
                  <a:cubicBezTo>
                    <a:pt x="7493" y="1848843"/>
                    <a:pt x="0" y="1839431"/>
                    <a:pt x="0" y="1827980"/>
                  </a:cubicBezTo>
                  <a:lnTo>
                    <a:pt x="0" y="20863"/>
                  </a:lnTo>
                  <a:cubicBezTo>
                    <a:pt x="0" y="9412"/>
                    <a:pt x="7620" y="0"/>
                    <a:pt x="16891" y="0"/>
                  </a:cubicBezTo>
                  <a:moveTo>
                    <a:pt x="16891" y="41884"/>
                  </a:moveTo>
                  <a:lnTo>
                    <a:pt x="16891" y="20863"/>
                  </a:lnTo>
                  <a:lnTo>
                    <a:pt x="33909" y="20863"/>
                  </a:lnTo>
                  <a:lnTo>
                    <a:pt x="33909" y="1827980"/>
                  </a:lnTo>
                  <a:lnTo>
                    <a:pt x="16891" y="1827980"/>
                  </a:lnTo>
                  <a:lnTo>
                    <a:pt x="16891" y="1807116"/>
                  </a:lnTo>
                  <a:lnTo>
                    <a:pt x="163195" y="1807116"/>
                  </a:lnTo>
                  <a:lnTo>
                    <a:pt x="163195" y="1827980"/>
                  </a:lnTo>
                  <a:lnTo>
                    <a:pt x="146304" y="1827980"/>
                  </a:lnTo>
                  <a:lnTo>
                    <a:pt x="146304" y="20863"/>
                  </a:lnTo>
                  <a:lnTo>
                    <a:pt x="163195" y="20863"/>
                  </a:lnTo>
                  <a:lnTo>
                    <a:pt x="163195" y="41884"/>
                  </a:lnTo>
                  <a:lnTo>
                    <a:pt x="16891" y="41884"/>
                  </a:lnTo>
                  <a:close/>
                </a:path>
              </a:pathLst>
            </a:custGeom>
            <a:solidFill>
              <a:srgbClr val="004AAD"/>
            </a:solidFill>
          </p:spPr>
        </p:sp>
      </p:grpSp>
      <p:grpSp>
        <p:nvGrpSpPr>
          <p:cNvPr name="Group 55" id="55"/>
          <p:cNvGrpSpPr/>
          <p:nvPr/>
        </p:nvGrpSpPr>
        <p:grpSpPr>
          <a:xfrm rot="0">
            <a:off x="848375" y="6924578"/>
            <a:ext cx="7680960" cy="542135"/>
            <a:chOff x="0" y="0"/>
            <a:chExt cx="10241280" cy="722846"/>
          </a:xfrm>
        </p:grpSpPr>
        <p:sp>
          <p:nvSpPr>
            <p:cNvPr name="Freeform 56" id="56"/>
            <p:cNvSpPr/>
            <p:nvPr/>
          </p:nvSpPr>
          <p:spPr>
            <a:xfrm flipH="false" flipV="false" rot="0">
              <a:off x="0" y="0"/>
              <a:ext cx="10241280" cy="722846"/>
            </a:xfrm>
            <a:custGeom>
              <a:avLst/>
              <a:gdLst/>
              <a:ahLst/>
              <a:cxnLst/>
              <a:rect r="r" b="b" t="t" l="l"/>
              <a:pathLst>
                <a:path h="722846" w="10241280">
                  <a:moveTo>
                    <a:pt x="0" y="0"/>
                  </a:moveTo>
                  <a:lnTo>
                    <a:pt x="10241280" y="0"/>
                  </a:lnTo>
                  <a:lnTo>
                    <a:pt x="10241280" y="722846"/>
                  </a:lnTo>
                  <a:lnTo>
                    <a:pt x="0" y="722846"/>
                  </a:lnTo>
                  <a:close/>
                </a:path>
              </a:pathLst>
            </a:custGeom>
            <a:blipFill>
              <a:blip r:embed="rId2">
                <a:alphaModFix amt="0"/>
              </a:blip>
              <a:stretch>
                <a:fillRect l="0" t="-235583" r="0" b="-216543"/>
              </a:stretch>
            </a:blipFill>
          </p:spPr>
        </p:sp>
        <p:sp>
          <p:nvSpPr>
            <p:cNvPr name="TextBox 57" id="57"/>
            <p:cNvSpPr txBox="true"/>
            <p:nvPr/>
          </p:nvSpPr>
          <p:spPr>
            <a:xfrm>
              <a:off x="0" y="-66675"/>
              <a:ext cx="10241280" cy="789521"/>
            </a:xfrm>
            <a:prstGeom prst="rect">
              <a:avLst/>
            </a:prstGeom>
          </p:spPr>
          <p:txBody>
            <a:bodyPr anchor="ctr" rtlCol="false" tIns="0" lIns="0" bIns="0" rIns="0"/>
            <a:lstStyle/>
            <a:p>
              <a:pPr algn="l">
                <a:lnSpc>
                  <a:spcPts val="2759"/>
                </a:lnSpc>
              </a:pPr>
              <a:r>
                <a:rPr lang="en-US" b="true" sz="2299">
                  <a:solidFill>
                    <a:srgbClr val="000000"/>
                  </a:solidFill>
                  <a:latin typeface="Agrandir Narrow Bold"/>
                  <a:ea typeface="Agrandir Narrow Bold"/>
                  <a:cs typeface="Agrandir Narrow Bold"/>
                  <a:sym typeface="Agrandir Narrow Bold"/>
                </a:rPr>
                <a:t>IT Act 2000</a:t>
              </a:r>
            </a:p>
          </p:txBody>
        </p:sp>
      </p:grpSp>
      <p:grpSp>
        <p:nvGrpSpPr>
          <p:cNvPr name="Group 58" id="58"/>
          <p:cNvGrpSpPr/>
          <p:nvPr/>
        </p:nvGrpSpPr>
        <p:grpSpPr>
          <a:xfrm rot="0">
            <a:off x="848375" y="7421535"/>
            <a:ext cx="7680960" cy="632491"/>
            <a:chOff x="0" y="0"/>
            <a:chExt cx="10241280" cy="843321"/>
          </a:xfrm>
        </p:grpSpPr>
        <p:sp>
          <p:nvSpPr>
            <p:cNvPr name="Freeform 59" id="59"/>
            <p:cNvSpPr/>
            <p:nvPr/>
          </p:nvSpPr>
          <p:spPr>
            <a:xfrm flipH="false" flipV="false" rot="0">
              <a:off x="0" y="0"/>
              <a:ext cx="10241280" cy="843321"/>
            </a:xfrm>
            <a:custGeom>
              <a:avLst/>
              <a:gdLst/>
              <a:ahLst/>
              <a:cxnLst/>
              <a:rect r="r" b="b" t="t" l="l"/>
              <a:pathLst>
                <a:path h="843321" w="10241280">
                  <a:moveTo>
                    <a:pt x="0" y="0"/>
                  </a:moveTo>
                  <a:lnTo>
                    <a:pt x="10241280" y="0"/>
                  </a:lnTo>
                  <a:lnTo>
                    <a:pt x="10241280" y="843321"/>
                  </a:lnTo>
                  <a:lnTo>
                    <a:pt x="0" y="843321"/>
                  </a:lnTo>
                  <a:close/>
                </a:path>
              </a:pathLst>
            </a:custGeom>
            <a:blipFill>
              <a:blip r:embed="rId2">
                <a:alphaModFix amt="0"/>
              </a:blip>
              <a:stretch>
                <a:fillRect l="0" t="-196146" r="0" b="-177106"/>
              </a:stretch>
            </a:blipFill>
          </p:spPr>
        </p:sp>
        <p:sp>
          <p:nvSpPr>
            <p:cNvPr name="TextBox 60" id="60"/>
            <p:cNvSpPr txBox="true"/>
            <p:nvPr/>
          </p:nvSpPr>
          <p:spPr>
            <a:xfrm>
              <a:off x="0" y="-66675"/>
              <a:ext cx="10241280" cy="909996"/>
            </a:xfrm>
            <a:prstGeom prst="rect">
              <a:avLst/>
            </a:prstGeom>
          </p:spPr>
          <p:txBody>
            <a:bodyPr anchor="ctr" rtlCol="false" tIns="0" lIns="0" bIns="0" rIns="0"/>
            <a:lstStyle/>
            <a:p>
              <a:pPr algn="l">
                <a:lnSpc>
                  <a:spcPts val="2519"/>
                </a:lnSpc>
              </a:pPr>
              <a:r>
                <a:rPr lang="en-US" sz="2099">
                  <a:solidFill>
                    <a:srgbClr val="000000"/>
                  </a:solidFill>
                  <a:latin typeface="Agrandir Narrow"/>
                  <a:ea typeface="Agrandir Narrow"/>
                  <a:cs typeface="Agrandir Narrow"/>
                  <a:sym typeface="Agrandir Narrow"/>
                </a:rPr>
                <a:t>All processing on-premise. Data residency compliant</a:t>
              </a:r>
            </a:p>
          </p:txBody>
        </p:sp>
      </p:grpSp>
      <p:grpSp>
        <p:nvGrpSpPr>
          <p:cNvPr name="Group 61" id="61"/>
          <p:cNvGrpSpPr/>
          <p:nvPr/>
        </p:nvGrpSpPr>
        <p:grpSpPr>
          <a:xfrm rot="0">
            <a:off x="605554" y="8318823"/>
            <a:ext cx="8331203" cy="1367890"/>
            <a:chOff x="0" y="0"/>
            <a:chExt cx="11108271" cy="1823854"/>
          </a:xfrm>
        </p:grpSpPr>
        <p:sp>
          <p:nvSpPr>
            <p:cNvPr name="Freeform 62" id="62"/>
            <p:cNvSpPr/>
            <p:nvPr/>
          </p:nvSpPr>
          <p:spPr>
            <a:xfrm flipH="false" flipV="false" rot="0">
              <a:off x="6731" y="8314"/>
              <a:ext cx="11094720" cy="1807116"/>
            </a:xfrm>
            <a:custGeom>
              <a:avLst/>
              <a:gdLst/>
              <a:ahLst/>
              <a:cxnLst/>
              <a:rect r="r" b="b" t="t" l="l"/>
              <a:pathLst>
                <a:path h="1807116" w="11094720">
                  <a:moveTo>
                    <a:pt x="0" y="0"/>
                  </a:moveTo>
                  <a:lnTo>
                    <a:pt x="11094720" y="0"/>
                  </a:lnTo>
                  <a:lnTo>
                    <a:pt x="11094720" y="1807116"/>
                  </a:lnTo>
                  <a:lnTo>
                    <a:pt x="0" y="1807116"/>
                  </a:lnTo>
                  <a:close/>
                </a:path>
              </a:pathLst>
            </a:custGeom>
            <a:solidFill>
              <a:srgbClr val="FFFFFF"/>
            </a:solidFill>
          </p:spPr>
        </p:sp>
        <p:sp>
          <p:nvSpPr>
            <p:cNvPr name="Freeform 63" id="63"/>
            <p:cNvSpPr/>
            <p:nvPr/>
          </p:nvSpPr>
          <p:spPr>
            <a:xfrm flipH="false" flipV="false" rot="0">
              <a:off x="0" y="0"/>
              <a:ext cx="11108182" cy="1823744"/>
            </a:xfrm>
            <a:custGeom>
              <a:avLst/>
              <a:gdLst/>
              <a:ahLst/>
              <a:cxnLst/>
              <a:rect r="r" b="b" t="t" l="l"/>
              <a:pathLst>
                <a:path h="1823744" w="11108182">
                  <a:moveTo>
                    <a:pt x="6731" y="0"/>
                  </a:moveTo>
                  <a:lnTo>
                    <a:pt x="11101451" y="0"/>
                  </a:lnTo>
                  <a:cubicBezTo>
                    <a:pt x="11105134" y="0"/>
                    <a:pt x="11108182" y="3765"/>
                    <a:pt x="11108182" y="8314"/>
                  </a:cubicBezTo>
                  <a:lnTo>
                    <a:pt x="11108182" y="1815430"/>
                  </a:lnTo>
                  <a:cubicBezTo>
                    <a:pt x="11108182" y="1819979"/>
                    <a:pt x="11105134" y="1823744"/>
                    <a:pt x="11101451" y="1823744"/>
                  </a:cubicBezTo>
                  <a:lnTo>
                    <a:pt x="6731" y="1823744"/>
                  </a:lnTo>
                  <a:cubicBezTo>
                    <a:pt x="3048" y="1823744"/>
                    <a:pt x="0" y="1819979"/>
                    <a:pt x="0" y="1815430"/>
                  </a:cubicBezTo>
                  <a:lnTo>
                    <a:pt x="0" y="8314"/>
                  </a:lnTo>
                  <a:cubicBezTo>
                    <a:pt x="0" y="3765"/>
                    <a:pt x="3048" y="0"/>
                    <a:pt x="6731" y="0"/>
                  </a:cubicBezTo>
                  <a:moveTo>
                    <a:pt x="6731" y="16785"/>
                  </a:moveTo>
                  <a:lnTo>
                    <a:pt x="6731" y="8314"/>
                  </a:lnTo>
                  <a:lnTo>
                    <a:pt x="13462" y="8314"/>
                  </a:lnTo>
                  <a:lnTo>
                    <a:pt x="13462" y="1815430"/>
                  </a:lnTo>
                  <a:lnTo>
                    <a:pt x="6731" y="1815430"/>
                  </a:lnTo>
                  <a:lnTo>
                    <a:pt x="6731" y="1807116"/>
                  </a:lnTo>
                  <a:lnTo>
                    <a:pt x="11101451" y="1807116"/>
                  </a:lnTo>
                  <a:lnTo>
                    <a:pt x="11101451" y="1815430"/>
                  </a:lnTo>
                  <a:lnTo>
                    <a:pt x="11094720" y="1815430"/>
                  </a:lnTo>
                  <a:lnTo>
                    <a:pt x="11094720" y="8314"/>
                  </a:lnTo>
                  <a:lnTo>
                    <a:pt x="11101451" y="8314"/>
                  </a:lnTo>
                  <a:lnTo>
                    <a:pt x="11101451" y="16628"/>
                  </a:lnTo>
                  <a:lnTo>
                    <a:pt x="6731" y="16628"/>
                  </a:lnTo>
                  <a:close/>
                </a:path>
              </a:pathLst>
            </a:custGeom>
            <a:solidFill>
              <a:srgbClr val="CBD5E1"/>
            </a:solidFill>
          </p:spPr>
        </p:sp>
      </p:grpSp>
      <p:grpSp>
        <p:nvGrpSpPr>
          <p:cNvPr name="Group 64" id="64"/>
          <p:cNvGrpSpPr/>
          <p:nvPr/>
        </p:nvGrpSpPr>
        <p:grpSpPr>
          <a:xfrm rot="0">
            <a:off x="597934" y="8309410"/>
            <a:ext cx="135131" cy="1386715"/>
            <a:chOff x="0" y="0"/>
            <a:chExt cx="180175" cy="1848953"/>
          </a:xfrm>
        </p:grpSpPr>
        <p:sp>
          <p:nvSpPr>
            <p:cNvPr name="Freeform 65" id="65"/>
            <p:cNvSpPr/>
            <p:nvPr/>
          </p:nvSpPr>
          <p:spPr>
            <a:xfrm flipH="false" flipV="false" rot="0">
              <a:off x="16891" y="20863"/>
              <a:ext cx="146304" cy="1807116"/>
            </a:xfrm>
            <a:custGeom>
              <a:avLst/>
              <a:gdLst/>
              <a:ahLst/>
              <a:cxnLst/>
              <a:rect r="r" b="b" t="t" l="l"/>
              <a:pathLst>
                <a:path h="1807116" w="146304">
                  <a:moveTo>
                    <a:pt x="0" y="0"/>
                  </a:moveTo>
                  <a:lnTo>
                    <a:pt x="146304" y="0"/>
                  </a:lnTo>
                  <a:lnTo>
                    <a:pt x="146304" y="1807117"/>
                  </a:lnTo>
                  <a:lnTo>
                    <a:pt x="0" y="1807117"/>
                  </a:lnTo>
                  <a:close/>
                </a:path>
              </a:pathLst>
            </a:custGeom>
            <a:solidFill>
              <a:srgbClr val="004AAD"/>
            </a:solidFill>
          </p:spPr>
        </p:sp>
        <p:sp>
          <p:nvSpPr>
            <p:cNvPr name="Freeform 66" id="66"/>
            <p:cNvSpPr/>
            <p:nvPr/>
          </p:nvSpPr>
          <p:spPr>
            <a:xfrm flipH="false" flipV="false" rot="0">
              <a:off x="0" y="0"/>
              <a:ext cx="180086" cy="1848843"/>
            </a:xfrm>
            <a:custGeom>
              <a:avLst/>
              <a:gdLst/>
              <a:ahLst/>
              <a:cxnLst/>
              <a:rect r="r" b="b" t="t" l="l"/>
              <a:pathLst>
                <a:path h="1848843" w="180086">
                  <a:moveTo>
                    <a:pt x="16891" y="0"/>
                  </a:moveTo>
                  <a:lnTo>
                    <a:pt x="163195" y="0"/>
                  </a:lnTo>
                  <a:cubicBezTo>
                    <a:pt x="172593" y="0"/>
                    <a:pt x="180086" y="9412"/>
                    <a:pt x="180086" y="20863"/>
                  </a:cubicBezTo>
                  <a:lnTo>
                    <a:pt x="180086" y="1827980"/>
                  </a:lnTo>
                  <a:cubicBezTo>
                    <a:pt x="180086" y="1839588"/>
                    <a:pt x="172466" y="1848843"/>
                    <a:pt x="163195" y="1848843"/>
                  </a:cubicBezTo>
                  <a:lnTo>
                    <a:pt x="16891" y="1848843"/>
                  </a:lnTo>
                  <a:cubicBezTo>
                    <a:pt x="7493" y="1848843"/>
                    <a:pt x="0" y="1839431"/>
                    <a:pt x="0" y="1827980"/>
                  </a:cubicBezTo>
                  <a:lnTo>
                    <a:pt x="0" y="20863"/>
                  </a:lnTo>
                  <a:cubicBezTo>
                    <a:pt x="0" y="9412"/>
                    <a:pt x="7620" y="0"/>
                    <a:pt x="16891" y="0"/>
                  </a:cubicBezTo>
                  <a:moveTo>
                    <a:pt x="16891" y="41884"/>
                  </a:moveTo>
                  <a:lnTo>
                    <a:pt x="16891" y="20863"/>
                  </a:lnTo>
                  <a:lnTo>
                    <a:pt x="33909" y="20863"/>
                  </a:lnTo>
                  <a:lnTo>
                    <a:pt x="33909" y="1827980"/>
                  </a:lnTo>
                  <a:lnTo>
                    <a:pt x="16891" y="1827980"/>
                  </a:lnTo>
                  <a:lnTo>
                    <a:pt x="16891" y="1807116"/>
                  </a:lnTo>
                  <a:lnTo>
                    <a:pt x="163195" y="1807116"/>
                  </a:lnTo>
                  <a:lnTo>
                    <a:pt x="163195" y="1827980"/>
                  </a:lnTo>
                  <a:lnTo>
                    <a:pt x="146304" y="1827980"/>
                  </a:lnTo>
                  <a:lnTo>
                    <a:pt x="146304" y="20863"/>
                  </a:lnTo>
                  <a:lnTo>
                    <a:pt x="163195" y="20863"/>
                  </a:lnTo>
                  <a:lnTo>
                    <a:pt x="163195" y="41884"/>
                  </a:lnTo>
                  <a:lnTo>
                    <a:pt x="16891" y="41884"/>
                  </a:lnTo>
                  <a:close/>
                </a:path>
              </a:pathLst>
            </a:custGeom>
            <a:solidFill>
              <a:srgbClr val="004AAD"/>
            </a:solidFill>
          </p:spPr>
        </p:sp>
      </p:grpSp>
      <p:grpSp>
        <p:nvGrpSpPr>
          <p:cNvPr name="Group 67" id="67"/>
          <p:cNvGrpSpPr/>
          <p:nvPr/>
        </p:nvGrpSpPr>
        <p:grpSpPr>
          <a:xfrm rot="0">
            <a:off x="848375" y="8415449"/>
            <a:ext cx="7680960" cy="542135"/>
            <a:chOff x="0" y="0"/>
            <a:chExt cx="10241280" cy="722846"/>
          </a:xfrm>
        </p:grpSpPr>
        <p:sp>
          <p:nvSpPr>
            <p:cNvPr name="Freeform 68" id="68"/>
            <p:cNvSpPr/>
            <p:nvPr/>
          </p:nvSpPr>
          <p:spPr>
            <a:xfrm flipH="false" flipV="false" rot="0">
              <a:off x="0" y="0"/>
              <a:ext cx="10241280" cy="722846"/>
            </a:xfrm>
            <a:custGeom>
              <a:avLst/>
              <a:gdLst/>
              <a:ahLst/>
              <a:cxnLst/>
              <a:rect r="r" b="b" t="t" l="l"/>
              <a:pathLst>
                <a:path h="722846" w="10241280">
                  <a:moveTo>
                    <a:pt x="0" y="0"/>
                  </a:moveTo>
                  <a:lnTo>
                    <a:pt x="10241280" y="0"/>
                  </a:lnTo>
                  <a:lnTo>
                    <a:pt x="10241280" y="722846"/>
                  </a:lnTo>
                  <a:lnTo>
                    <a:pt x="0" y="722846"/>
                  </a:lnTo>
                  <a:close/>
                </a:path>
              </a:pathLst>
            </a:custGeom>
            <a:blipFill>
              <a:blip r:embed="rId2">
                <a:alphaModFix amt="0"/>
              </a:blip>
              <a:stretch>
                <a:fillRect l="0" t="-235583" r="0" b="-216543"/>
              </a:stretch>
            </a:blipFill>
          </p:spPr>
        </p:sp>
        <p:sp>
          <p:nvSpPr>
            <p:cNvPr name="TextBox 69" id="69"/>
            <p:cNvSpPr txBox="true"/>
            <p:nvPr/>
          </p:nvSpPr>
          <p:spPr>
            <a:xfrm>
              <a:off x="0" y="-66675"/>
              <a:ext cx="10241280" cy="789521"/>
            </a:xfrm>
            <a:prstGeom prst="rect">
              <a:avLst/>
            </a:prstGeom>
          </p:spPr>
          <p:txBody>
            <a:bodyPr anchor="ctr" rtlCol="false" tIns="0" lIns="0" bIns="0" rIns="0"/>
            <a:lstStyle/>
            <a:p>
              <a:pPr algn="l">
                <a:lnSpc>
                  <a:spcPts val="2759"/>
                </a:lnSpc>
              </a:pPr>
              <a:r>
                <a:rPr lang="en-US" b="true" sz="2299">
                  <a:solidFill>
                    <a:srgbClr val="000000"/>
                  </a:solidFill>
                  <a:latin typeface="Agrandir Narrow Bold"/>
                  <a:ea typeface="Agrandir Narrow Bold"/>
                  <a:cs typeface="Agrandir Narrow Bold"/>
                  <a:sym typeface="Agrandir Narrow Bold"/>
                </a:rPr>
                <a:t> RBI KYC Guidelines</a:t>
              </a:r>
            </a:p>
          </p:txBody>
        </p:sp>
      </p:grpSp>
      <p:grpSp>
        <p:nvGrpSpPr>
          <p:cNvPr name="Group 70" id="70"/>
          <p:cNvGrpSpPr/>
          <p:nvPr/>
        </p:nvGrpSpPr>
        <p:grpSpPr>
          <a:xfrm rot="0">
            <a:off x="848375" y="8912406"/>
            <a:ext cx="7680960" cy="678688"/>
            <a:chOff x="0" y="0"/>
            <a:chExt cx="10241280" cy="904917"/>
          </a:xfrm>
        </p:grpSpPr>
        <p:sp>
          <p:nvSpPr>
            <p:cNvPr name="Freeform 71" id="71"/>
            <p:cNvSpPr/>
            <p:nvPr/>
          </p:nvSpPr>
          <p:spPr>
            <a:xfrm flipH="false" flipV="false" rot="0">
              <a:off x="0" y="0"/>
              <a:ext cx="10241280" cy="904917"/>
            </a:xfrm>
            <a:custGeom>
              <a:avLst/>
              <a:gdLst/>
              <a:ahLst/>
              <a:cxnLst/>
              <a:rect r="r" b="b" t="t" l="l"/>
              <a:pathLst>
                <a:path h="904917" w="10241280">
                  <a:moveTo>
                    <a:pt x="0" y="0"/>
                  </a:moveTo>
                  <a:lnTo>
                    <a:pt x="10241280" y="0"/>
                  </a:lnTo>
                  <a:lnTo>
                    <a:pt x="10241280" y="904917"/>
                  </a:lnTo>
                  <a:lnTo>
                    <a:pt x="0" y="904917"/>
                  </a:lnTo>
                  <a:close/>
                </a:path>
              </a:pathLst>
            </a:custGeom>
            <a:blipFill>
              <a:blip r:embed="rId2">
                <a:alphaModFix amt="0"/>
              </a:blip>
              <a:stretch>
                <a:fillRect l="0" t="-182794" r="0" b="-158243"/>
              </a:stretch>
            </a:blipFill>
          </p:spPr>
        </p:sp>
        <p:sp>
          <p:nvSpPr>
            <p:cNvPr name="TextBox 72" id="72"/>
            <p:cNvSpPr txBox="true"/>
            <p:nvPr/>
          </p:nvSpPr>
          <p:spPr>
            <a:xfrm>
              <a:off x="0" y="-57150"/>
              <a:ext cx="10241280" cy="962067"/>
            </a:xfrm>
            <a:prstGeom prst="rect">
              <a:avLst/>
            </a:prstGeom>
          </p:spPr>
          <p:txBody>
            <a:bodyPr anchor="ctr" rtlCol="false" tIns="0" lIns="0" bIns="0" rIns="0"/>
            <a:lstStyle/>
            <a:p>
              <a:pPr algn="l">
                <a:lnSpc>
                  <a:spcPts val="2399"/>
                </a:lnSpc>
              </a:pPr>
              <a:r>
                <a:rPr lang="en-US" sz="1999">
                  <a:solidFill>
                    <a:srgbClr val="000000"/>
                  </a:solidFill>
                  <a:latin typeface="Agrandir Narrow"/>
                  <a:ea typeface="Agrandir Narrow"/>
                  <a:cs typeface="Agrandir Narrow"/>
                  <a:sym typeface="Agrandir Narrow"/>
                </a:rPr>
                <a:t>District-level location only. No GPS. Geolocation capped at 5% feature weight</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78800" y="343268"/>
            <a:ext cx="9130401" cy="859641"/>
            <a:chOff x="0" y="0"/>
            <a:chExt cx="2404715" cy="226407"/>
          </a:xfrm>
        </p:grpSpPr>
        <p:sp>
          <p:nvSpPr>
            <p:cNvPr name="Freeform 3" id="3"/>
            <p:cNvSpPr/>
            <p:nvPr/>
          </p:nvSpPr>
          <p:spPr>
            <a:xfrm flipH="false" flipV="false" rot="0">
              <a:off x="0" y="0"/>
              <a:ext cx="2404715" cy="226407"/>
            </a:xfrm>
            <a:custGeom>
              <a:avLst/>
              <a:gdLst/>
              <a:ahLst/>
              <a:cxnLst/>
              <a:rect r="r" b="b" t="t" l="l"/>
              <a:pathLst>
                <a:path h="226407" w="2404715">
                  <a:moveTo>
                    <a:pt x="43244" y="0"/>
                  </a:moveTo>
                  <a:lnTo>
                    <a:pt x="2361470" y="0"/>
                  </a:lnTo>
                  <a:cubicBezTo>
                    <a:pt x="2385353" y="0"/>
                    <a:pt x="2404715" y="19361"/>
                    <a:pt x="2404715" y="43244"/>
                  </a:cubicBezTo>
                  <a:lnTo>
                    <a:pt x="2404715" y="183163"/>
                  </a:lnTo>
                  <a:cubicBezTo>
                    <a:pt x="2404715" y="207046"/>
                    <a:pt x="2385353" y="226407"/>
                    <a:pt x="2361470" y="226407"/>
                  </a:cubicBezTo>
                  <a:lnTo>
                    <a:pt x="43244" y="226407"/>
                  </a:lnTo>
                  <a:cubicBezTo>
                    <a:pt x="19361" y="226407"/>
                    <a:pt x="0" y="207046"/>
                    <a:pt x="0" y="183163"/>
                  </a:cubicBezTo>
                  <a:lnTo>
                    <a:pt x="0" y="43244"/>
                  </a:lnTo>
                  <a:cubicBezTo>
                    <a:pt x="0" y="19361"/>
                    <a:pt x="19361" y="0"/>
                    <a:pt x="43244" y="0"/>
                  </a:cubicBezTo>
                  <a:close/>
                </a:path>
              </a:pathLst>
            </a:custGeom>
            <a:solidFill>
              <a:srgbClr val="215061"/>
            </a:solidFill>
          </p:spPr>
        </p:sp>
        <p:sp>
          <p:nvSpPr>
            <p:cNvPr name="TextBox 4" id="4"/>
            <p:cNvSpPr txBox="true"/>
            <p:nvPr/>
          </p:nvSpPr>
          <p:spPr>
            <a:xfrm>
              <a:off x="0" y="-123825"/>
              <a:ext cx="2404715" cy="350232"/>
            </a:xfrm>
            <a:prstGeom prst="rect">
              <a:avLst/>
            </a:prstGeom>
          </p:spPr>
          <p:txBody>
            <a:bodyPr anchor="ctr" rtlCol="false" tIns="50800" lIns="50800" bIns="50800" rIns="50800"/>
            <a:lstStyle/>
            <a:p>
              <a:pPr algn="ctr">
                <a:lnSpc>
                  <a:spcPts val="3640"/>
                </a:lnSpc>
              </a:pPr>
            </a:p>
          </p:txBody>
        </p:sp>
      </p:grpSp>
      <p:sp>
        <p:nvSpPr>
          <p:cNvPr name="TextBox 5" id="5"/>
          <p:cNvSpPr txBox="true"/>
          <p:nvPr/>
        </p:nvSpPr>
        <p:spPr>
          <a:xfrm rot="0">
            <a:off x="7558720" y="384150"/>
            <a:ext cx="3170560" cy="692151"/>
          </a:xfrm>
          <a:prstGeom prst="rect">
            <a:avLst/>
          </a:prstGeom>
        </p:spPr>
        <p:txBody>
          <a:bodyPr anchor="t" rtlCol="false" tIns="0" lIns="0" bIns="0" rIns="0">
            <a:spAutoFit/>
          </a:bodyPr>
          <a:lstStyle/>
          <a:p>
            <a:pPr algn="ctr">
              <a:lnSpc>
                <a:spcPts val="4899"/>
              </a:lnSpc>
              <a:spcBef>
                <a:spcPct val="0"/>
              </a:spcBef>
            </a:pPr>
            <a:r>
              <a:rPr lang="en-US" b="true" sz="3499">
                <a:solidFill>
                  <a:srgbClr val="FFFFFF"/>
                </a:solidFill>
                <a:latin typeface="Agrandir Narrow Bold"/>
                <a:ea typeface="Agrandir Narrow Bold"/>
                <a:cs typeface="Agrandir Narrow Bold"/>
                <a:sym typeface="Agrandir Narrow Bold"/>
              </a:rPr>
              <a:t>FUTURE SCOPE</a:t>
            </a:r>
          </a:p>
        </p:txBody>
      </p:sp>
      <p:grpSp>
        <p:nvGrpSpPr>
          <p:cNvPr name="Group 6" id="6"/>
          <p:cNvGrpSpPr/>
          <p:nvPr/>
        </p:nvGrpSpPr>
        <p:grpSpPr>
          <a:xfrm rot="0">
            <a:off x="812797" y="2220973"/>
            <a:ext cx="5323837" cy="3586477"/>
            <a:chOff x="0" y="0"/>
            <a:chExt cx="7098449" cy="4781969"/>
          </a:xfrm>
        </p:grpSpPr>
        <p:sp>
          <p:nvSpPr>
            <p:cNvPr name="Freeform 7" id="7"/>
            <p:cNvSpPr/>
            <p:nvPr/>
          </p:nvSpPr>
          <p:spPr>
            <a:xfrm flipH="false" flipV="false" rot="0">
              <a:off x="13589" y="13589"/>
              <a:ext cx="7071360" cy="4754880"/>
            </a:xfrm>
            <a:custGeom>
              <a:avLst/>
              <a:gdLst/>
              <a:ahLst/>
              <a:cxnLst/>
              <a:rect r="r" b="b" t="t" l="l"/>
              <a:pathLst>
                <a:path h="4754880" w="7071360">
                  <a:moveTo>
                    <a:pt x="0" y="0"/>
                  </a:moveTo>
                  <a:lnTo>
                    <a:pt x="7071360" y="0"/>
                  </a:lnTo>
                  <a:lnTo>
                    <a:pt x="7071360" y="4754880"/>
                  </a:lnTo>
                  <a:lnTo>
                    <a:pt x="0" y="4754880"/>
                  </a:lnTo>
                  <a:close/>
                </a:path>
              </a:pathLst>
            </a:custGeom>
            <a:solidFill>
              <a:srgbClr val="E0F2FE"/>
            </a:solidFill>
          </p:spPr>
        </p:sp>
        <p:sp>
          <p:nvSpPr>
            <p:cNvPr name="Freeform 8" id="8"/>
            <p:cNvSpPr/>
            <p:nvPr/>
          </p:nvSpPr>
          <p:spPr>
            <a:xfrm flipH="false" flipV="false" rot="0">
              <a:off x="0" y="0"/>
              <a:ext cx="7098538" cy="4782058"/>
            </a:xfrm>
            <a:custGeom>
              <a:avLst/>
              <a:gdLst/>
              <a:ahLst/>
              <a:cxnLst/>
              <a:rect r="r" b="b" t="t" l="l"/>
              <a:pathLst>
                <a:path h="4782058" w="7098538">
                  <a:moveTo>
                    <a:pt x="13589" y="0"/>
                  </a:moveTo>
                  <a:lnTo>
                    <a:pt x="7084949" y="0"/>
                  </a:lnTo>
                  <a:cubicBezTo>
                    <a:pt x="7092442" y="0"/>
                    <a:pt x="7098538" y="6096"/>
                    <a:pt x="7098538" y="13589"/>
                  </a:cubicBezTo>
                  <a:lnTo>
                    <a:pt x="7098538" y="4768469"/>
                  </a:lnTo>
                  <a:cubicBezTo>
                    <a:pt x="7098538" y="4775962"/>
                    <a:pt x="7092442" y="4782058"/>
                    <a:pt x="7084949" y="4782058"/>
                  </a:cubicBezTo>
                  <a:lnTo>
                    <a:pt x="13589" y="4782058"/>
                  </a:lnTo>
                  <a:cubicBezTo>
                    <a:pt x="6096" y="4782058"/>
                    <a:pt x="0" y="4775962"/>
                    <a:pt x="0" y="4768469"/>
                  </a:cubicBezTo>
                  <a:lnTo>
                    <a:pt x="0" y="13589"/>
                  </a:lnTo>
                  <a:cubicBezTo>
                    <a:pt x="0" y="6096"/>
                    <a:pt x="6096" y="0"/>
                    <a:pt x="13589" y="0"/>
                  </a:cubicBezTo>
                  <a:moveTo>
                    <a:pt x="13589" y="27051"/>
                  </a:moveTo>
                  <a:lnTo>
                    <a:pt x="13589" y="13589"/>
                  </a:lnTo>
                  <a:lnTo>
                    <a:pt x="27051" y="13589"/>
                  </a:lnTo>
                  <a:lnTo>
                    <a:pt x="27051" y="4768469"/>
                  </a:lnTo>
                  <a:lnTo>
                    <a:pt x="13589" y="4768469"/>
                  </a:lnTo>
                  <a:lnTo>
                    <a:pt x="13589" y="4754880"/>
                  </a:lnTo>
                  <a:lnTo>
                    <a:pt x="7084949" y="4754880"/>
                  </a:lnTo>
                  <a:lnTo>
                    <a:pt x="7084949" y="4768469"/>
                  </a:lnTo>
                  <a:lnTo>
                    <a:pt x="7071360" y="4768469"/>
                  </a:lnTo>
                  <a:lnTo>
                    <a:pt x="7071360" y="13589"/>
                  </a:lnTo>
                  <a:lnTo>
                    <a:pt x="7084949" y="13589"/>
                  </a:lnTo>
                  <a:lnTo>
                    <a:pt x="7084949" y="27051"/>
                  </a:lnTo>
                  <a:lnTo>
                    <a:pt x="13589" y="27051"/>
                  </a:lnTo>
                  <a:close/>
                </a:path>
              </a:pathLst>
            </a:custGeom>
            <a:solidFill>
              <a:srgbClr val="0EA5E9"/>
            </a:solidFill>
          </p:spPr>
        </p:sp>
      </p:grpSp>
      <p:grpSp>
        <p:nvGrpSpPr>
          <p:cNvPr name="Group 9" id="9"/>
          <p:cNvGrpSpPr/>
          <p:nvPr/>
        </p:nvGrpSpPr>
        <p:grpSpPr>
          <a:xfrm rot="0">
            <a:off x="810263" y="2218439"/>
            <a:ext cx="976379" cy="3591563"/>
            <a:chOff x="0" y="0"/>
            <a:chExt cx="1301839" cy="4788751"/>
          </a:xfrm>
        </p:grpSpPr>
        <p:sp>
          <p:nvSpPr>
            <p:cNvPr name="Freeform 10" id="10"/>
            <p:cNvSpPr/>
            <p:nvPr/>
          </p:nvSpPr>
          <p:spPr>
            <a:xfrm flipH="false" flipV="false" rot="0">
              <a:off x="16891" y="16891"/>
              <a:ext cx="1267968" cy="4754880"/>
            </a:xfrm>
            <a:custGeom>
              <a:avLst/>
              <a:gdLst/>
              <a:ahLst/>
              <a:cxnLst/>
              <a:rect r="r" b="b" t="t" l="l"/>
              <a:pathLst>
                <a:path h="4754880" w="1267968">
                  <a:moveTo>
                    <a:pt x="0" y="0"/>
                  </a:moveTo>
                  <a:lnTo>
                    <a:pt x="1267968" y="0"/>
                  </a:lnTo>
                  <a:lnTo>
                    <a:pt x="1267968" y="4754880"/>
                  </a:lnTo>
                  <a:lnTo>
                    <a:pt x="0" y="4754880"/>
                  </a:lnTo>
                  <a:close/>
                </a:path>
              </a:pathLst>
            </a:custGeom>
            <a:solidFill>
              <a:srgbClr val="0EA5E9"/>
            </a:solidFill>
          </p:spPr>
        </p:sp>
        <p:sp>
          <p:nvSpPr>
            <p:cNvPr name="Freeform 11" id="11"/>
            <p:cNvSpPr/>
            <p:nvPr/>
          </p:nvSpPr>
          <p:spPr>
            <a:xfrm flipH="false" flipV="false" rot="0">
              <a:off x="0" y="0"/>
              <a:ext cx="1301750" cy="4788662"/>
            </a:xfrm>
            <a:custGeom>
              <a:avLst/>
              <a:gdLst/>
              <a:ahLst/>
              <a:cxnLst/>
              <a:rect r="r" b="b" t="t" l="l"/>
              <a:pathLst>
                <a:path h="4788662" w="1301750">
                  <a:moveTo>
                    <a:pt x="16891" y="0"/>
                  </a:moveTo>
                  <a:lnTo>
                    <a:pt x="1284859" y="0"/>
                  </a:lnTo>
                  <a:cubicBezTo>
                    <a:pt x="1294257" y="0"/>
                    <a:pt x="1301750" y="7620"/>
                    <a:pt x="1301750" y="16891"/>
                  </a:cubicBezTo>
                  <a:lnTo>
                    <a:pt x="1301750" y="4771771"/>
                  </a:lnTo>
                  <a:cubicBezTo>
                    <a:pt x="1301750" y="4781169"/>
                    <a:pt x="1294130" y="4788662"/>
                    <a:pt x="1284859"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284859" y="4754880"/>
                  </a:lnTo>
                  <a:lnTo>
                    <a:pt x="1284859" y="4771771"/>
                  </a:lnTo>
                  <a:lnTo>
                    <a:pt x="1267968" y="4771771"/>
                  </a:lnTo>
                  <a:lnTo>
                    <a:pt x="1267968" y="16891"/>
                  </a:lnTo>
                  <a:lnTo>
                    <a:pt x="1284859" y="16891"/>
                  </a:lnTo>
                  <a:lnTo>
                    <a:pt x="1284859" y="33909"/>
                  </a:lnTo>
                  <a:lnTo>
                    <a:pt x="16891" y="33909"/>
                  </a:lnTo>
                  <a:close/>
                </a:path>
              </a:pathLst>
            </a:custGeom>
            <a:solidFill>
              <a:srgbClr val="0EA5E9"/>
            </a:solidFill>
          </p:spPr>
        </p:sp>
      </p:grpSp>
      <p:grpSp>
        <p:nvGrpSpPr>
          <p:cNvPr name="Group 12" id="12"/>
          <p:cNvGrpSpPr/>
          <p:nvPr/>
        </p:nvGrpSpPr>
        <p:grpSpPr>
          <a:xfrm rot="0">
            <a:off x="822960" y="3621024"/>
            <a:ext cx="950976" cy="768096"/>
            <a:chOff x="0" y="0"/>
            <a:chExt cx="1267968" cy="1024128"/>
          </a:xfrm>
        </p:grpSpPr>
        <p:sp>
          <p:nvSpPr>
            <p:cNvPr name="Freeform 13" id="13"/>
            <p:cNvSpPr/>
            <p:nvPr/>
          </p:nvSpPr>
          <p:spPr>
            <a:xfrm flipH="false" flipV="false" rot="0">
              <a:off x="0" y="0"/>
              <a:ext cx="1267968" cy="1024128"/>
            </a:xfrm>
            <a:custGeom>
              <a:avLst/>
              <a:gdLst/>
              <a:ahLst/>
              <a:cxnLst/>
              <a:rect r="r" b="b" t="t" l="l"/>
              <a:pathLst>
                <a:path h="1024128" w="1267968">
                  <a:moveTo>
                    <a:pt x="0" y="0"/>
                  </a:moveTo>
                  <a:lnTo>
                    <a:pt x="1267968" y="0"/>
                  </a:lnTo>
                  <a:lnTo>
                    <a:pt x="1267968" y="1024128"/>
                  </a:lnTo>
                  <a:lnTo>
                    <a:pt x="0" y="1024128"/>
                  </a:lnTo>
                  <a:close/>
                </a:path>
              </a:pathLst>
            </a:custGeom>
            <a:blipFill>
              <a:blip r:embed="rId2">
                <a:alphaModFix amt="0"/>
              </a:blip>
              <a:stretch>
                <a:fillRect l="-53629" t="0" r="-53629" b="0"/>
              </a:stretch>
            </a:blipFill>
          </p:spPr>
        </p:sp>
        <p:sp>
          <p:nvSpPr>
            <p:cNvPr name="TextBox 14" id="14"/>
            <p:cNvSpPr txBox="true"/>
            <p:nvPr/>
          </p:nvSpPr>
          <p:spPr>
            <a:xfrm>
              <a:off x="0" y="-66675"/>
              <a:ext cx="1267968" cy="1090803"/>
            </a:xfrm>
            <a:prstGeom prst="rect">
              <a:avLst/>
            </a:prstGeom>
          </p:spPr>
          <p:txBody>
            <a:bodyPr anchor="ctr" rtlCol="false" tIns="0" lIns="0" bIns="0" rIns="0"/>
            <a:lstStyle/>
            <a:p>
              <a:pPr algn="ctr">
                <a:lnSpc>
                  <a:spcPts val="3359"/>
                </a:lnSpc>
              </a:pPr>
              <a:r>
                <a:rPr lang="en-US" sz="2799" b="true">
                  <a:solidFill>
                    <a:srgbClr val="FFFFFF"/>
                  </a:solidFill>
                  <a:latin typeface="Agrandir Narrow Bold"/>
                  <a:ea typeface="Agrandir Narrow Bold"/>
                  <a:cs typeface="Agrandir Narrow Bold"/>
                  <a:sym typeface="Agrandir Narrow Bold"/>
                </a:rPr>
                <a:t>01</a:t>
              </a:r>
            </a:p>
          </p:txBody>
        </p:sp>
      </p:grpSp>
      <p:grpSp>
        <p:nvGrpSpPr>
          <p:cNvPr name="Group 15" id="15"/>
          <p:cNvGrpSpPr/>
          <p:nvPr/>
        </p:nvGrpSpPr>
        <p:grpSpPr>
          <a:xfrm rot="0">
            <a:off x="1956816" y="2450592"/>
            <a:ext cx="3986784" cy="877824"/>
            <a:chOff x="0" y="0"/>
            <a:chExt cx="5315712" cy="1170432"/>
          </a:xfrm>
        </p:grpSpPr>
        <p:sp>
          <p:nvSpPr>
            <p:cNvPr name="Freeform 16" id="16"/>
            <p:cNvSpPr/>
            <p:nvPr/>
          </p:nvSpPr>
          <p:spPr>
            <a:xfrm flipH="false" flipV="false" rot="0">
              <a:off x="0" y="0"/>
              <a:ext cx="5315712" cy="1170432"/>
            </a:xfrm>
            <a:custGeom>
              <a:avLst/>
              <a:gdLst/>
              <a:ahLst/>
              <a:cxnLst/>
              <a:rect r="r" b="b" t="t" l="l"/>
              <a:pathLst>
                <a:path h="1170432" w="5315712">
                  <a:moveTo>
                    <a:pt x="0" y="0"/>
                  </a:moveTo>
                  <a:lnTo>
                    <a:pt x="5315712" y="0"/>
                  </a:lnTo>
                  <a:lnTo>
                    <a:pt x="5315712" y="1170432"/>
                  </a:lnTo>
                  <a:lnTo>
                    <a:pt x="0" y="1170432"/>
                  </a:lnTo>
                  <a:close/>
                </a:path>
              </a:pathLst>
            </a:custGeom>
            <a:blipFill>
              <a:blip r:embed="rId2">
                <a:alphaModFix amt="0"/>
              </a:blip>
              <a:stretch>
                <a:fillRect l="0" t="-38494" r="0" b="-38494"/>
              </a:stretch>
            </a:blipFill>
          </p:spPr>
        </p:sp>
        <p:sp>
          <p:nvSpPr>
            <p:cNvPr name="TextBox 17" id="17"/>
            <p:cNvSpPr txBox="true"/>
            <p:nvPr/>
          </p:nvSpPr>
          <p:spPr>
            <a:xfrm>
              <a:off x="0" y="-95250"/>
              <a:ext cx="5315712" cy="1265682"/>
            </a:xfrm>
            <a:prstGeom prst="rect">
              <a:avLst/>
            </a:prstGeom>
          </p:spPr>
          <p:txBody>
            <a:bodyPr anchor="ctr" rtlCol="false" tIns="0" lIns="0" bIns="0" rIns="0"/>
            <a:lstStyle/>
            <a:p>
              <a:pPr algn="l">
                <a:lnSpc>
                  <a:spcPts val="3719"/>
                </a:lnSpc>
              </a:pPr>
              <a:r>
                <a:rPr lang="en-US" sz="3099" b="true">
                  <a:solidFill>
                    <a:srgbClr val="0EA5E9"/>
                  </a:solidFill>
                  <a:latin typeface="Agrandir Narrow Bold"/>
                  <a:ea typeface="Agrandir Narrow Bold"/>
                  <a:cs typeface="Agrandir Narrow Bold"/>
                  <a:sym typeface="Agrandir Narrow Bold"/>
                </a:rPr>
                <a:t>Federated Learning</a:t>
              </a:r>
            </a:p>
          </p:txBody>
        </p:sp>
      </p:grpSp>
      <p:grpSp>
        <p:nvGrpSpPr>
          <p:cNvPr name="Group 18" id="18"/>
          <p:cNvGrpSpPr/>
          <p:nvPr/>
        </p:nvGrpSpPr>
        <p:grpSpPr>
          <a:xfrm rot="0">
            <a:off x="1956816" y="3401568"/>
            <a:ext cx="3986784" cy="2157984"/>
            <a:chOff x="0" y="0"/>
            <a:chExt cx="5315712" cy="2877312"/>
          </a:xfrm>
        </p:grpSpPr>
        <p:sp>
          <p:nvSpPr>
            <p:cNvPr name="Freeform 19" id="19"/>
            <p:cNvSpPr/>
            <p:nvPr/>
          </p:nvSpPr>
          <p:spPr>
            <a:xfrm flipH="false" flipV="false" rot="0">
              <a:off x="0" y="0"/>
              <a:ext cx="5315712" cy="2877312"/>
            </a:xfrm>
            <a:custGeom>
              <a:avLst/>
              <a:gdLst/>
              <a:ahLst/>
              <a:cxnLst/>
              <a:rect r="r" b="b" t="t" l="l"/>
              <a:pathLst>
                <a:path h="2877312" w="5315712">
                  <a:moveTo>
                    <a:pt x="0" y="0"/>
                  </a:moveTo>
                  <a:lnTo>
                    <a:pt x="5315712" y="0"/>
                  </a:lnTo>
                  <a:lnTo>
                    <a:pt x="5315712" y="2877312"/>
                  </a:lnTo>
                  <a:lnTo>
                    <a:pt x="0" y="2877312"/>
                  </a:lnTo>
                  <a:close/>
                </a:path>
              </a:pathLst>
            </a:custGeom>
            <a:blipFill>
              <a:blip r:embed="rId2">
                <a:alphaModFix amt="0"/>
              </a:blip>
              <a:stretch>
                <a:fillRect l="-19448" t="0" r="-19448" b="0"/>
              </a:stretch>
            </a:blipFill>
          </p:spPr>
        </p:sp>
        <p:sp>
          <p:nvSpPr>
            <p:cNvPr name="TextBox 20" id="20"/>
            <p:cNvSpPr txBox="true"/>
            <p:nvPr/>
          </p:nvSpPr>
          <p:spPr>
            <a:xfrm>
              <a:off x="0" y="-66675"/>
              <a:ext cx="5315712" cy="2943987"/>
            </a:xfrm>
            <a:prstGeom prst="rect">
              <a:avLst/>
            </a:prstGeom>
          </p:spPr>
          <p:txBody>
            <a:bodyPr anchor="ctr" rtlCol="false" tIns="0" lIns="0" bIns="0" rIns="0"/>
            <a:lstStyle/>
            <a:p>
              <a:pPr algn="l">
                <a:lnSpc>
                  <a:spcPts val="2759"/>
                </a:lnSpc>
              </a:pPr>
              <a:r>
                <a:rPr lang="en-US" sz="2299">
                  <a:solidFill>
                    <a:srgbClr val="000000"/>
                  </a:solidFill>
                  <a:latin typeface="Agrandir Narrow"/>
                  <a:ea typeface="Agrandir Narrow"/>
                  <a:cs typeface="Agrandir Narrow"/>
                  <a:sym typeface="Agrandir Narrow"/>
                </a:rPr>
                <a:t>Train the </a:t>
              </a:r>
              <a:r>
                <a:rPr lang="en-US" b="true" sz="2299">
                  <a:solidFill>
                    <a:srgbClr val="000000"/>
                  </a:solidFill>
                  <a:latin typeface="Agrandir Narrow Bold"/>
                  <a:ea typeface="Agrandir Narrow Bold"/>
                  <a:cs typeface="Agrandir Narrow Bold"/>
                  <a:sym typeface="Agrandir Narrow Bold"/>
                </a:rPr>
                <a:t>ML model</a:t>
              </a:r>
              <a:r>
                <a:rPr lang="en-US" sz="2299">
                  <a:solidFill>
                    <a:srgbClr val="000000"/>
                  </a:solidFill>
                  <a:latin typeface="Agrandir Narrow"/>
                  <a:ea typeface="Agrandir Narrow"/>
                  <a:cs typeface="Agrandir Narrow"/>
                  <a:sym typeface="Agrandir Narrow"/>
                </a:rPr>
                <a:t> across multiple banks without any raw user data leaving the institution. Privacy-preserving improvement at scale.</a:t>
              </a:r>
            </a:p>
          </p:txBody>
        </p:sp>
      </p:grpSp>
      <p:grpSp>
        <p:nvGrpSpPr>
          <p:cNvPr name="Group 21" id="21"/>
          <p:cNvGrpSpPr/>
          <p:nvPr/>
        </p:nvGrpSpPr>
        <p:grpSpPr>
          <a:xfrm rot="0">
            <a:off x="6427213" y="2220973"/>
            <a:ext cx="5323837" cy="3586477"/>
            <a:chOff x="0" y="0"/>
            <a:chExt cx="7098449" cy="4781969"/>
          </a:xfrm>
        </p:grpSpPr>
        <p:sp>
          <p:nvSpPr>
            <p:cNvPr name="Freeform 22" id="22"/>
            <p:cNvSpPr/>
            <p:nvPr/>
          </p:nvSpPr>
          <p:spPr>
            <a:xfrm flipH="false" flipV="false" rot="0">
              <a:off x="13589" y="13589"/>
              <a:ext cx="7071360" cy="4754880"/>
            </a:xfrm>
            <a:custGeom>
              <a:avLst/>
              <a:gdLst/>
              <a:ahLst/>
              <a:cxnLst/>
              <a:rect r="r" b="b" t="t" l="l"/>
              <a:pathLst>
                <a:path h="4754880" w="7071360">
                  <a:moveTo>
                    <a:pt x="0" y="0"/>
                  </a:moveTo>
                  <a:lnTo>
                    <a:pt x="7071360" y="0"/>
                  </a:lnTo>
                  <a:lnTo>
                    <a:pt x="7071360" y="4754880"/>
                  </a:lnTo>
                  <a:lnTo>
                    <a:pt x="0" y="4754880"/>
                  </a:lnTo>
                  <a:close/>
                </a:path>
              </a:pathLst>
            </a:custGeom>
            <a:solidFill>
              <a:srgbClr val="FFFFFF"/>
            </a:solidFill>
          </p:spPr>
        </p:sp>
        <p:sp>
          <p:nvSpPr>
            <p:cNvPr name="Freeform 23" id="23"/>
            <p:cNvSpPr/>
            <p:nvPr/>
          </p:nvSpPr>
          <p:spPr>
            <a:xfrm flipH="false" flipV="false" rot="0">
              <a:off x="0" y="0"/>
              <a:ext cx="7098538" cy="4782058"/>
            </a:xfrm>
            <a:custGeom>
              <a:avLst/>
              <a:gdLst/>
              <a:ahLst/>
              <a:cxnLst/>
              <a:rect r="r" b="b" t="t" l="l"/>
              <a:pathLst>
                <a:path h="4782058" w="7098538">
                  <a:moveTo>
                    <a:pt x="13589" y="0"/>
                  </a:moveTo>
                  <a:lnTo>
                    <a:pt x="7084949" y="0"/>
                  </a:lnTo>
                  <a:cubicBezTo>
                    <a:pt x="7092442" y="0"/>
                    <a:pt x="7098538" y="6096"/>
                    <a:pt x="7098538" y="13589"/>
                  </a:cubicBezTo>
                  <a:lnTo>
                    <a:pt x="7098538" y="4768469"/>
                  </a:lnTo>
                  <a:cubicBezTo>
                    <a:pt x="7098538" y="4775962"/>
                    <a:pt x="7092442" y="4782058"/>
                    <a:pt x="7084949" y="4782058"/>
                  </a:cubicBezTo>
                  <a:lnTo>
                    <a:pt x="13589" y="4782058"/>
                  </a:lnTo>
                  <a:cubicBezTo>
                    <a:pt x="6096" y="4782058"/>
                    <a:pt x="0" y="4775962"/>
                    <a:pt x="0" y="4768469"/>
                  </a:cubicBezTo>
                  <a:lnTo>
                    <a:pt x="0" y="13589"/>
                  </a:lnTo>
                  <a:cubicBezTo>
                    <a:pt x="0" y="6096"/>
                    <a:pt x="6096" y="0"/>
                    <a:pt x="13589" y="0"/>
                  </a:cubicBezTo>
                  <a:moveTo>
                    <a:pt x="13589" y="27051"/>
                  </a:moveTo>
                  <a:lnTo>
                    <a:pt x="13589" y="13589"/>
                  </a:lnTo>
                  <a:lnTo>
                    <a:pt x="27051" y="13589"/>
                  </a:lnTo>
                  <a:lnTo>
                    <a:pt x="27051" y="4768469"/>
                  </a:lnTo>
                  <a:lnTo>
                    <a:pt x="13589" y="4768469"/>
                  </a:lnTo>
                  <a:lnTo>
                    <a:pt x="13589" y="4754880"/>
                  </a:lnTo>
                  <a:lnTo>
                    <a:pt x="7084949" y="4754880"/>
                  </a:lnTo>
                  <a:lnTo>
                    <a:pt x="7084949" y="4768469"/>
                  </a:lnTo>
                  <a:lnTo>
                    <a:pt x="7071360" y="4768469"/>
                  </a:lnTo>
                  <a:lnTo>
                    <a:pt x="7071360" y="13589"/>
                  </a:lnTo>
                  <a:lnTo>
                    <a:pt x="7084949" y="13589"/>
                  </a:lnTo>
                  <a:lnTo>
                    <a:pt x="7084949" y="27051"/>
                  </a:lnTo>
                  <a:lnTo>
                    <a:pt x="13589" y="27051"/>
                  </a:lnTo>
                  <a:close/>
                </a:path>
              </a:pathLst>
            </a:custGeom>
            <a:solidFill>
              <a:srgbClr val="004AAD"/>
            </a:solidFill>
          </p:spPr>
        </p:sp>
      </p:grpSp>
      <p:grpSp>
        <p:nvGrpSpPr>
          <p:cNvPr name="Group 24" id="24"/>
          <p:cNvGrpSpPr/>
          <p:nvPr/>
        </p:nvGrpSpPr>
        <p:grpSpPr>
          <a:xfrm rot="0">
            <a:off x="6424679" y="2218439"/>
            <a:ext cx="976379" cy="3591563"/>
            <a:chOff x="0" y="0"/>
            <a:chExt cx="1301839" cy="4788751"/>
          </a:xfrm>
        </p:grpSpPr>
        <p:sp>
          <p:nvSpPr>
            <p:cNvPr name="Freeform 25" id="25"/>
            <p:cNvSpPr/>
            <p:nvPr/>
          </p:nvSpPr>
          <p:spPr>
            <a:xfrm flipH="false" flipV="false" rot="0">
              <a:off x="16891" y="16891"/>
              <a:ext cx="1267968" cy="4754880"/>
            </a:xfrm>
            <a:custGeom>
              <a:avLst/>
              <a:gdLst/>
              <a:ahLst/>
              <a:cxnLst/>
              <a:rect r="r" b="b" t="t" l="l"/>
              <a:pathLst>
                <a:path h="4754880" w="1267968">
                  <a:moveTo>
                    <a:pt x="0" y="0"/>
                  </a:moveTo>
                  <a:lnTo>
                    <a:pt x="1267968" y="0"/>
                  </a:lnTo>
                  <a:lnTo>
                    <a:pt x="1267968" y="4754880"/>
                  </a:lnTo>
                  <a:lnTo>
                    <a:pt x="0" y="4754880"/>
                  </a:lnTo>
                  <a:close/>
                </a:path>
              </a:pathLst>
            </a:custGeom>
            <a:solidFill>
              <a:srgbClr val="004AAD"/>
            </a:solidFill>
          </p:spPr>
        </p:sp>
        <p:sp>
          <p:nvSpPr>
            <p:cNvPr name="Freeform 26" id="26"/>
            <p:cNvSpPr/>
            <p:nvPr/>
          </p:nvSpPr>
          <p:spPr>
            <a:xfrm flipH="false" flipV="false" rot="0">
              <a:off x="0" y="0"/>
              <a:ext cx="1301750" cy="4788662"/>
            </a:xfrm>
            <a:custGeom>
              <a:avLst/>
              <a:gdLst/>
              <a:ahLst/>
              <a:cxnLst/>
              <a:rect r="r" b="b" t="t" l="l"/>
              <a:pathLst>
                <a:path h="4788662" w="1301750">
                  <a:moveTo>
                    <a:pt x="16891" y="0"/>
                  </a:moveTo>
                  <a:lnTo>
                    <a:pt x="1284859" y="0"/>
                  </a:lnTo>
                  <a:cubicBezTo>
                    <a:pt x="1294257" y="0"/>
                    <a:pt x="1301750" y="7620"/>
                    <a:pt x="1301750" y="16891"/>
                  </a:cubicBezTo>
                  <a:lnTo>
                    <a:pt x="1301750" y="4771771"/>
                  </a:lnTo>
                  <a:cubicBezTo>
                    <a:pt x="1301750" y="4781169"/>
                    <a:pt x="1294130" y="4788662"/>
                    <a:pt x="1284859"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284859" y="4754880"/>
                  </a:lnTo>
                  <a:lnTo>
                    <a:pt x="1284859" y="4771771"/>
                  </a:lnTo>
                  <a:lnTo>
                    <a:pt x="1267968" y="4771771"/>
                  </a:lnTo>
                  <a:lnTo>
                    <a:pt x="1267968" y="16891"/>
                  </a:lnTo>
                  <a:lnTo>
                    <a:pt x="1284859" y="16891"/>
                  </a:lnTo>
                  <a:lnTo>
                    <a:pt x="1284859" y="33909"/>
                  </a:lnTo>
                  <a:lnTo>
                    <a:pt x="16891" y="33909"/>
                  </a:lnTo>
                  <a:close/>
                </a:path>
              </a:pathLst>
            </a:custGeom>
            <a:solidFill>
              <a:srgbClr val="004AAD"/>
            </a:solidFill>
          </p:spPr>
        </p:sp>
      </p:grpSp>
      <p:grpSp>
        <p:nvGrpSpPr>
          <p:cNvPr name="Group 27" id="27"/>
          <p:cNvGrpSpPr/>
          <p:nvPr/>
        </p:nvGrpSpPr>
        <p:grpSpPr>
          <a:xfrm rot="0">
            <a:off x="6437376" y="3621024"/>
            <a:ext cx="950976" cy="768096"/>
            <a:chOff x="0" y="0"/>
            <a:chExt cx="1267968" cy="1024128"/>
          </a:xfrm>
        </p:grpSpPr>
        <p:sp>
          <p:nvSpPr>
            <p:cNvPr name="Freeform 28" id="28"/>
            <p:cNvSpPr/>
            <p:nvPr/>
          </p:nvSpPr>
          <p:spPr>
            <a:xfrm flipH="false" flipV="false" rot="0">
              <a:off x="0" y="0"/>
              <a:ext cx="1267968" cy="1024128"/>
            </a:xfrm>
            <a:custGeom>
              <a:avLst/>
              <a:gdLst/>
              <a:ahLst/>
              <a:cxnLst/>
              <a:rect r="r" b="b" t="t" l="l"/>
              <a:pathLst>
                <a:path h="1024128" w="1267968">
                  <a:moveTo>
                    <a:pt x="0" y="0"/>
                  </a:moveTo>
                  <a:lnTo>
                    <a:pt x="1267968" y="0"/>
                  </a:lnTo>
                  <a:lnTo>
                    <a:pt x="1267968" y="1024128"/>
                  </a:lnTo>
                  <a:lnTo>
                    <a:pt x="0" y="1024128"/>
                  </a:lnTo>
                  <a:close/>
                </a:path>
              </a:pathLst>
            </a:custGeom>
            <a:blipFill>
              <a:blip r:embed="rId2">
                <a:alphaModFix amt="0"/>
              </a:blip>
              <a:stretch>
                <a:fillRect l="-53629" t="0" r="-53629" b="0"/>
              </a:stretch>
            </a:blipFill>
          </p:spPr>
        </p:sp>
        <p:sp>
          <p:nvSpPr>
            <p:cNvPr name="TextBox 29" id="29"/>
            <p:cNvSpPr txBox="true"/>
            <p:nvPr/>
          </p:nvSpPr>
          <p:spPr>
            <a:xfrm>
              <a:off x="0" y="-66675"/>
              <a:ext cx="1267968" cy="1090803"/>
            </a:xfrm>
            <a:prstGeom prst="rect">
              <a:avLst/>
            </a:prstGeom>
          </p:spPr>
          <p:txBody>
            <a:bodyPr anchor="ctr" rtlCol="false" tIns="0" lIns="0" bIns="0" rIns="0"/>
            <a:lstStyle/>
            <a:p>
              <a:pPr algn="ctr">
                <a:lnSpc>
                  <a:spcPts val="3359"/>
                </a:lnSpc>
              </a:pPr>
              <a:r>
                <a:rPr lang="en-US" sz="2799" b="true">
                  <a:solidFill>
                    <a:srgbClr val="FFFFFF"/>
                  </a:solidFill>
                  <a:latin typeface="Agrandir Narrow Bold"/>
                  <a:ea typeface="Agrandir Narrow Bold"/>
                  <a:cs typeface="Agrandir Narrow Bold"/>
                  <a:sym typeface="Agrandir Narrow Bold"/>
                </a:rPr>
                <a:t>02</a:t>
              </a:r>
            </a:p>
          </p:txBody>
        </p:sp>
      </p:grpSp>
      <p:grpSp>
        <p:nvGrpSpPr>
          <p:cNvPr name="Group 30" id="30"/>
          <p:cNvGrpSpPr/>
          <p:nvPr/>
        </p:nvGrpSpPr>
        <p:grpSpPr>
          <a:xfrm rot="0">
            <a:off x="7571232" y="2450592"/>
            <a:ext cx="3986784" cy="1070064"/>
            <a:chOff x="0" y="0"/>
            <a:chExt cx="5315712" cy="1426752"/>
          </a:xfrm>
        </p:grpSpPr>
        <p:sp>
          <p:nvSpPr>
            <p:cNvPr name="Freeform 31" id="31"/>
            <p:cNvSpPr/>
            <p:nvPr/>
          </p:nvSpPr>
          <p:spPr>
            <a:xfrm flipH="false" flipV="false" rot="0">
              <a:off x="0" y="0"/>
              <a:ext cx="5315712" cy="1426752"/>
            </a:xfrm>
            <a:custGeom>
              <a:avLst/>
              <a:gdLst/>
              <a:ahLst/>
              <a:cxnLst/>
              <a:rect r="r" b="b" t="t" l="l"/>
              <a:pathLst>
                <a:path h="1426752" w="5315712">
                  <a:moveTo>
                    <a:pt x="0" y="0"/>
                  </a:moveTo>
                  <a:lnTo>
                    <a:pt x="5315712" y="0"/>
                  </a:lnTo>
                  <a:lnTo>
                    <a:pt x="5315712" y="1426752"/>
                  </a:lnTo>
                  <a:lnTo>
                    <a:pt x="0" y="1426752"/>
                  </a:lnTo>
                  <a:close/>
                </a:path>
              </a:pathLst>
            </a:custGeom>
            <a:blipFill>
              <a:blip r:embed="rId2">
                <a:alphaModFix amt="0"/>
              </a:blip>
              <a:stretch>
                <a:fillRect l="0" t="-31578" r="0" b="-13613"/>
              </a:stretch>
            </a:blipFill>
          </p:spPr>
        </p:sp>
        <p:sp>
          <p:nvSpPr>
            <p:cNvPr name="TextBox 32" id="32"/>
            <p:cNvSpPr txBox="true"/>
            <p:nvPr/>
          </p:nvSpPr>
          <p:spPr>
            <a:xfrm>
              <a:off x="0" y="-95250"/>
              <a:ext cx="5315712" cy="1522002"/>
            </a:xfrm>
            <a:prstGeom prst="rect">
              <a:avLst/>
            </a:prstGeom>
          </p:spPr>
          <p:txBody>
            <a:bodyPr anchor="ctr" rtlCol="false" tIns="0" lIns="0" bIns="0" rIns="0"/>
            <a:lstStyle/>
            <a:p>
              <a:pPr algn="l">
                <a:lnSpc>
                  <a:spcPts val="3719"/>
                </a:lnSpc>
              </a:pPr>
              <a:r>
                <a:rPr lang="en-US" b="true" sz="3099">
                  <a:solidFill>
                    <a:srgbClr val="000000"/>
                  </a:solidFill>
                  <a:latin typeface="Agrandir Narrow Bold"/>
                  <a:ea typeface="Agrandir Narrow Bold"/>
                  <a:cs typeface="Agrandir Narrow Bold"/>
                  <a:sym typeface="Agrandir Narrow Bold"/>
                </a:rPr>
                <a:t>Account Aggregator Integration</a:t>
              </a:r>
            </a:p>
          </p:txBody>
        </p:sp>
      </p:grpSp>
      <p:grpSp>
        <p:nvGrpSpPr>
          <p:cNvPr name="Group 33" id="33"/>
          <p:cNvGrpSpPr/>
          <p:nvPr/>
        </p:nvGrpSpPr>
        <p:grpSpPr>
          <a:xfrm rot="0">
            <a:off x="7571232" y="3401568"/>
            <a:ext cx="3986784" cy="2157984"/>
            <a:chOff x="0" y="0"/>
            <a:chExt cx="5315712" cy="2877312"/>
          </a:xfrm>
        </p:grpSpPr>
        <p:sp>
          <p:nvSpPr>
            <p:cNvPr name="Freeform 34" id="34"/>
            <p:cNvSpPr/>
            <p:nvPr/>
          </p:nvSpPr>
          <p:spPr>
            <a:xfrm flipH="false" flipV="false" rot="0">
              <a:off x="0" y="0"/>
              <a:ext cx="5315712" cy="2877312"/>
            </a:xfrm>
            <a:custGeom>
              <a:avLst/>
              <a:gdLst/>
              <a:ahLst/>
              <a:cxnLst/>
              <a:rect r="r" b="b" t="t" l="l"/>
              <a:pathLst>
                <a:path h="2877312" w="5315712">
                  <a:moveTo>
                    <a:pt x="0" y="0"/>
                  </a:moveTo>
                  <a:lnTo>
                    <a:pt x="5315712" y="0"/>
                  </a:lnTo>
                  <a:lnTo>
                    <a:pt x="5315712" y="2877312"/>
                  </a:lnTo>
                  <a:lnTo>
                    <a:pt x="0" y="2877312"/>
                  </a:lnTo>
                  <a:close/>
                </a:path>
              </a:pathLst>
            </a:custGeom>
            <a:blipFill>
              <a:blip r:embed="rId2">
                <a:alphaModFix amt="0"/>
              </a:blip>
              <a:stretch>
                <a:fillRect l="-19448" t="0" r="-19448" b="0"/>
              </a:stretch>
            </a:blipFill>
          </p:spPr>
        </p:sp>
        <p:sp>
          <p:nvSpPr>
            <p:cNvPr name="TextBox 35" id="35"/>
            <p:cNvSpPr txBox="true"/>
            <p:nvPr/>
          </p:nvSpPr>
          <p:spPr>
            <a:xfrm>
              <a:off x="0" y="-66675"/>
              <a:ext cx="5315712" cy="2943987"/>
            </a:xfrm>
            <a:prstGeom prst="rect">
              <a:avLst/>
            </a:prstGeom>
          </p:spPr>
          <p:txBody>
            <a:bodyPr anchor="ctr" rtlCol="false" tIns="0" lIns="0" bIns="0" rIns="0"/>
            <a:lstStyle/>
            <a:p>
              <a:pPr algn="l">
                <a:lnSpc>
                  <a:spcPts val="2759"/>
                </a:lnSpc>
              </a:pPr>
              <a:r>
                <a:rPr lang="en-US" sz="2299">
                  <a:solidFill>
                    <a:srgbClr val="000000"/>
                  </a:solidFill>
                  <a:latin typeface="Agrandir Narrow"/>
                  <a:ea typeface="Agrandir Narrow"/>
                  <a:cs typeface="Agrandir Narrow"/>
                  <a:sym typeface="Agrandir Narrow"/>
                </a:rPr>
                <a:t>Pull </a:t>
              </a:r>
              <a:r>
                <a:rPr lang="en-US" b="true" sz="2299">
                  <a:solidFill>
                    <a:srgbClr val="000000"/>
                  </a:solidFill>
                  <a:latin typeface="Agrandir Narrow Bold"/>
                  <a:ea typeface="Agrandir Narrow Bold"/>
                  <a:cs typeface="Agrandir Narrow Bold"/>
                  <a:sym typeface="Agrandir Narrow Bold"/>
                </a:rPr>
                <a:t>consented financial data</a:t>
              </a:r>
              <a:r>
                <a:rPr lang="en-US" sz="2299">
                  <a:solidFill>
                    <a:srgbClr val="000000"/>
                  </a:solidFill>
                  <a:latin typeface="Agrandir Narrow"/>
                  <a:ea typeface="Agrandir Narrow"/>
                  <a:cs typeface="Agrandir Narrow"/>
                  <a:sym typeface="Agrandir Narrow"/>
                </a:rPr>
                <a:t> via </a:t>
              </a:r>
              <a:r>
                <a:rPr lang="en-US" b="true" sz="2299">
                  <a:solidFill>
                    <a:srgbClr val="000000"/>
                  </a:solidFill>
                  <a:latin typeface="Agrandir Narrow Bold"/>
                  <a:ea typeface="Agrandir Narrow Bold"/>
                  <a:cs typeface="Agrandir Narrow Bold"/>
                  <a:sym typeface="Agrandir Narrow Bold"/>
                </a:rPr>
                <a:t>RBI's official </a:t>
              </a:r>
              <a:r>
                <a:rPr lang="en-US" sz="2299">
                  <a:solidFill>
                    <a:srgbClr val="000000"/>
                  </a:solidFill>
                  <a:latin typeface="Agrandir Narrow"/>
                  <a:ea typeface="Agrandir Narrow"/>
                  <a:cs typeface="Agrandir Narrow"/>
                  <a:sym typeface="Agrandir Narrow"/>
                </a:rPr>
                <a:t>AA framework for real-time, verified bank feed data in production.</a:t>
              </a:r>
            </a:p>
          </p:txBody>
        </p:sp>
      </p:grpSp>
      <p:grpSp>
        <p:nvGrpSpPr>
          <p:cNvPr name="Group 36" id="36"/>
          <p:cNvGrpSpPr/>
          <p:nvPr/>
        </p:nvGrpSpPr>
        <p:grpSpPr>
          <a:xfrm rot="0">
            <a:off x="12041629" y="2220973"/>
            <a:ext cx="5323837" cy="3586477"/>
            <a:chOff x="0" y="0"/>
            <a:chExt cx="7098449" cy="4781969"/>
          </a:xfrm>
        </p:grpSpPr>
        <p:sp>
          <p:nvSpPr>
            <p:cNvPr name="Freeform 37" id="37"/>
            <p:cNvSpPr/>
            <p:nvPr/>
          </p:nvSpPr>
          <p:spPr>
            <a:xfrm flipH="false" flipV="false" rot="0">
              <a:off x="13589" y="13589"/>
              <a:ext cx="7071360" cy="4754880"/>
            </a:xfrm>
            <a:custGeom>
              <a:avLst/>
              <a:gdLst/>
              <a:ahLst/>
              <a:cxnLst/>
              <a:rect r="r" b="b" t="t" l="l"/>
              <a:pathLst>
                <a:path h="4754880" w="7071360">
                  <a:moveTo>
                    <a:pt x="0" y="0"/>
                  </a:moveTo>
                  <a:lnTo>
                    <a:pt x="7071360" y="0"/>
                  </a:lnTo>
                  <a:lnTo>
                    <a:pt x="7071360" y="4754880"/>
                  </a:lnTo>
                  <a:lnTo>
                    <a:pt x="0" y="4754880"/>
                  </a:lnTo>
                  <a:close/>
                </a:path>
              </a:pathLst>
            </a:custGeom>
            <a:solidFill>
              <a:srgbClr val="FEF3C7"/>
            </a:solidFill>
          </p:spPr>
        </p:sp>
        <p:sp>
          <p:nvSpPr>
            <p:cNvPr name="Freeform 38" id="38"/>
            <p:cNvSpPr/>
            <p:nvPr/>
          </p:nvSpPr>
          <p:spPr>
            <a:xfrm flipH="false" flipV="false" rot="0">
              <a:off x="0" y="0"/>
              <a:ext cx="7098538" cy="4782058"/>
            </a:xfrm>
            <a:custGeom>
              <a:avLst/>
              <a:gdLst/>
              <a:ahLst/>
              <a:cxnLst/>
              <a:rect r="r" b="b" t="t" l="l"/>
              <a:pathLst>
                <a:path h="4782058" w="7098538">
                  <a:moveTo>
                    <a:pt x="13589" y="0"/>
                  </a:moveTo>
                  <a:lnTo>
                    <a:pt x="7084949" y="0"/>
                  </a:lnTo>
                  <a:cubicBezTo>
                    <a:pt x="7092442" y="0"/>
                    <a:pt x="7098538" y="6096"/>
                    <a:pt x="7098538" y="13589"/>
                  </a:cubicBezTo>
                  <a:lnTo>
                    <a:pt x="7098538" y="4768469"/>
                  </a:lnTo>
                  <a:cubicBezTo>
                    <a:pt x="7098538" y="4775962"/>
                    <a:pt x="7092442" y="4782058"/>
                    <a:pt x="7084949" y="4782058"/>
                  </a:cubicBezTo>
                  <a:lnTo>
                    <a:pt x="13589" y="4782058"/>
                  </a:lnTo>
                  <a:cubicBezTo>
                    <a:pt x="6096" y="4782058"/>
                    <a:pt x="0" y="4775962"/>
                    <a:pt x="0" y="4768469"/>
                  </a:cubicBezTo>
                  <a:lnTo>
                    <a:pt x="0" y="13589"/>
                  </a:lnTo>
                  <a:cubicBezTo>
                    <a:pt x="0" y="6096"/>
                    <a:pt x="6096" y="0"/>
                    <a:pt x="13589" y="0"/>
                  </a:cubicBezTo>
                  <a:moveTo>
                    <a:pt x="13589" y="27051"/>
                  </a:moveTo>
                  <a:lnTo>
                    <a:pt x="13589" y="13589"/>
                  </a:lnTo>
                  <a:lnTo>
                    <a:pt x="27051" y="13589"/>
                  </a:lnTo>
                  <a:lnTo>
                    <a:pt x="27051" y="4768469"/>
                  </a:lnTo>
                  <a:lnTo>
                    <a:pt x="13589" y="4768469"/>
                  </a:lnTo>
                  <a:lnTo>
                    <a:pt x="13589" y="4754880"/>
                  </a:lnTo>
                  <a:lnTo>
                    <a:pt x="7084949" y="4754880"/>
                  </a:lnTo>
                  <a:lnTo>
                    <a:pt x="7084949" y="4768469"/>
                  </a:lnTo>
                  <a:lnTo>
                    <a:pt x="7071360" y="4768469"/>
                  </a:lnTo>
                  <a:lnTo>
                    <a:pt x="7071360" y="13589"/>
                  </a:lnTo>
                  <a:lnTo>
                    <a:pt x="7084949" y="13589"/>
                  </a:lnTo>
                  <a:lnTo>
                    <a:pt x="7084949" y="27051"/>
                  </a:lnTo>
                  <a:lnTo>
                    <a:pt x="13589" y="27051"/>
                  </a:lnTo>
                  <a:close/>
                </a:path>
              </a:pathLst>
            </a:custGeom>
            <a:solidFill>
              <a:srgbClr val="D97706"/>
            </a:solidFill>
          </p:spPr>
        </p:sp>
      </p:grpSp>
      <p:grpSp>
        <p:nvGrpSpPr>
          <p:cNvPr name="Group 39" id="39"/>
          <p:cNvGrpSpPr/>
          <p:nvPr/>
        </p:nvGrpSpPr>
        <p:grpSpPr>
          <a:xfrm rot="0">
            <a:off x="12039095" y="2218439"/>
            <a:ext cx="976379" cy="3591563"/>
            <a:chOff x="0" y="0"/>
            <a:chExt cx="1301839" cy="4788751"/>
          </a:xfrm>
        </p:grpSpPr>
        <p:sp>
          <p:nvSpPr>
            <p:cNvPr name="Freeform 40" id="40"/>
            <p:cNvSpPr/>
            <p:nvPr/>
          </p:nvSpPr>
          <p:spPr>
            <a:xfrm flipH="false" flipV="false" rot="0">
              <a:off x="16891" y="16891"/>
              <a:ext cx="1267968" cy="4754880"/>
            </a:xfrm>
            <a:custGeom>
              <a:avLst/>
              <a:gdLst/>
              <a:ahLst/>
              <a:cxnLst/>
              <a:rect r="r" b="b" t="t" l="l"/>
              <a:pathLst>
                <a:path h="4754880" w="1267968">
                  <a:moveTo>
                    <a:pt x="0" y="0"/>
                  </a:moveTo>
                  <a:lnTo>
                    <a:pt x="1267968" y="0"/>
                  </a:lnTo>
                  <a:lnTo>
                    <a:pt x="1267968" y="4754880"/>
                  </a:lnTo>
                  <a:lnTo>
                    <a:pt x="0" y="4754880"/>
                  </a:lnTo>
                  <a:close/>
                </a:path>
              </a:pathLst>
            </a:custGeom>
            <a:solidFill>
              <a:srgbClr val="D97706"/>
            </a:solidFill>
          </p:spPr>
        </p:sp>
        <p:sp>
          <p:nvSpPr>
            <p:cNvPr name="Freeform 41" id="41"/>
            <p:cNvSpPr/>
            <p:nvPr/>
          </p:nvSpPr>
          <p:spPr>
            <a:xfrm flipH="false" flipV="false" rot="0">
              <a:off x="0" y="0"/>
              <a:ext cx="1301750" cy="4788662"/>
            </a:xfrm>
            <a:custGeom>
              <a:avLst/>
              <a:gdLst/>
              <a:ahLst/>
              <a:cxnLst/>
              <a:rect r="r" b="b" t="t" l="l"/>
              <a:pathLst>
                <a:path h="4788662" w="1301750">
                  <a:moveTo>
                    <a:pt x="16891" y="0"/>
                  </a:moveTo>
                  <a:lnTo>
                    <a:pt x="1284859" y="0"/>
                  </a:lnTo>
                  <a:cubicBezTo>
                    <a:pt x="1294257" y="0"/>
                    <a:pt x="1301750" y="7620"/>
                    <a:pt x="1301750" y="16891"/>
                  </a:cubicBezTo>
                  <a:lnTo>
                    <a:pt x="1301750" y="4771771"/>
                  </a:lnTo>
                  <a:cubicBezTo>
                    <a:pt x="1301750" y="4781169"/>
                    <a:pt x="1294130" y="4788662"/>
                    <a:pt x="1284859"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284859" y="4754880"/>
                  </a:lnTo>
                  <a:lnTo>
                    <a:pt x="1284859" y="4771771"/>
                  </a:lnTo>
                  <a:lnTo>
                    <a:pt x="1267968" y="4771771"/>
                  </a:lnTo>
                  <a:lnTo>
                    <a:pt x="1267968" y="16891"/>
                  </a:lnTo>
                  <a:lnTo>
                    <a:pt x="1284859" y="16891"/>
                  </a:lnTo>
                  <a:lnTo>
                    <a:pt x="1284859" y="33909"/>
                  </a:lnTo>
                  <a:lnTo>
                    <a:pt x="16891" y="33909"/>
                  </a:lnTo>
                  <a:close/>
                </a:path>
              </a:pathLst>
            </a:custGeom>
            <a:solidFill>
              <a:srgbClr val="D97706"/>
            </a:solidFill>
          </p:spPr>
        </p:sp>
      </p:grpSp>
      <p:grpSp>
        <p:nvGrpSpPr>
          <p:cNvPr name="Group 42" id="42"/>
          <p:cNvGrpSpPr/>
          <p:nvPr/>
        </p:nvGrpSpPr>
        <p:grpSpPr>
          <a:xfrm rot="0">
            <a:off x="12051792" y="3621024"/>
            <a:ext cx="950976" cy="768096"/>
            <a:chOff x="0" y="0"/>
            <a:chExt cx="1267968" cy="1024128"/>
          </a:xfrm>
        </p:grpSpPr>
        <p:sp>
          <p:nvSpPr>
            <p:cNvPr name="Freeform 43" id="43"/>
            <p:cNvSpPr/>
            <p:nvPr/>
          </p:nvSpPr>
          <p:spPr>
            <a:xfrm flipH="false" flipV="false" rot="0">
              <a:off x="0" y="0"/>
              <a:ext cx="1267968" cy="1024128"/>
            </a:xfrm>
            <a:custGeom>
              <a:avLst/>
              <a:gdLst/>
              <a:ahLst/>
              <a:cxnLst/>
              <a:rect r="r" b="b" t="t" l="l"/>
              <a:pathLst>
                <a:path h="1024128" w="1267968">
                  <a:moveTo>
                    <a:pt x="0" y="0"/>
                  </a:moveTo>
                  <a:lnTo>
                    <a:pt x="1267968" y="0"/>
                  </a:lnTo>
                  <a:lnTo>
                    <a:pt x="1267968" y="1024128"/>
                  </a:lnTo>
                  <a:lnTo>
                    <a:pt x="0" y="1024128"/>
                  </a:lnTo>
                  <a:close/>
                </a:path>
              </a:pathLst>
            </a:custGeom>
            <a:blipFill>
              <a:blip r:embed="rId2">
                <a:alphaModFix amt="0"/>
              </a:blip>
              <a:stretch>
                <a:fillRect l="-53629" t="0" r="-53629" b="0"/>
              </a:stretch>
            </a:blipFill>
          </p:spPr>
        </p:sp>
        <p:sp>
          <p:nvSpPr>
            <p:cNvPr name="TextBox 44" id="44"/>
            <p:cNvSpPr txBox="true"/>
            <p:nvPr/>
          </p:nvSpPr>
          <p:spPr>
            <a:xfrm>
              <a:off x="0" y="-66675"/>
              <a:ext cx="1267968" cy="1090803"/>
            </a:xfrm>
            <a:prstGeom prst="rect">
              <a:avLst/>
            </a:prstGeom>
          </p:spPr>
          <p:txBody>
            <a:bodyPr anchor="ctr" rtlCol="false" tIns="0" lIns="0" bIns="0" rIns="0"/>
            <a:lstStyle/>
            <a:p>
              <a:pPr algn="ctr">
                <a:lnSpc>
                  <a:spcPts val="3359"/>
                </a:lnSpc>
              </a:pPr>
              <a:r>
                <a:rPr lang="en-US" sz="2799" b="true">
                  <a:solidFill>
                    <a:srgbClr val="FFFFFF"/>
                  </a:solidFill>
                  <a:latin typeface="Agrandir Narrow Bold"/>
                  <a:ea typeface="Agrandir Narrow Bold"/>
                  <a:cs typeface="Agrandir Narrow Bold"/>
                  <a:sym typeface="Agrandir Narrow Bold"/>
                </a:rPr>
                <a:t>03</a:t>
              </a:r>
            </a:p>
          </p:txBody>
        </p:sp>
      </p:grpSp>
      <p:grpSp>
        <p:nvGrpSpPr>
          <p:cNvPr name="Group 45" id="45"/>
          <p:cNvGrpSpPr/>
          <p:nvPr/>
        </p:nvGrpSpPr>
        <p:grpSpPr>
          <a:xfrm rot="0">
            <a:off x="13185648" y="2450592"/>
            <a:ext cx="3986784" cy="877824"/>
            <a:chOff x="0" y="0"/>
            <a:chExt cx="5315712" cy="1170432"/>
          </a:xfrm>
        </p:grpSpPr>
        <p:sp>
          <p:nvSpPr>
            <p:cNvPr name="Freeform 46" id="46"/>
            <p:cNvSpPr/>
            <p:nvPr/>
          </p:nvSpPr>
          <p:spPr>
            <a:xfrm flipH="false" flipV="false" rot="0">
              <a:off x="0" y="0"/>
              <a:ext cx="5315712" cy="1170432"/>
            </a:xfrm>
            <a:custGeom>
              <a:avLst/>
              <a:gdLst/>
              <a:ahLst/>
              <a:cxnLst/>
              <a:rect r="r" b="b" t="t" l="l"/>
              <a:pathLst>
                <a:path h="1170432" w="5315712">
                  <a:moveTo>
                    <a:pt x="0" y="0"/>
                  </a:moveTo>
                  <a:lnTo>
                    <a:pt x="5315712" y="0"/>
                  </a:lnTo>
                  <a:lnTo>
                    <a:pt x="5315712" y="1170432"/>
                  </a:lnTo>
                  <a:lnTo>
                    <a:pt x="0" y="1170432"/>
                  </a:lnTo>
                  <a:close/>
                </a:path>
              </a:pathLst>
            </a:custGeom>
            <a:blipFill>
              <a:blip r:embed="rId2">
                <a:alphaModFix amt="0"/>
              </a:blip>
              <a:stretch>
                <a:fillRect l="0" t="-38494" r="0" b="-38494"/>
              </a:stretch>
            </a:blipFill>
          </p:spPr>
        </p:sp>
        <p:sp>
          <p:nvSpPr>
            <p:cNvPr name="TextBox 47" id="47"/>
            <p:cNvSpPr txBox="true"/>
            <p:nvPr/>
          </p:nvSpPr>
          <p:spPr>
            <a:xfrm>
              <a:off x="0" y="-95250"/>
              <a:ext cx="5315712" cy="1265682"/>
            </a:xfrm>
            <a:prstGeom prst="rect">
              <a:avLst/>
            </a:prstGeom>
          </p:spPr>
          <p:txBody>
            <a:bodyPr anchor="ctr" rtlCol="false" tIns="0" lIns="0" bIns="0" rIns="0"/>
            <a:lstStyle/>
            <a:p>
              <a:pPr algn="l">
                <a:lnSpc>
                  <a:spcPts val="3719"/>
                </a:lnSpc>
              </a:pPr>
              <a:r>
                <a:rPr lang="en-US" sz="3099" b="true">
                  <a:solidFill>
                    <a:srgbClr val="D97706"/>
                  </a:solidFill>
                  <a:latin typeface="Agrandir Narrow Bold"/>
                  <a:ea typeface="Agrandir Narrow Bold"/>
                  <a:cs typeface="Agrandir Narrow Bold"/>
                  <a:sym typeface="Agrandir Narrow Bold"/>
                </a:rPr>
                <a:t>Loan Marketplace API</a:t>
              </a:r>
            </a:p>
          </p:txBody>
        </p:sp>
      </p:grpSp>
      <p:grpSp>
        <p:nvGrpSpPr>
          <p:cNvPr name="Group 48" id="48"/>
          <p:cNvGrpSpPr/>
          <p:nvPr/>
        </p:nvGrpSpPr>
        <p:grpSpPr>
          <a:xfrm rot="0">
            <a:off x="13185648" y="3401568"/>
            <a:ext cx="3986784" cy="2157984"/>
            <a:chOff x="0" y="0"/>
            <a:chExt cx="5315712" cy="2877312"/>
          </a:xfrm>
        </p:grpSpPr>
        <p:sp>
          <p:nvSpPr>
            <p:cNvPr name="Freeform 49" id="49"/>
            <p:cNvSpPr/>
            <p:nvPr/>
          </p:nvSpPr>
          <p:spPr>
            <a:xfrm flipH="false" flipV="false" rot="0">
              <a:off x="0" y="0"/>
              <a:ext cx="5315712" cy="2877312"/>
            </a:xfrm>
            <a:custGeom>
              <a:avLst/>
              <a:gdLst/>
              <a:ahLst/>
              <a:cxnLst/>
              <a:rect r="r" b="b" t="t" l="l"/>
              <a:pathLst>
                <a:path h="2877312" w="5315712">
                  <a:moveTo>
                    <a:pt x="0" y="0"/>
                  </a:moveTo>
                  <a:lnTo>
                    <a:pt x="5315712" y="0"/>
                  </a:lnTo>
                  <a:lnTo>
                    <a:pt x="5315712" y="2877312"/>
                  </a:lnTo>
                  <a:lnTo>
                    <a:pt x="0" y="2877312"/>
                  </a:lnTo>
                  <a:close/>
                </a:path>
              </a:pathLst>
            </a:custGeom>
            <a:blipFill>
              <a:blip r:embed="rId2">
                <a:alphaModFix amt="0"/>
              </a:blip>
              <a:stretch>
                <a:fillRect l="-19448" t="0" r="-19448" b="0"/>
              </a:stretch>
            </a:blipFill>
          </p:spPr>
        </p:sp>
        <p:sp>
          <p:nvSpPr>
            <p:cNvPr name="TextBox 50" id="50"/>
            <p:cNvSpPr txBox="true"/>
            <p:nvPr/>
          </p:nvSpPr>
          <p:spPr>
            <a:xfrm>
              <a:off x="0" y="-66675"/>
              <a:ext cx="5315712" cy="2943987"/>
            </a:xfrm>
            <a:prstGeom prst="rect">
              <a:avLst/>
            </a:prstGeom>
          </p:spPr>
          <p:txBody>
            <a:bodyPr anchor="ctr" rtlCol="false" tIns="0" lIns="0" bIns="0" rIns="0"/>
            <a:lstStyle/>
            <a:p>
              <a:pPr algn="l">
                <a:lnSpc>
                  <a:spcPts val="2759"/>
                </a:lnSpc>
              </a:pPr>
              <a:r>
                <a:rPr lang="en-US" sz="2299">
                  <a:solidFill>
                    <a:srgbClr val="000000"/>
                  </a:solidFill>
                  <a:latin typeface="Agrandir Narrow"/>
                  <a:ea typeface="Agrandir Narrow"/>
                  <a:cs typeface="Agrandir Narrow"/>
                  <a:sym typeface="Agrandir Narrow"/>
                </a:rPr>
                <a:t>Connect approved users directly to NBFC and bank partners. I</a:t>
              </a:r>
              <a:r>
                <a:rPr lang="en-US" b="true" sz="2299">
                  <a:solidFill>
                    <a:srgbClr val="000000"/>
                  </a:solidFill>
                  <a:latin typeface="Agrandir Narrow Bold"/>
                  <a:ea typeface="Agrandir Narrow Bold"/>
                  <a:cs typeface="Agrandir Narrow Bold"/>
                  <a:sym typeface="Agrandir Narrow Bold"/>
                </a:rPr>
                <a:t>nstant loan offers</a:t>
              </a:r>
              <a:r>
                <a:rPr lang="en-US" sz="2299">
                  <a:solidFill>
                    <a:srgbClr val="000000"/>
                  </a:solidFill>
                  <a:latin typeface="Agrandir Narrow"/>
                  <a:ea typeface="Agrandir Narrow"/>
                  <a:cs typeface="Agrandir Narrow"/>
                  <a:sym typeface="Agrandir Narrow"/>
                </a:rPr>
                <a:t> with pre-filled applications based on </a:t>
              </a:r>
              <a:r>
                <a:rPr lang="en-US" b="true" sz="2299">
                  <a:solidFill>
                    <a:srgbClr val="000000"/>
                  </a:solidFill>
                  <a:latin typeface="Agrandir Narrow Bold"/>
                  <a:ea typeface="Agrandir Narrow Bold"/>
                  <a:cs typeface="Agrandir Narrow Bold"/>
                  <a:sym typeface="Agrandir Narrow Bold"/>
                </a:rPr>
                <a:t>ICA score</a:t>
              </a:r>
              <a:r>
                <a:rPr lang="en-US" sz="2299">
                  <a:solidFill>
                    <a:srgbClr val="000000"/>
                  </a:solidFill>
                  <a:latin typeface="Agrandir Narrow"/>
                  <a:ea typeface="Agrandir Narrow"/>
                  <a:cs typeface="Agrandir Narrow"/>
                  <a:sym typeface="Agrandir Narrow"/>
                </a:rPr>
                <a:t>.</a:t>
              </a:r>
            </a:p>
          </p:txBody>
        </p:sp>
      </p:grpSp>
      <p:grpSp>
        <p:nvGrpSpPr>
          <p:cNvPr name="Group 51" id="51"/>
          <p:cNvGrpSpPr/>
          <p:nvPr/>
        </p:nvGrpSpPr>
        <p:grpSpPr>
          <a:xfrm rot="0">
            <a:off x="812797" y="5988301"/>
            <a:ext cx="5323837" cy="3586477"/>
            <a:chOff x="0" y="0"/>
            <a:chExt cx="7098449" cy="4781969"/>
          </a:xfrm>
        </p:grpSpPr>
        <p:sp>
          <p:nvSpPr>
            <p:cNvPr name="Freeform 52" id="52"/>
            <p:cNvSpPr/>
            <p:nvPr/>
          </p:nvSpPr>
          <p:spPr>
            <a:xfrm flipH="false" flipV="false" rot="0">
              <a:off x="13589" y="13589"/>
              <a:ext cx="7071360" cy="4754880"/>
            </a:xfrm>
            <a:custGeom>
              <a:avLst/>
              <a:gdLst/>
              <a:ahLst/>
              <a:cxnLst/>
              <a:rect r="r" b="b" t="t" l="l"/>
              <a:pathLst>
                <a:path h="4754880" w="7071360">
                  <a:moveTo>
                    <a:pt x="0" y="0"/>
                  </a:moveTo>
                  <a:lnTo>
                    <a:pt x="7071360" y="0"/>
                  </a:lnTo>
                  <a:lnTo>
                    <a:pt x="7071360" y="4754880"/>
                  </a:lnTo>
                  <a:lnTo>
                    <a:pt x="0" y="4754880"/>
                  </a:lnTo>
                  <a:close/>
                </a:path>
              </a:pathLst>
            </a:custGeom>
            <a:solidFill>
              <a:srgbClr val="FAF5FF"/>
            </a:solidFill>
          </p:spPr>
        </p:sp>
        <p:sp>
          <p:nvSpPr>
            <p:cNvPr name="Freeform 53" id="53"/>
            <p:cNvSpPr/>
            <p:nvPr/>
          </p:nvSpPr>
          <p:spPr>
            <a:xfrm flipH="false" flipV="false" rot="0">
              <a:off x="0" y="0"/>
              <a:ext cx="7098538" cy="4782058"/>
            </a:xfrm>
            <a:custGeom>
              <a:avLst/>
              <a:gdLst/>
              <a:ahLst/>
              <a:cxnLst/>
              <a:rect r="r" b="b" t="t" l="l"/>
              <a:pathLst>
                <a:path h="4782058" w="7098538">
                  <a:moveTo>
                    <a:pt x="13589" y="0"/>
                  </a:moveTo>
                  <a:lnTo>
                    <a:pt x="7084949" y="0"/>
                  </a:lnTo>
                  <a:cubicBezTo>
                    <a:pt x="7092442" y="0"/>
                    <a:pt x="7098538" y="6096"/>
                    <a:pt x="7098538" y="13589"/>
                  </a:cubicBezTo>
                  <a:lnTo>
                    <a:pt x="7098538" y="4768469"/>
                  </a:lnTo>
                  <a:cubicBezTo>
                    <a:pt x="7098538" y="4775962"/>
                    <a:pt x="7092442" y="4782058"/>
                    <a:pt x="7084949" y="4782058"/>
                  </a:cubicBezTo>
                  <a:lnTo>
                    <a:pt x="13589" y="4782058"/>
                  </a:lnTo>
                  <a:cubicBezTo>
                    <a:pt x="6096" y="4782058"/>
                    <a:pt x="0" y="4775962"/>
                    <a:pt x="0" y="4768469"/>
                  </a:cubicBezTo>
                  <a:lnTo>
                    <a:pt x="0" y="13589"/>
                  </a:lnTo>
                  <a:cubicBezTo>
                    <a:pt x="0" y="6096"/>
                    <a:pt x="6096" y="0"/>
                    <a:pt x="13589" y="0"/>
                  </a:cubicBezTo>
                  <a:moveTo>
                    <a:pt x="13589" y="27051"/>
                  </a:moveTo>
                  <a:lnTo>
                    <a:pt x="13589" y="13589"/>
                  </a:lnTo>
                  <a:lnTo>
                    <a:pt x="27051" y="13589"/>
                  </a:lnTo>
                  <a:lnTo>
                    <a:pt x="27051" y="4768469"/>
                  </a:lnTo>
                  <a:lnTo>
                    <a:pt x="13589" y="4768469"/>
                  </a:lnTo>
                  <a:lnTo>
                    <a:pt x="13589" y="4754880"/>
                  </a:lnTo>
                  <a:lnTo>
                    <a:pt x="7084949" y="4754880"/>
                  </a:lnTo>
                  <a:lnTo>
                    <a:pt x="7084949" y="4768469"/>
                  </a:lnTo>
                  <a:lnTo>
                    <a:pt x="7071360" y="4768469"/>
                  </a:lnTo>
                  <a:lnTo>
                    <a:pt x="7071360" y="13589"/>
                  </a:lnTo>
                  <a:lnTo>
                    <a:pt x="7084949" y="13589"/>
                  </a:lnTo>
                  <a:lnTo>
                    <a:pt x="7084949" y="27051"/>
                  </a:lnTo>
                  <a:lnTo>
                    <a:pt x="13589" y="27051"/>
                  </a:lnTo>
                  <a:close/>
                </a:path>
              </a:pathLst>
            </a:custGeom>
            <a:solidFill>
              <a:srgbClr val="7C3AED"/>
            </a:solidFill>
          </p:spPr>
        </p:sp>
      </p:grpSp>
      <p:grpSp>
        <p:nvGrpSpPr>
          <p:cNvPr name="Group 54" id="54"/>
          <p:cNvGrpSpPr/>
          <p:nvPr/>
        </p:nvGrpSpPr>
        <p:grpSpPr>
          <a:xfrm rot="0">
            <a:off x="810263" y="5985767"/>
            <a:ext cx="976379" cy="3591563"/>
            <a:chOff x="0" y="0"/>
            <a:chExt cx="1301839" cy="4788751"/>
          </a:xfrm>
        </p:grpSpPr>
        <p:sp>
          <p:nvSpPr>
            <p:cNvPr name="Freeform 55" id="55"/>
            <p:cNvSpPr/>
            <p:nvPr/>
          </p:nvSpPr>
          <p:spPr>
            <a:xfrm flipH="false" flipV="false" rot="0">
              <a:off x="16891" y="16891"/>
              <a:ext cx="1267968" cy="4754880"/>
            </a:xfrm>
            <a:custGeom>
              <a:avLst/>
              <a:gdLst/>
              <a:ahLst/>
              <a:cxnLst/>
              <a:rect r="r" b="b" t="t" l="l"/>
              <a:pathLst>
                <a:path h="4754880" w="1267968">
                  <a:moveTo>
                    <a:pt x="0" y="0"/>
                  </a:moveTo>
                  <a:lnTo>
                    <a:pt x="1267968" y="0"/>
                  </a:lnTo>
                  <a:lnTo>
                    <a:pt x="1267968" y="4754880"/>
                  </a:lnTo>
                  <a:lnTo>
                    <a:pt x="0" y="4754880"/>
                  </a:lnTo>
                  <a:close/>
                </a:path>
              </a:pathLst>
            </a:custGeom>
            <a:solidFill>
              <a:srgbClr val="7C3AED"/>
            </a:solidFill>
          </p:spPr>
        </p:sp>
        <p:sp>
          <p:nvSpPr>
            <p:cNvPr name="Freeform 56" id="56"/>
            <p:cNvSpPr/>
            <p:nvPr/>
          </p:nvSpPr>
          <p:spPr>
            <a:xfrm flipH="false" flipV="false" rot="0">
              <a:off x="0" y="0"/>
              <a:ext cx="1301750" cy="4788662"/>
            </a:xfrm>
            <a:custGeom>
              <a:avLst/>
              <a:gdLst/>
              <a:ahLst/>
              <a:cxnLst/>
              <a:rect r="r" b="b" t="t" l="l"/>
              <a:pathLst>
                <a:path h="4788662" w="1301750">
                  <a:moveTo>
                    <a:pt x="16891" y="0"/>
                  </a:moveTo>
                  <a:lnTo>
                    <a:pt x="1284859" y="0"/>
                  </a:lnTo>
                  <a:cubicBezTo>
                    <a:pt x="1294257" y="0"/>
                    <a:pt x="1301750" y="7620"/>
                    <a:pt x="1301750" y="16891"/>
                  </a:cubicBezTo>
                  <a:lnTo>
                    <a:pt x="1301750" y="4771771"/>
                  </a:lnTo>
                  <a:cubicBezTo>
                    <a:pt x="1301750" y="4781169"/>
                    <a:pt x="1294130" y="4788662"/>
                    <a:pt x="1284859"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284859" y="4754880"/>
                  </a:lnTo>
                  <a:lnTo>
                    <a:pt x="1284859" y="4771771"/>
                  </a:lnTo>
                  <a:lnTo>
                    <a:pt x="1267968" y="4771771"/>
                  </a:lnTo>
                  <a:lnTo>
                    <a:pt x="1267968" y="16891"/>
                  </a:lnTo>
                  <a:lnTo>
                    <a:pt x="1284859" y="16891"/>
                  </a:lnTo>
                  <a:lnTo>
                    <a:pt x="1284859" y="33909"/>
                  </a:lnTo>
                  <a:lnTo>
                    <a:pt x="16891" y="33909"/>
                  </a:lnTo>
                  <a:close/>
                </a:path>
              </a:pathLst>
            </a:custGeom>
            <a:solidFill>
              <a:srgbClr val="7C3AED"/>
            </a:solidFill>
          </p:spPr>
        </p:sp>
      </p:grpSp>
      <p:grpSp>
        <p:nvGrpSpPr>
          <p:cNvPr name="Group 57" id="57"/>
          <p:cNvGrpSpPr/>
          <p:nvPr/>
        </p:nvGrpSpPr>
        <p:grpSpPr>
          <a:xfrm rot="0">
            <a:off x="822960" y="7388352"/>
            <a:ext cx="950976" cy="768096"/>
            <a:chOff x="0" y="0"/>
            <a:chExt cx="1267968" cy="1024128"/>
          </a:xfrm>
        </p:grpSpPr>
        <p:sp>
          <p:nvSpPr>
            <p:cNvPr name="Freeform 58" id="58"/>
            <p:cNvSpPr/>
            <p:nvPr/>
          </p:nvSpPr>
          <p:spPr>
            <a:xfrm flipH="false" flipV="false" rot="0">
              <a:off x="0" y="0"/>
              <a:ext cx="1267968" cy="1024128"/>
            </a:xfrm>
            <a:custGeom>
              <a:avLst/>
              <a:gdLst/>
              <a:ahLst/>
              <a:cxnLst/>
              <a:rect r="r" b="b" t="t" l="l"/>
              <a:pathLst>
                <a:path h="1024128" w="1267968">
                  <a:moveTo>
                    <a:pt x="0" y="0"/>
                  </a:moveTo>
                  <a:lnTo>
                    <a:pt x="1267968" y="0"/>
                  </a:lnTo>
                  <a:lnTo>
                    <a:pt x="1267968" y="1024128"/>
                  </a:lnTo>
                  <a:lnTo>
                    <a:pt x="0" y="1024128"/>
                  </a:lnTo>
                  <a:close/>
                </a:path>
              </a:pathLst>
            </a:custGeom>
            <a:blipFill>
              <a:blip r:embed="rId2">
                <a:alphaModFix amt="0"/>
              </a:blip>
              <a:stretch>
                <a:fillRect l="-53629" t="0" r="-53629" b="0"/>
              </a:stretch>
            </a:blipFill>
          </p:spPr>
        </p:sp>
        <p:sp>
          <p:nvSpPr>
            <p:cNvPr name="TextBox 59" id="59"/>
            <p:cNvSpPr txBox="true"/>
            <p:nvPr/>
          </p:nvSpPr>
          <p:spPr>
            <a:xfrm>
              <a:off x="0" y="-66675"/>
              <a:ext cx="1267968" cy="1090803"/>
            </a:xfrm>
            <a:prstGeom prst="rect">
              <a:avLst/>
            </a:prstGeom>
          </p:spPr>
          <p:txBody>
            <a:bodyPr anchor="ctr" rtlCol="false" tIns="0" lIns="0" bIns="0" rIns="0"/>
            <a:lstStyle/>
            <a:p>
              <a:pPr algn="ctr">
                <a:lnSpc>
                  <a:spcPts val="3359"/>
                </a:lnSpc>
              </a:pPr>
              <a:r>
                <a:rPr lang="en-US" sz="2799" b="true">
                  <a:solidFill>
                    <a:srgbClr val="FFFFFF"/>
                  </a:solidFill>
                  <a:latin typeface="Agrandir Narrow Bold"/>
                  <a:ea typeface="Agrandir Narrow Bold"/>
                  <a:cs typeface="Agrandir Narrow Bold"/>
                  <a:sym typeface="Agrandir Narrow Bold"/>
                </a:rPr>
                <a:t>04</a:t>
              </a:r>
            </a:p>
          </p:txBody>
        </p:sp>
      </p:grpSp>
      <p:grpSp>
        <p:nvGrpSpPr>
          <p:cNvPr name="Group 60" id="60"/>
          <p:cNvGrpSpPr/>
          <p:nvPr/>
        </p:nvGrpSpPr>
        <p:grpSpPr>
          <a:xfrm rot="0">
            <a:off x="1956816" y="6217920"/>
            <a:ext cx="3986784" cy="1070064"/>
            <a:chOff x="0" y="0"/>
            <a:chExt cx="5315712" cy="1426752"/>
          </a:xfrm>
        </p:grpSpPr>
        <p:sp>
          <p:nvSpPr>
            <p:cNvPr name="Freeform 61" id="61"/>
            <p:cNvSpPr/>
            <p:nvPr/>
          </p:nvSpPr>
          <p:spPr>
            <a:xfrm flipH="false" flipV="false" rot="0">
              <a:off x="0" y="0"/>
              <a:ext cx="5315712" cy="1426752"/>
            </a:xfrm>
            <a:custGeom>
              <a:avLst/>
              <a:gdLst/>
              <a:ahLst/>
              <a:cxnLst/>
              <a:rect r="r" b="b" t="t" l="l"/>
              <a:pathLst>
                <a:path h="1426752" w="5315712">
                  <a:moveTo>
                    <a:pt x="0" y="0"/>
                  </a:moveTo>
                  <a:lnTo>
                    <a:pt x="5315712" y="0"/>
                  </a:lnTo>
                  <a:lnTo>
                    <a:pt x="5315712" y="1426752"/>
                  </a:lnTo>
                  <a:lnTo>
                    <a:pt x="0" y="1426752"/>
                  </a:lnTo>
                  <a:close/>
                </a:path>
              </a:pathLst>
            </a:custGeom>
            <a:blipFill>
              <a:blip r:embed="rId2">
                <a:alphaModFix amt="0"/>
              </a:blip>
              <a:stretch>
                <a:fillRect l="0" t="-31578" r="0" b="-13613"/>
              </a:stretch>
            </a:blipFill>
          </p:spPr>
        </p:sp>
        <p:sp>
          <p:nvSpPr>
            <p:cNvPr name="TextBox 62" id="62"/>
            <p:cNvSpPr txBox="true"/>
            <p:nvPr/>
          </p:nvSpPr>
          <p:spPr>
            <a:xfrm>
              <a:off x="0" y="-95250"/>
              <a:ext cx="5315712" cy="1522002"/>
            </a:xfrm>
            <a:prstGeom prst="rect">
              <a:avLst/>
            </a:prstGeom>
          </p:spPr>
          <p:txBody>
            <a:bodyPr anchor="ctr" rtlCol="false" tIns="0" lIns="0" bIns="0" rIns="0"/>
            <a:lstStyle/>
            <a:p>
              <a:pPr algn="l">
                <a:lnSpc>
                  <a:spcPts val="3719"/>
                </a:lnSpc>
              </a:pPr>
              <a:r>
                <a:rPr lang="en-US" sz="3099" b="true">
                  <a:solidFill>
                    <a:srgbClr val="7C3AED"/>
                  </a:solidFill>
                  <a:latin typeface="Agrandir Narrow Bold"/>
                  <a:ea typeface="Agrandir Narrow Bold"/>
                  <a:cs typeface="Agrandir Narrow Bold"/>
                  <a:sym typeface="Agrandir Narrow Bold"/>
                </a:rPr>
                <a:t>Continuous Score Updates</a:t>
              </a:r>
            </a:p>
          </p:txBody>
        </p:sp>
      </p:grpSp>
      <p:grpSp>
        <p:nvGrpSpPr>
          <p:cNvPr name="Group 63" id="63"/>
          <p:cNvGrpSpPr/>
          <p:nvPr/>
        </p:nvGrpSpPr>
        <p:grpSpPr>
          <a:xfrm rot="0">
            <a:off x="1956816" y="7168896"/>
            <a:ext cx="3986784" cy="2157984"/>
            <a:chOff x="0" y="0"/>
            <a:chExt cx="5315712" cy="2877312"/>
          </a:xfrm>
        </p:grpSpPr>
        <p:sp>
          <p:nvSpPr>
            <p:cNvPr name="Freeform 64" id="64"/>
            <p:cNvSpPr/>
            <p:nvPr/>
          </p:nvSpPr>
          <p:spPr>
            <a:xfrm flipH="false" flipV="false" rot="0">
              <a:off x="0" y="0"/>
              <a:ext cx="5315712" cy="2877312"/>
            </a:xfrm>
            <a:custGeom>
              <a:avLst/>
              <a:gdLst/>
              <a:ahLst/>
              <a:cxnLst/>
              <a:rect r="r" b="b" t="t" l="l"/>
              <a:pathLst>
                <a:path h="2877312" w="5315712">
                  <a:moveTo>
                    <a:pt x="0" y="0"/>
                  </a:moveTo>
                  <a:lnTo>
                    <a:pt x="5315712" y="0"/>
                  </a:lnTo>
                  <a:lnTo>
                    <a:pt x="5315712" y="2877312"/>
                  </a:lnTo>
                  <a:lnTo>
                    <a:pt x="0" y="2877312"/>
                  </a:lnTo>
                  <a:close/>
                </a:path>
              </a:pathLst>
            </a:custGeom>
            <a:blipFill>
              <a:blip r:embed="rId2">
                <a:alphaModFix amt="0"/>
              </a:blip>
              <a:stretch>
                <a:fillRect l="-19448" t="0" r="-19448" b="0"/>
              </a:stretch>
            </a:blipFill>
          </p:spPr>
        </p:sp>
        <p:sp>
          <p:nvSpPr>
            <p:cNvPr name="TextBox 65" id="65"/>
            <p:cNvSpPr txBox="true"/>
            <p:nvPr/>
          </p:nvSpPr>
          <p:spPr>
            <a:xfrm>
              <a:off x="0" y="-76200"/>
              <a:ext cx="5315712" cy="2953512"/>
            </a:xfrm>
            <a:prstGeom prst="rect">
              <a:avLst/>
            </a:prstGeom>
          </p:spPr>
          <p:txBody>
            <a:bodyPr anchor="ctr" rtlCol="false" tIns="0" lIns="0" bIns="0" rIns="0"/>
            <a:lstStyle/>
            <a:p>
              <a:pPr algn="l">
                <a:lnSpc>
                  <a:spcPts val="2879"/>
                </a:lnSpc>
              </a:pPr>
              <a:r>
                <a:rPr lang="en-US" sz="2399">
                  <a:solidFill>
                    <a:srgbClr val="000000"/>
                  </a:solidFill>
                  <a:latin typeface="Agrandir Narrow"/>
                  <a:ea typeface="Agrandir Narrow"/>
                  <a:cs typeface="Agrandir Narrow"/>
                  <a:sym typeface="Agrandir Narrow"/>
                </a:rPr>
                <a:t>Re-score users monthly as new UPI and telecom data flows in. Score improves in </a:t>
              </a:r>
              <a:r>
                <a:rPr lang="en-US" b="true" sz="2399">
                  <a:solidFill>
                    <a:srgbClr val="000000"/>
                  </a:solidFill>
                  <a:latin typeface="Agrandir Narrow Bold"/>
                  <a:ea typeface="Agrandir Narrow Bold"/>
                  <a:cs typeface="Agrandir Narrow Bold"/>
                  <a:sym typeface="Agrandir Narrow Bold"/>
                </a:rPr>
                <a:t>real time</a:t>
              </a:r>
              <a:r>
                <a:rPr lang="en-US" sz="2399">
                  <a:solidFill>
                    <a:srgbClr val="000000"/>
                  </a:solidFill>
                  <a:latin typeface="Agrandir Narrow"/>
                  <a:ea typeface="Agrandir Narrow"/>
                  <a:cs typeface="Agrandir Narrow"/>
                  <a:sym typeface="Agrandir Narrow"/>
                </a:rPr>
                <a:t> as the borrower builds positive behavior.</a:t>
              </a:r>
            </a:p>
          </p:txBody>
        </p:sp>
      </p:grpSp>
      <p:grpSp>
        <p:nvGrpSpPr>
          <p:cNvPr name="Group 66" id="66"/>
          <p:cNvGrpSpPr/>
          <p:nvPr/>
        </p:nvGrpSpPr>
        <p:grpSpPr>
          <a:xfrm rot="0">
            <a:off x="6427213" y="5988301"/>
            <a:ext cx="5323837" cy="3586477"/>
            <a:chOff x="0" y="0"/>
            <a:chExt cx="7098449" cy="4781969"/>
          </a:xfrm>
        </p:grpSpPr>
        <p:sp>
          <p:nvSpPr>
            <p:cNvPr name="Freeform 67" id="67"/>
            <p:cNvSpPr/>
            <p:nvPr/>
          </p:nvSpPr>
          <p:spPr>
            <a:xfrm flipH="false" flipV="false" rot="0">
              <a:off x="13589" y="13589"/>
              <a:ext cx="7071360" cy="4754880"/>
            </a:xfrm>
            <a:custGeom>
              <a:avLst/>
              <a:gdLst/>
              <a:ahLst/>
              <a:cxnLst/>
              <a:rect r="r" b="b" t="t" l="l"/>
              <a:pathLst>
                <a:path h="4754880" w="7071360">
                  <a:moveTo>
                    <a:pt x="0" y="0"/>
                  </a:moveTo>
                  <a:lnTo>
                    <a:pt x="7071360" y="0"/>
                  </a:lnTo>
                  <a:lnTo>
                    <a:pt x="7071360" y="4754880"/>
                  </a:lnTo>
                  <a:lnTo>
                    <a:pt x="0" y="4754880"/>
                  </a:lnTo>
                  <a:close/>
                </a:path>
              </a:pathLst>
            </a:custGeom>
            <a:solidFill>
              <a:srgbClr val="FEE2E2"/>
            </a:solidFill>
          </p:spPr>
        </p:sp>
        <p:sp>
          <p:nvSpPr>
            <p:cNvPr name="Freeform 68" id="68"/>
            <p:cNvSpPr/>
            <p:nvPr/>
          </p:nvSpPr>
          <p:spPr>
            <a:xfrm flipH="false" flipV="false" rot="0">
              <a:off x="0" y="0"/>
              <a:ext cx="7098538" cy="4782058"/>
            </a:xfrm>
            <a:custGeom>
              <a:avLst/>
              <a:gdLst/>
              <a:ahLst/>
              <a:cxnLst/>
              <a:rect r="r" b="b" t="t" l="l"/>
              <a:pathLst>
                <a:path h="4782058" w="7098538">
                  <a:moveTo>
                    <a:pt x="13589" y="0"/>
                  </a:moveTo>
                  <a:lnTo>
                    <a:pt x="7084949" y="0"/>
                  </a:lnTo>
                  <a:cubicBezTo>
                    <a:pt x="7092442" y="0"/>
                    <a:pt x="7098538" y="6096"/>
                    <a:pt x="7098538" y="13589"/>
                  </a:cubicBezTo>
                  <a:lnTo>
                    <a:pt x="7098538" y="4768469"/>
                  </a:lnTo>
                  <a:cubicBezTo>
                    <a:pt x="7098538" y="4775962"/>
                    <a:pt x="7092442" y="4782058"/>
                    <a:pt x="7084949" y="4782058"/>
                  </a:cubicBezTo>
                  <a:lnTo>
                    <a:pt x="13589" y="4782058"/>
                  </a:lnTo>
                  <a:cubicBezTo>
                    <a:pt x="6096" y="4782058"/>
                    <a:pt x="0" y="4775962"/>
                    <a:pt x="0" y="4768469"/>
                  </a:cubicBezTo>
                  <a:lnTo>
                    <a:pt x="0" y="13589"/>
                  </a:lnTo>
                  <a:cubicBezTo>
                    <a:pt x="0" y="6096"/>
                    <a:pt x="6096" y="0"/>
                    <a:pt x="13589" y="0"/>
                  </a:cubicBezTo>
                  <a:moveTo>
                    <a:pt x="13589" y="27051"/>
                  </a:moveTo>
                  <a:lnTo>
                    <a:pt x="13589" y="13589"/>
                  </a:lnTo>
                  <a:lnTo>
                    <a:pt x="27051" y="13589"/>
                  </a:lnTo>
                  <a:lnTo>
                    <a:pt x="27051" y="4768469"/>
                  </a:lnTo>
                  <a:lnTo>
                    <a:pt x="13589" y="4768469"/>
                  </a:lnTo>
                  <a:lnTo>
                    <a:pt x="13589" y="4754880"/>
                  </a:lnTo>
                  <a:lnTo>
                    <a:pt x="7084949" y="4754880"/>
                  </a:lnTo>
                  <a:lnTo>
                    <a:pt x="7084949" y="4768469"/>
                  </a:lnTo>
                  <a:lnTo>
                    <a:pt x="7071360" y="4768469"/>
                  </a:lnTo>
                  <a:lnTo>
                    <a:pt x="7071360" y="13589"/>
                  </a:lnTo>
                  <a:lnTo>
                    <a:pt x="7084949" y="13589"/>
                  </a:lnTo>
                  <a:lnTo>
                    <a:pt x="7084949" y="27051"/>
                  </a:lnTo>
                  <a:lnTo>
                    <a:pt x="13589" y="27051"/>
                  </a:lnTo>
                  <a:close/>
                </a:path>
              </a:pathLst>
            </a:custGeom>
            <a:solidFill>
              <a:srgbClr val="DC2626"/>
            </a:solidFill>
          </p:spPr>
        </p:sp>
      </p:grpSp>
      <p:grpSp>
        <p:nvGrpSpPr>
          <p:cNvPr name="Group 69" id="69"/>
          <p:cNvGrpSpPr/>
          <p:nvPr/>
        </p:nvGrpSpPr>
        <p:grpSpPr>
          <a:xfrm rot="0">
            <a:off x="6424679" y="5985767"/>
            <a:ext cx="976379" cy="3591563"/>
            <a:chOff x="0" y="0"/>
            <a:chExt cx="1301839" cy="4788751"/>
          </a:xfrm>
        </p:grpSpPr>
        <p:sp>
          <p:nvSpPr>
            <p:cNvPr name="Freeform 70" id="70"/>
            <p:cNvSpPr/>
            <p:nvPr/>
          </p:nvSpPr>
          <p:spPr>
            <a:xfrm flipH="false" flipV="false" rot="0">
              <a:off x="16891" y="16891"/>
              <a:ext cx="1267968" cy="4754880"/>
            </a:xfrm>
            <a:custGeom>
              <a:avLst/>
              <a:gdLst/>
              <a:ahLst/>
              <a:cxnLst/>
              <a:rect r="r" b="b" t="t" l="l"/>
              <a:pathLst>
                <a:path h="4754880" w="1267968">
                  <a:moveTo>
                    <a:pt x="0" y="0"/>
                  </a:moveTo>
                  <a:lnTo>
                    <a:pt x="1267968" y="0"/>
                  </a:lnTo>
                  <a:lnTo>
                    <a:pt x="1267968" y="4754880"/>
                  </a:lnTo>
                  <a:lnTo>
                    <a:pt x="0" y="4754880"/>
                  </a:lnTo>
                  <a:close/>
                </a:path>
              </a:pathLst>
            </a:custGeom>
            <a:solidFill>
              <a:srgbClr val="DC2626"/>
            </a:solidFill>
          </p:spPr>
        </p:sp>
        <p:sp>
          <p:nvSpPr>
            <p:cNvPr name="Freeform 71" id="71"/>
            <p:cNvSpPr/>
            <p:nvPr/>
          </p:nvSpPr>
          <p:spPr>
            <a:xfrm flipH="false" flipV="false" rot="0">
              <a:off x="0" y="0"/>
              <a:ext cx="1301750" cy="4788662"/>
            </a:xfrm>
            <a:custGeom>
              <a:avLst/>
              <a:gdLst/>
              <a:ahLst/>
              <a:cxnLst/>
              <a:rect r="r" b="b" t="t" l="l"/>
              <a:pathLst>
                <a:path h="4788662" w="1301750">
                  <a:moveTo>
                    <a:pt x="16891" y="0"/>
                  </a:moveTo>
                  <a:lnTo>
                    <a:pt x="1284859" y="0"/>
                  </a:lnTo>
                  <a:cubicBezTo>
                    <a:pt x="1294257" y="0"/>
                    <a:pt x="1301750" y="7620"/>
                    <a:pt x="1301750" y="16891"/>
                  </a:cubicBezTo>
                  <a:lnTo>
                    <a:pt x="1301750" y="4771771"/>
                  </a:lnTo>
                  <a:cubicBezTo>
                    <a:pt x="1301750" y="4781169"/>
                    <a:pt x="1294130" y="4788662"/>
                    <a:pt x="1284859"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284859" y="4754880"/>
                  </a:lnTo>
                  <a:lnTo>
                    <a:pt x="1284859" y="4771771"/>
                  </a:lnTo>
                  <a:lnTo>
                    <a:pt x="1267968" y="4771771"/>
                  </a:lnTo>
                  <a:lnTo>
                    <a:pt x="1267968" y="16891"/>
                  </a:lnTo>
                  <a:lnTo>
                    <a:pt x="1284859" y="16891"/>
                  </a:lnTo>
                  <a:lnTo>
                    <a:pt x="1284859" y="33909"/>
                  </a:lnTo>
                  <a:lnTo>
                    <a:pt x="16891" y="33909"/>
                  </a:lnTo>
                  <a:close/>
                </a:path>
              </a:pathLst>
            </a:custGeom>
            <a:solidFill>
              <a:srgbClr val="DC2626"/>
            </a:solidFill>
          </p:spPr>
        </p:sp>
      </p:grpSp>
      <p:grpSp>
        <p:nvGrpSpPr>
          <p:cNvPr name="Group 72" id="72"/>
          <p:cNvGrpSpPr/>
          <p:nvPr/>
        </p:nvGrpSpPr>
        <p:grpSpPr>
          <a:xfrm rot="0">
            <a:off x="6437376" y="7388352"/>
            <a:ext cx="950976" cy="768096"/>
            <a:chOff x="0" y="0"/>
            <a:chExt cx="1267968" cy="1024128"/>
          </a:xfrm>
        </p:grpSpPr>
        <p:sp>
          <p:nvSpPr>
            <p:cNvPr name="Freeform 73" id="73"/>
            <p:cNvSpPr/>
            <p:nvPr/>
          </p:nvSpPr>
          <p:spPr>
            <a:xfrm flipH="false" flipV="false" rot="0">
              <a:off x="0" y="0"/>
              <a:ext cx="1267968" cy="1024128"/>
            </a:xfrm>
            <a:custGeom>
              <a:avLst/>
              <a:gdLst/>
              <a:ahLst/>
              <a:cxnLst/>
              <a:rect r="r" b="b" t="t" l="l"/>
              <a:pathLst>
                <a:path h="1024128" w="1267968">
                  <a:moveTo>
                    <a:pt x="0" y="0"/>
                  </a:moveTo>
                  <a:lnTo>
                    <a:pt x="1267968" y="0"/>
                  </a:lnTo>
                  <a:lnTo>
                    <a:pt x="1267968" y="1024128"/>
                  </a:lnTo>
                  <a:lnTo>
                    <a:pt x="0" y="1024128"/>
                  </a:lnTo>
                  <a:close/>
                </a:path>
              </a:pathLst>
            </a:custGeom>
            <a:blipFill>
              <a:blip r:embed="rId2">
                <a:alphaModFix amt="0"/>
              </a:blip>
              <a:stretch>
                <a:fillRect l="-53629" t="0" r="-53629" b="0"/>
              </a:stretch>
            </a:blipFill>
          </p:spPr>
        </p:sp>
        <p:sp>
          <p:nvSpPr>
            <p:cNvPr name="TextBox 74" id="74"/>
            <p:cNvSpPr txBox="true"/>
            <p:nvPr/>
          </p:nvSpPr>
          <p:spPr>
            <a:xfrm>
              <a:off x="0" y="-66675"/>
              <a:ext cx="1267968" cy="1090803"/>
            </a:xfrm>
            <a:prstGeom prst="rect">
              <a:avLst/>
            </a:prstGeom>
          </p:spPr>
          <p:txBody>
            <a:bodyPr anchor="ctr" rtlCol="false" tIns="0" lIns="0" bIns="0" rIns="0"/>
            <a:lstStyle/>
            <a:p>
              <a:pPr algn="ctr">
                <a:lnSpc>
                  <a:spcPts val="3359"/>
                </a:lnSpc>
              </a:pPr>
              <a:r>
                <a:rPr lang="en-US" sz="2799" b="true">
                  <a:solidFill>
                    <a:srgbClr val="FFFFFF"/>
                  </a:solidFill>
                  <a:latin typeface="Agrandir Narrow Bold"/>
                  <a:ea typeface="Agrandir Narrow Bold"/>
                  <a:cs typeface="Agrandir Narrow Bold"/>
                  <a:sym typeface="Agrandir Narrow Bold"/>
                </a:rPr>
                <a:t>05</a:t>
              </a:r>
            </a:p>
          </p:txBody>
        </p:sp>
      </p:grpSp>
      <p:grpSp>
        <p:nvGrpSpPr>
          <p:cNvPr name="Group 75" id="75"/>
          <p:cNvGrpSpPr/>
          <p:nvPr/>
        </p:nvGrpSpPr>
        <p:grpSpPr>
          <a:xfrm rot="0">
            <a:off x="7571232" y="6217920"/>
            <a:ext cx="3986784" cy="1070064"/>
            <a:chOff x="0" y="0"/>
            <a:chExt cx="5315712" cy="1426752"/>
          </a:xfrm>
        </p:grpSpPr>
        <p:sp>
          <p:nvSpPr>
            <p:cNvPr name="Freeform 76" id="76"/>
            <p:cNvSpPr/>
            <p:nvPr/>
          </p:nvSpPr>
          <p:spPr>
            <a:xfrm flipH="false" flipV="false" rot="0">
              <a:off x="0" y="0"/>
              <a:ext cx="5315712" cy="1426752"/>
            </a:xfrm>
            <a:custGeom>
              <a:avLst/>
              <a:gdLst/>
              <a:ahLst/>
              <a:cxnLst/>
              <a:rect r="r" b="b" t="t" l="l"/>
              <a:pathLst>
                <a:path h="1426752" w="5315712">
                  <a:moveTo>
                    <a:pt x="0" y="0"/>
                  </a:moveTo>
                  <a:lnTo>
                    <a:pt x="5315712" y="0"/>
                  </a:lnTo>
                  <a:lnTo>
                    <a:pt x="5315712" y="1426752"/>
                  </a:lnTo>
                  <a:lnTo>
                    <a:pt x="0" y="1426752"/>
                  </a:lnTo>
                  <a:close/>
                </a:path>
              </a:pathLst>
            </a:custGeom>
            <a:blipFill>
              <a:blip r:embed="rId2">
                <a:alphaModFix amt="0"/>
              </a:blip>
              <a:stretch>
                <a:fillRect l="0" t="-31578" r="0" b="-13613"/>
              </a:stretch>
            </a:blipFill>
          </p:spPr>
        </p:sp>
        <p:sp>
          <p:nvSpPr>
            <p:cNvPr name="TextBox 77" id="77"/>
            <p:cNvSpPr txBox="true"/>
            <p:nvPr/>
          </p:nvSpPr>
          <p:spPr>
            <a:xfrm>
              <a:off x="0" y="-95250"/>
              <a:ext cx="5315712" cy="1522002"/>
            </a:xfrm>
            <a:prstGeom prst="rect">
              <a:avLst/>
            </a:prstGeom>
          </p:spPr>
          <p:txBody>
            <a:bodyPr anchor="ctr" rtlCol="false" tIns="0" lIns="0" bIns="0" rIns="0"/>
            <a:lstStyle/>
            <a:p>
              <a:pPr algn="l">
                <a:lnSpc>
                  <a:spcPts val="3719"/>
                </a:lnSpc>
              </a:pPr>
              <a:r>
                <a:rPr lang="en-US" sz="3099" b="true">
                  <a:solidFill>
                    <a:srgbClr val="DC2626"/>
                  </a:solidFill>
                  <a:latin typeface="Agrandir Narrow Bold"/>
                  <a:ea typeface="Agrandir Narrow Bold"/>
                  <a:cs typeface="Agrandir Narrow Bold"/>
                  <a:sym typeface="Agrandir Narrow Bold"/>
                </a:rPr>
                <a:t>Voice-Based Questionnaire</a:t>
              </a:r>
            </a:p>
          </p:txBody>
        </p:sp>
      </p:grpSp>
      <p:grpSp>
        <p:nvGrpSpPr>
          <p:cNvPr name="Group 78" id="78"/>
          <p:cNvGrpSpPr/>
          <p:nvPr/>
        </p:nvGrpSpPr>
        <p:grpSpPr>
          <a:xfrm rot="0">
            <a:off x="7571232" y="7168896"/>
            <a:ext cx="3986784" cy="2157984"/>
            <a:chOff x="0" y="0"/>
            <a:chExt cx="5315712" cy="2877312"/>
          </a:xfrm>
        </p:grpSpPr>
        <p:sp>
          <p:nvSpPr>
            <p:cNvPr name="Freeform 79" id="79"/>
            <p:cNvSpPr/>
            <p:nvPr/>
          </p:nvSpPr>
          <p:spPr>
            <a:xfrm flipH="false" flipV="false" rot="0">
              <a:off x="0" y="0"/>
              <a:ext cx="5315712" cy="2877312"/>
            </a:xfrm>
            <a:custGeom>
              <a:avLst/>
              <a:gdLst/>
              <a:ahLst/>
              <a:cxnLst/>
              <a:rect r="r" b="b" t="t" l="l"/>
              <a:pathLst>
                <a:path h="2877312" w="5315712">
                  <a:moveTo>
                    <a:pt x="0" y="0"/>
                  </a:moveTo>
                  <a:lnTo>
                    <a:pt x="5315712" y="0"/>
                  </a:lnTo>
                  <a:lnTo>
                    <a:pt x="5315712" y="2877312"/>
                  </a:lnTo>
                  <a:lnTo>
                    <a:pt x="0" y="2877312"/>
                  </a:lnTo>
                  <a:close/>
                </a:path>
              </a:pathLst>
            </a:custGeom>
            <a:blipFill>
              <a:blip r:embed="rId2">
                <a:alphaModFix amt="0"/>
              </a:blip>
              <a:stretch>
                <a:fillRect l="-19448" t="0" r="-19448" b="0"/>
              </a:stretch>
            </a:blipFill>
          </p:spPr>
        </p:sp>
        <p:sp>
          <p:nvSpPr>
            <p:cNvPr name="TextBox 80" id="80"/>
            <p:cNvSpPr txBox="true"/>
            <p:nvPr/>
          </p:nvSpPr>
          <p:spPr>
            <a:xfrm>
              <a:off x="0" y="-66675"/>
              <a:ext cx="5315712" cy="2943987"/>
            </a:xfrm>
            <a:prstGeom prst="rect">
              <a:avLst/>
            </a:prstGeom>
          </p:spPr>
          <p:txBody>
            <a:bodyPr anchor="ctr" rtlCol="false" tIns="0" lIns="0" bIns="0" rIns="0"/>
            <a:lstStyle/>
            <a:p>
              <a:pPr algn="l">
                <a:lnSpc>
                  <a:spcPts val="2759"/>
                </a:lnSpc>
              </a:pPr>
              <a:r>
                <a:rPr lang="en-US" sz="2299">
                  <a:solidFill>
                    <a:srgbClr val="000000"/>
                  </a:solidFill>
                  <a:latin typeface="Agrandir Narrow"/>
                  <a:ea typeface="Agrandir Narrow"/>
                  <a:cs typeface="Agrandir Narrow"/>
                  <a:sym typeface="Agrandir Narrow"/>
                </a:rPr>
                <a:t>Replace the text form with voice input in Hindi and regional languages  built for low-literacy rural borrowers.</a:t>
              </a:r>
            </a:p>
          </p:txBody>
        </p:sp>
      </p:grpSp>
      <p:grpSp>
        <p:nvGrpSpPr>
          <p:cNvPr name="Group 81" id="81"/>
          <p:cNvGrpSpPr/>
          <p:nvPr/>
        </p:nvGrpSpPr>
        <p:grpSpPr>
          <a:xfrm rot="0">
            <a:off x="12041629" y="5988301"/>
            <a:ext cx="5323837" cy="3586477"/>
            <a:chOff x="0" y="0"/>
            <a:chExt cx="7098449" cy="4781969"/>
          </a:xfrm>
        </p:grpSpPr>
        <p:sp>
          <p:nvSpPr>
            <p:cNvPr name="Freeform 82" id="82"/>
            <p:cNvSpPr/>
            <p:nvPr/>
          </p:nvSpPr>
          <p:spPr>
            <a:xfrm flipH="false" flipV="false" rot="0">
              <a:off x="13589" y="13589"/>
              <a:ext cx="7071360" cy="4754880"/>
            </a:xfrm>
            <a:custGeom>
              <a:avLst/>
              <a:gdLst/>
              <a:ahLst/>
              <a:cxnLst/>
              <a:rect r="r" b="b" t="t" l="l"/>
              <a:pathLst>
                <a:path h="4754880" w="7071360">
                  <a:moveTo>
                    <a:pt x="0" y="0"/>
                  </a:moveTo>
                  <a:lnTo>
                    <a:pt x="7071360" y="0"/>
                  </a:lnTo>
                  <a:lnTo>
                    <a:pt x="7071360" y="4754880"/>
                  </a:lnTo>
                  <a:lnTo>
                    <a:pt x="0" y="4754880"/>
                  </a:lnTo>
                  <a:close/>
                </a:path>
              </a:pathLst>
            </a:custGeom>
            <a:solidFill>
              <a:srgbClr val="F1F5F9"/>
            </a:solidFill>
          </p:spPr>
        </p:sp>
        <p:sp>
          <p:nvSpPr>
            <p:cNvPr name="Freeform 83" id="83"/>
            <p:cNvSpPr/>
            <p:nvPr/>
          </p:nvSpPr>
          <p:spPr>
            <a:xfrm flipH="false" flipV="false" rot="0">
              <a:off x="0" y="0"/>
              <a:ext cx="7098538" cy="4782058"/>
            </a:xfrm>
            <a:custGeom>
              <a:avLst/>
              <a:gdLst/>
              <a:ahLst/>
              <a:cxnLst/>
              <a:rect r="r" b="b" t="t" l="l"/>
              <a:pathLst>
                <a:path h="4782058" w="7098538">
                  <a:moveTo>
                    <a:pt x="13589" y="0"/>
                  </a:moveTo>
                  <a:lnTo>
                    <a:pt x="7084949" y="0"/>
                  </a:lnTo>
                  <a:cubicBezTo>
                    <a:pt x="7092442" y="0"/>
                    <a:pt x="7098538" y="6096"/>
                    <a:pt x="7098538" y="13589"/>
                  </a:cubicBezTo>
                  <a:lnTo>
                    <a:pt x="7098538" y="4768469"/>
                  </a:lnTo>
                  <a:cubicBezTo>
                    <a:pt x="7098538" y="4775962"/>
                    <a:pt x="7092442" y="4782058"/>
                    <a:pt x="7084949" y="4782058"/>
                  </a:cubicBezTo>
                  <a:lnTo>
                    <a:pt x="13589" y="4782058"/>
                  </a:lnTo>
                  <a:cubicBezTo>
                    <a:pt x="6096" y="4782058"/>
                    <a:pt x="0" y="4775962"/>
                    <a:pt x="0" y="4768469"/>
                  </a:cubicBezTo>
                  <a:lnTo>
                    <a:pt x="0" y="13589"/>
                  </a:lnTo>
                  <a:cubicBezTo>
                    <a:pt x="0" y="6096"/>
                    <a:pt x="6096" y="0"/>
                    <a:pt x="13589" y="0"/>
                  </a:cubicBezTo>
                  <a:moveTo>
                    <a:pt x="13589" y="27051"/>
                  </a:moveTo>
                  <a:lnTo>
                    <a:pt x="13589" y="13589"/>
                  </a:lnTo>
                  <a:lnTo>
                    <a:pt x="27051" y="13589"/>
                  </a:lnTo>
                  <a:lnTo>
                    <a:pt x="27051" y="4768469"/>
                  </a:lnTo>
                  <a:lnTo>
                    <a:pt x="13589" y="4768469"/>
                  </a:lnTo>
                  <a:lnTo>
                    <a:pt x="13589" y="4754880"/>
                  </a:lnTo>
                  <a:lnTo>
                    <a:pt x="7084949" y="4754880"/>
                  </a:lnTo>
                  <a:lnTo>
                    <a:pt x="7084949" y="4768469"/>
                  </a:lnTo>
                  <a:lnTo>
                    <a:pt x="7071360" y="4768469"/>
                  </a:lnTo>
                  <a:lnTo>
                    <a:pt x="7071360" y="13589"/>
                  </a:lnTo>
                  <a:lnTo>
                    <a:pt x="7084949" y="13589"/>
                  </a:lnTo>
                  <a:lnTo>
                    <a:pt x="7084949" y="27051"/>
                  </a:lnTo>
                  <a:lnTo>
                    <a:pt x="13589" y="27051"/>
                  </a:lnTo>
                  <a:close/>
                </a:path>
              </a:pathLst>
            </a:custGeom>
            <a:solidFill>
              <a:srgbClr val="0F2A50"/>
            </a:solidFill>
          </p:spPr>
        </p:sp>
      </p:grpSp>
      <p:grpSp>
        <p:nvGrpSpPr>
          <p:cNvPr name="Group 84" id="84"/>
          <p:cNvGrpSpPr/>
          <p:nvPr/>
        </p:nvGrpSpPr>
        <p:grpSpPr>
          <a:xfrm rot="0">
            <a:off x="12039095" y="5985767"/>
            <a:ext cx="976379" cy="3591563"/>
            <a:chOff x="0" y="0"/>
            <a:chExt cx="1301839" cy="4788751"/>
          </a:xfrm>
        </p:grpSpPr>
        <p:sp>
          <p:nvSpPr>
            <p:cNvPr name="Freeform 85" id="85"/>
            <p:cNvSpPr/>
            <p:nvPr/>
          </p:nvSpPr>
          <p:spPr>
            <a:xfrm flipH="false" flipV="false" rot="0">
              <a:off x="16891" y="16891"/>
              <a:ext cx="1267968" cy="4754880"/>
            </a:xfrm>
            <a:custGeom>
              <a:avLst/>
              <a:gdLst/>
              <a:ahLst/>
              <a:cxnLst/>
              <a:rect r="r" b="b" t="t" l="l"/>
              <a:pathLst>
                <a:path h="4754880" w="1267968">
                  <a:moveTo>
                    <a:pt x="0" y="0"/>
                  </a:moveTo>
                  <a:lnTo>
                    <a:pt x="1267968" y="0"/>
                  </a:lnTo>
                  <a:lnTo>
                    <a:pt x="1267968" y="4754880"/>
                  </a:lnTo>
                  <a:lnTo>
                    <a:pt x="0" y="4754880"/>
                  </a:lnTo>
                  <a:close/>
                </a:path>
              </a:pathLst>
            </a:custGeom>
            <a:solidFill>
              <a:srgbClr val="0F2A50"/>
            </a:solidFill>
          </p:spPr>
        </p:sp>
        <p:sp>
          <p:nvSpPr>
            <p:cNvPr name="Freeform 86" id="86"/>
            <p:cNvSpPr/>
            <p:nvPr/>
          </p:nvSpPr>
          <p:spPr>
            <a:xfrm flipH="false" flipV="false" rot="0">
              <a:off x="0" y="0"/>
              <a:ext cx="1301750" cy="4788662"/>
            </a:xfrm>
            <a:custGeom>
              <a:avLst/>
              <a:gdLst/>
              <a:ahLst/>
              <a:cxnLst/>
              <a:rect r="r" b="b" t="t" l="l"/>
              <a:pathLst>
                <a:path h="4788662" w="1301750">
                  <a:moveTo>
                    <a:pt x="16891" y="0"/>
                  </a:moveTo>
                  <a:lnTo>
                    <a:pt x="1284859" y="0"/>
                  </a:lnTo>
                  <a:cubicBezTo>
                    <a:pt x="1294257" y="0"/>
                    <a:pt x="1301750" y="7620"/>
                    <a:pt x="1301750" y="16891"/>
                  </a:cubicBezTo>
                  <a:lnTo>
                    <a:pt x="1301750" y="4771771"/>
                  </a:lnTo>
                  <a:cubicBezTo>
                    <a:pt x="1301750" y="4781169"/>
                    <a:pt x="1294130" y="4788662"/>
                    <a:pt x="1284859" y="4788662"/>
                  </a:cubicBezTo>
                  <a:lnTo>
                    <a:pt x="16891" y="4788662"/>
                  </a:lnTo>
                  <a:cubicBezTo>
                    <a:pt x="7493" y="4788662"/>
                    <a:pt x="0" y="4781042"/>
                    <a:pt x="0" y="4771771"/>
                  </a:cubicBezTo>
                  <a:lnTo>
                    <a:pt x="0" y="16891"/>
                  </a:lnTo>
                  <a:cubicBezTo>
                    <a:pt x="0" y="7620"/>
                    <a:pt x="7620" y="0"/>
                    <a:pt x="16891" y="0"/>
                  </a:cubicBezTo>
                  <a:moveTo>
                    <a:pt x="16891" y="33909"/>
                  </a:moveTo>
                  <a:lnTo>
                    <a:pt x="16891" y="16891"/>
                  </a:lnTo>
                  <a:lnTo>
                    <a:pt x="33909" y="16891"/>
                  </a:lnTo>
                  <a:lnTo>
                    <a:pt x="33909" y="4771771"/>
                  </a:lnTo>
                  <a:lnTo>
                    <a:pt x="16891" y="4771771"/>
                  </a:lnTo>
                  <a:lnTo>
                    <a:pt x="16891" y="4754880"/>
                  </a:lnTo>
                  <a:lnTo>
                    <a:pt x="1284859" y="4754880"/>
                  </a:lnTo>
                  <a:lnTo>
                    <a:pt x="1284859" y="4771771"/>
                  </a:lnTo>
                  <a:lnTo>
                    <a:pt x="1267968" y="4771771"/>
                  </a:lnTo>
                  <a:lnTo>
                    <a:pt x="1267968" y="16891"/>
                  </a:lnTo>
                  <a:lnTo>
                    <a:pt x="1284859" y="16891"/>
                  </a:lnTo>
                  <a:lnTo>
                    <a:pt x="1284859" y="33909"/>
                  </a:lnTo>
                  <a:lnTo>
                    <a:pt x="16891" y="33909"/>
                  </a:lnTo>
                  <a:close/>
                </a:path>
              </a:pathLst>
            </a:custGeom>
            <a:solidFill>
              <a:srgbClr val="0F2A50"/>
            </a:solidFill>
          </p:spPr>
        </p:sp>
      </p:grpSp>
      <p:grpSp>
        <p:nvGrpSpPr>
          <p:cNvPr name="Group 87" id="87"/>
          <p:cNvGrpSpPr/>
          <p:nvPr/>
        </p:nvGrpSpPr>
        <p:grpSpPr>
          <a:xfrm rot="0">
            <a:off x="12051792" y="7388352"/>
            <a:ext cx="950976" cy="768096"/>
            <a:chOff x="0" y="0"/>
            <a:chExt cx="1267968" cy="1024128"/>
          </a:xfrm>
        </p:grpSpPr>
        <p:sp>
          <p:nvSpPr>
            <p:cNvPr name="Freeform 88" id="88"/>
            <p:cNvSpPr/>
            <p:nvPr/>
          </p:nvSpPr>
          <p:spPr>
            <a:xfrm flipH="false" flipV="false" rot="0">
              <a:off x="0" y="0"/>
              <a:ext cx="1267968" cy="1024128"/>
            </a:xfrm>
            <a:custGeom>
              <a:avLst/>
              <a:gdLst/>
              <a:ahLst/>
              <a:cxnLst/>
              <a:rect r="r" b="b" t="t" l="l"/>
              <a:pathLst>
                <a:path h="1024128" w="1267968">
                  <a:moveTo>
                    <a:pt x="0" y="0"/>
                  </a:moveTo>
                  <a:lnTo>
                    <a:pt x="1267968" y="0"/>
                  </a:lnTo>
                  <a:lnTo>
                    <a:pt x="1267968" y="1024128"/>
                  </a:lnTo>
                  <a:lnTo>
                    <a:pt x="0" y="1024128"/>
                  </a:lnTo>
                  <a:close/>
                </a:path>
              </a:pathLst>
            </a:custGeom>
            <a:blipFill>
              <a:blip r:embed="rId2">
                <a:alphaModFix amt="0"/>
              </a:blip>
              <a:stretch>
                <a:fillRect l="-53629" t="0" r="-53629" b="0"/>
              </a:stretch>
            </a:blipFill>
          </p:spPr>
        </p:sp>
        <p:sp>
          <p:nvSpPr>
            <p:cNvPr name="TextBox 89" id="89"/>
            <p:cNvSpPr txBox="true"/>
            <p:nvPr/>
          </p:nvSpPr>
          <p:spPr>
            <a:xfrm>
              <a:off x="0" y="-66675"/>
              <a:ext cx="1267968" cy="1090803"/>
            </a:xfrm>
            <a:prstGeom prst="rect">
              <a:avLst/>
            </a:prstGeom>
          </p:spPr>
          <p:txBody>
            <a:bodyPr anchor="ctr" rtlCol="false" tIns="0" lIns="0" bIns="0" rIns="0"/>
            <a:lstStyle/>
            <a:p>
              <a:pPr algn="ctr">
                <a:lnSpc>
                  <a:spcPts val="3359"/>
                </a:lnSpc>
              </a:pPr>
              <a:r>
                <a:rPr lang="en-US" sz="2799" b="true">
                  <a:solidFill>
                    <a:srgbClr val="FFFFFF"/>
                  </a:solidFill>
                  <a:latin typeface="Agrandir Narrow Bold"/>
                  <a:ea typeface="Agrandir Narrow Bold"/>
                  <a:cs typeface="Agrandir Narrow Bold"/>
                  <a:sym typeface="Agrandir Narrow Bold"/>
                </a:rPr>
                <a:t>06</a:t>
              </a:r>
            </a:p>
          </p:txBody>
        </p:sp>
      </p:grpSp>
      <p:grpSp>
        <p:nvGrpSpPr>
          <p:cNvPr name="Group 90" id="90"/>
          <p:cNvGrpSpPr/>
          <p:nvPr/>
        </p:nvGrpSpPr>
        <p:grpSpPr>
          <a:xfrm rot="0">
            <a:off x="13185648" y="6217920"/>
            <a:ext cx="3986784" cy="1070064"/>
            <a:chOff x="0" y="0"/>
            <a:chExt cx="5315712" cy="1426752"/>
          </a:xfrm>
        </p:grpSpPr>
        <p:sp>
          <p:nvSpPr>
            <p:cNvPr name="Freeform 91" id="91"/>
            <p:cNvSpPr/>
            <p:nvPr/>
          </p:nvSpPr>
          <p:spPr>
            <a:xfrm flipH="false" flipV="false" rot="0">
              <a:off x="0" y="0"/>
              <a:ext cx="5315712" cy="1426752"/>
            </a:xfrm>
            <a:custGeom>
              <a:avLst/>
              <a:gdLst/>
              <a:ahLst/>
              <a:cxnLst/>
              <a:rect r="r" b="b" t="t" l="l"/>
              <a:pathLst>
                <a:path h="1426752" w="5315712">
                  <a:moveTo>
                    <a:pt x="0" y="0"/>
                  </a:moveTo>
                  <a:lnTo>
                    <a:pt x="5315712" y="0"/>
                  </a:lnTo>
                  <a:lnTo>
                    <a:pt x="5315712" y="1426752"/>
                  </a:lnTo>
                  <a:lnTo>
                    <a:pt x="0" y="1426752"/>
                  </a:lnTo>
                  <a:close/>
                </a:path>
              </a:pathLst>
            </a:custGeom>
            <a:blipFill>
              <a:blip r:embed="rId2">
                <a:alphaModFix amt="0"/>
              </a:blip>
              <a:stretch>
                <a:fillRect l="0" t="-31578" r="0" b="-13613"/>
              </a:stretch>
            </a:blipFill>
          </p:spPr>
        </p:sp>
        <p:sp>
          <p:nvSpPr>
            <p:cNvPr name="TextBox 92" id="92"/>
            <p:cNvSpPr txBox="true"/>
            <p:nvPr/>
          </p:nvSpPr>
          <p:spPr>
            <a:xfrm>
              <a:off x="0" y="-95250"/>
              <a:ext cx="5315712" cy="1522002"/>
            </a:xfrm>
            <a:prstGeom prst="rect">
              <a:avLst/>
            </a:prstGeom>
          </p:spPr>
          <p:txBody>
            <a:bodyPr anchor="ctr" rtlCol="false" tIns="0" lIns="0" bIns="0" rIns="0"/>
            <a:lstStyle/>
            <a:p>
              <a:pPr algn="l">
                <a:lnSpc>
                  <a:spcPts val="3719"/>
                </a:lnSpc>
              </a:pPr>
              <a:r>
                <a:rPr lang="en-US" sz="3099" b="true">
                  <a:solidFill>
                    <a:srgbClr val="0F2A50"/>
                  </a:solidFill>
                  <a:latin typeface="Agrandir Narrow Bold"/>
                  <a:ea typeface="Agrandir Narrow Bold"/>
                  <a:cs typeface="Agrandir Narrow Bold"/>
                  <a:sym typeface="Agrandir Narrow Bold"/>
                </a:rPr>
                <a:t>Multilingual RAG Advisor</a:t>
              </a:r>
            </a:p>
          </p:txBody>
        </p:sp>
      </p:grpSp>
      <p:grpSp>
        <p:nvGrpSpPr>
          <p:cNvPr name="Group 93" id="93"/>
          <p:cNvGrpSpPr/>
          <p:nvPr/>
        </p:nvGrpSpPr>
        <p:grpSpPr>
          <a:xfrm rot="0">
            <a:off x="13185648" y="7168896"/>
            <a:ext cx="3986784" cy="2157984"/>
            <a:chOff x="0" y="0"/>
            <a:chExt cx="5315712" cy="2877312"/>
          </a:xfrm>
        </p:grpSpPr>
        <p:sp>
          <p:nvSpPr>
            <p:cNvPr name="Freeform 94" id="94"/>
            <p:cNvSpPr/>
            <p:nvPr/>
          </p:nvSpPr>
          <p:spPr>
            <a:xfrm flipH="false" flipV="false" rot="0">
              <a:off x="0" y="0"/>
              <a:ext cx="5315712" cy="2877312"/>
            </a:xfrm>
            <a:custGeom>
              <a:avLst/>
              <a:gdLst/>
              <a:ahLst/>
              <a:cxnLst/>
              <a:rect r="r" b="b" t="t" l="l"/>
              <a:pathLst>
                <a:path h="2877312" w="5315712">
                  <a:moveTo>
                    <a:pt x="0" y="0"/>
                  </a:moveTo>
                  <a:lnTo>
                    <a:pt x="5315712" y="0"/>
                  </a:lnTo>
                  <a:lnTo>
                    <a:pt x="5315712" y="2877312"/>
                  </a:lnTo>
                  <a:lnTo>
                    <a:pt x="0" y="2877312"/>
                  </a:lnTo>
                  <a:close/>
                </a:path>
              </a:pathLst>
            </a:custGeom>
            <a:blipFill>
              <a:blip r:embed="rId2">
                <a:alphaModFix amt="0"/>
              </a:blip>
              <a:stretch>
                <a:fillRect l="-19448" t="0" r="-19448" b="0"/>
              </a:stretch>
            </a:blipFill>
          </p:spPr>
        </p:sp>
        <p:sp>
          <p:nvSpPr>
            <p:cNvPr name="TextBox 95" id="95"/>
            <p:cNvSpPr txBox="true"/>
            <p:nvPr/>
          </p:nvSpPr>
          <p:spPr>
            <a:xfrm>
              <a:off x="0" y="-66675"/>
              <a:ext cx="5315712" cy="2943987"/>
            </a:xfrm>
            <a:prstGeom prst="rect">
              <a:avLst/>
            </a:prstGeom>
          </p:spPr>
          <p:txBody>
            <a:bodyPr anchor="ctr" rtlCol="false" tIns="0" lIns="0" bIns="0" rIns="0"/>
            <a:lstStyle/>
            <a:p>
              <a:pPr algn="l">
                <a:lnSpc>
                  <a:spcPts val="2759"/>
                </a:lnSpc>
              </a:pPr>
              <a:r>
                <a:rPr lang="en-US" sz="2299">
                  <a:solidFill>
                    <a:srgbClr val="000000"/>
                  </a:solidFill>
                  <a:latin typeface="Agrandir Narrow"/>
                  <a:ea typeface="Agrandir Narrow"/>
                  <a:cs typeface="Agrandir Narrow"/>
                  <a:sym typeface="Agrandir Narrow"/>
                </a:rPr>
                <a:t>Answer user questions in Hindi, Marathi, Tamil, Telugu, and 8 other regional languages. Same RBI-grounded answers, any language.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DAHHySwpYt4</dc:identifier>
  <dcterms:modified xsi:type="dcterms:W3CDTF">2011-08-01T06:04:30Z</dcterms:modified>
  <cp:revision>1</cp:revision>
  <dc:title>PSB</dc:title>
</cp:coreProperties>
</file>